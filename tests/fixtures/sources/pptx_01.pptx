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98" r:id="rId3"/>
    <p:sldId id="299" r:id="rId4"/>
    <p:sldId id="257" r:id="rId5"/>
    <p:sldId id="258" r:id="rId6"/>
    <p:sldId id="259" r:id="rId7"/>
    <p:sldId id="264"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1" r:id="rId22"/>
    <p:sldId id="282" r:id="rId23"/>
    <p:sldId id="297" r:id="rId24"/>
    <p:sldId id="283" r:id="rId25"/>
    <p:sldId id="284" r:id="rId26"/>
    <p:sldId id="280" r:id="rId27"/>
    <p:sldId id="287" r:id="rId28"/>
    <p:sldId id="286" r:id="rId29"/>
    <p:sldId id="293" r:id="rId30"/>
    <p:sldId id="294" r:id="rId31"/>
    <p:sldId id="296" r:id="rId32"/>
    <p:sldId id="260" r:id="rId33"/>
    <p:sldId id="261"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6479" autoAdjust="0"/>
    <p:restoredTop sz="94660"/>
  </p:normalViewPr>
  <p:slideViewPr>
    <p:cSldViewPr>
      <p:cViewPr varScale="1">
        <p:scale>
          <a:sx n="72" d="100"/>
          <a:sy n="72" d="100"/>
        </p:scale>
        <p:origin x="-1518"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20" name="Footer Placeholder 19"/>
          <p:cNvSpPr>
            <a:spLocks noGrp="1"/>
          </p:cNvSpPr>
          <p:nvPr>
            <p:ph type="ftr" sz="quarter" idx="11"/>
          </p:nvPr>
        </p:nvSpPr>
        <p:spPr/>
        <p:txBody>
          <a:bodyPr/>
          <a:lstStyle>
            <a:extLst/>
          </a:lstStyle>
          <a:p>
            <a:endParaRPr lang="en-US"/>
          </a:p>
        </p:txBody>
      </p:sp>
      <p:sp>
        <p:nvSpPr>
          <p:cNvPr id="10" name="Slide Number Placeholder 9"/>
          <p:cNvSpPr>
            <a:spLocks noGrp="1"/>
          </p:cNvSpPr>
          <p:nvPr>
            <p:ph type="sldNum" sz="quarter" idx="12"/>
          </p:nvPr>
        </p:nvSpPr>
        <p:spPr/>
        <p:txBody>
          <a:bodyPr/>
          <a:lstStyle>
            <a:extLst/>
          </a:lstStyle>
          <a:p>
            <a:fld id="{B8330C1B-80F3-4C71-85F1-AFBE40813F4E}"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8330C1B-80F3-4C71-85F1-AFBE40813F4E}"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extLst/>
          </a:lstStyle>
          <a:p>
            <a:pPr algn="ctr" eaLnBrk="1" latinLnBrk="0" hangingPunct="1"/>
            <a:endParaRPr kumimoji="0" lang="en-US"/>
          </a:p>
        </p:txBody>
      </p:sp>
    </p:spTree>
  </p:cSld>
  <p:clrMapOvr>
    <a:masterClrMapping/>
  </p:clrMapOvr>
  <p:transition spd="slow">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Date Placeholder 1"/>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3" name="Footer Placeholder 2"/>
          <p:cNvSpPr>
            <a:spLocks noGrp="1"/>
          </p:cNvSpPr>
          <p:nvPr>
            <p:ph type="ftr" sz="quarter" idx="11"/>
          </p:nvPr>
        </p:nvSpPr>
        <p:spPr/>
        <p:txBody>
          <a:bodyPr/>
          <a:lstStyle>
            <a:extLst/>
          </a:lstStyle>
          <a:p>
            <a:endParaRPr lang="en-US"/>
          </a:p>
        </p:txBody>
      </p:sp>
      <p:sp>
        <p:nvSpPr>
          <p:cNvPr id="4" name="Slide Number Placeholder 3"/>
          <p:cNvSpPr>
            <a:spLocks noGrp="1"/>
          </p:cNvSpPr>
          <p:nvPr>
            <p:ph type="sldNum" sz="quarter" idx="12"/>
          </p:nvPr>
        </p:nvSpPr>
        <p:spPr/>
        <p:txBody>
          <a:bodyPr/>
          <a:lstStyle>
            <a:extLst/>
          </a:lstStyle>
          <a:p>
            <a:fld id="{B8330C1B-80F3-4C71-85F1-AFBE40813F4E}"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Ovr>
    <a:masterClrMapping/>
  </p:clrMapOvr>
  <p:transition spd="slow">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8330C1B-80F3-4C71-85F1-AFBE40813F4E}"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extLst/>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transition spd="slow">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E0B6594D-B1D1-4AF4-8D56-C08408FAC124}" type="datetimeFigureOut">
              <a:rPr lang="en-US" smtClean="0"/>
              <a:pPr/>
              <a:t>11/5/2013</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8330C1B-80F3-4C71-85F1-AFBE40813F4E}" type="slidenum">
              <a:rPr lang="en-US" smtClean="0"/>
              <a:pPr/>
              <a:t>‹#›</a:t>
            </a:fld>
            <a:endParaRPr lang="en-US"/>
          </a:p>
        </p:txBody>
      </p:sp>
    </p:spTree>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extLst/>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E0B6594D-B1D1-4AF4-8D56-C08408FAC124}" type="datetimeFigureOut">
              <a:rPr lang="en-US" smtClean="0"/>
              <a:pPr/>
              <a:t>11/5/2013</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8330C1B-80F3-4C71-85F1-AFBE40813F4E}"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slow">
    <p:random/>
  </p:transition>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isj.hd.edu.ro/ccd/?kod=0" TargetMode="External"/><Relationship Id="rId2" Type="http://schemas.openxmlformats.org/officeDocument/2006/relationships/hyperlink" Target="http://www.isj.hd.edu.ro/ccd" TargetMode="External"/><Relationship Id="rId1" Type="http://schemas.openxmlformats.org/officeDocument/2006/relationships/slideLayout" Target="../slideLayouts/slideLayout7.xml"/><Relationship Id="rId5" Type="http://schemas.openxmlformats.org/officeDocument/2006/relationships/hyperlink" Target="http://isj.hd.edu.ro/ccd/?kod=58" TargetMode="External"/><Relationship Id="rId4" Type="http://schemas.openxmlformats.org/officeDocument/2006/relationships/hyperlink" Target="http://isj.hd.edu.ro/ccd/?kod=7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hyperlink" Target="mailto:ccd_deva@yahoo.com" TargetMode="Externa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hyperlink" Target="mailto:ccd_deva@yahoo.com"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hyperlink" Target="http://isj.hd.edu.ro/ccd/" TargetMode="External"/><Relationship Id="rId2" Type="http://schemas.openxmlformats.org/officeDocument/2006/relationships/hyperlink" Target="http://isj.hd.edu.ro/forum" TargetMode="Externa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971600" y="188640"/>
            <a:ext cx="8172400" cy="1508105"/>
          </a:xfrm>
          <a:prstGeom prst="rect">
            <a:avLst/>
          </a:prstGeom>
          <a:noFill/>
        </p:spPr>
        <p:txBody>
          <a:bodyPr wrap="square" rtlCol="0">
            <a:spAutoFit/>
          </a:bodyPr>
          <a:lstStyle/>
          <a:p>
            <a:pPr algn="ctr"/>
            <a:r>
              <a:rPr lang="en-US" sz="4600" b="1" smtClean="0">
                <a:latin typeface="Times New Roman" pitchFamily="18" charset="0"/>
                <a:cs typeface="Times New Roman" pitchFamily="18" charset="0"/>
              </a:rPr>
              <a:t>Casa </a:t>
            </a:r>
            <a:r>
              <a:rPr lang="en-US" sz="4600" b="1" err="1" smtClean="0">
                <a:latin typeface="Times New Roman" pitchFamily="18" charset="0"/>
                <a:cs typeface="Times New Roman" pitchFamily="18" charset="0"/>
              </a:rPr>
              <a:t>Corpului</a:t>
            </a:r>
            <a:r>
              <a:rPr lang="en-US" sz="4600" b="1" smtClean="0">
                <a:latin typeface="Times New Roman" pitchFamily="18" charset="0"/>
                <a:cs typeface="Times New Roman" pitchFamily="18" charset="0"/>
              </a:rPr>
              <a:t> Didactic </a:t>
            </a:r>
            <a:r>
              <a:rPr lang="en-US" sz="4600" b="1" err="1" smtClean="0">
                <a:latin typeface="Times New Roman" pitchFamily="18" charset="0"/>
                <a:cs typeface="Times New Roman" pitchFamily="18" charset="0"/>
              </a:rPr>
              <a:t>Hunedoara</a:t>
            </a:r>
            <a:endParaRPr lang="en-US" sz="4600" b="1">
              <a:latin typeface="Times New Roman" pitchFamily="18" charset="0"/>
              <a:cs typeface="Times New Roman" pitchFamily="18" charset="0"/>
            </a:endParaRPr>
          </a:p>
        </p:txBody>
      </p:sp>
      <p:pic>
        <p:nvPicPr>
          <p:cNvPr id="3" name="Picture 2"/>
          <p:cNvPicPr>
            <a:picLocks noChangeAspect="1"/>
          </p:cNvPicPr>
          <p:nvPr/>
        </p:nvPicPr>
        <p:blipFill>
          <a:blip r:embed="rId2" cstate="print">
            <a:extLst>
              <a:ext uri="{28A0092B-C50C-407E-A947-70E740481C1C}">
                <a14:useLocalDpi xmlns="" xmlns:a14="http://schemas.microsoft.com/office/drawing/2010/main" val="0"/>
              </a:ext>
            </a:extLst>
          </a:blip>
          <a:stretch>
            <a:fillRect/>
          </a:stretch>
        </p:blipFill>
        <p:spPr>
          <a:xfrm>
            <a:off x="3780192" y="3474534"/>
            <a:ext cx="2520000" cy="2330730"/>
          </a:xfrm>
          <a:prstGeom prst="rect">
            <a:avLst/>
          </a:prstGeom>
        </p:spPr>
      </p:pic>
    </p:spTree>
  </p:cSld>
  <p:clrMapOvr>
    <a:masterClrMapping/>
  </p:clrMapOvr>
  <p:transition spd="slow">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3607" y="116632"/>
            <a:ext cx="8064897" cy="6370975"/>
          </a:xfrm>
          <a:prstGeom prst="rect">
            <a:avLst/>
          </a:prstGeom>
          <a:noFill/>
        </p:spPr>
        <p:txBody>
          <a:bodyPr wrap="square" rtlCol="0">
            <a:spAutoFit/>
          </a:bodyPr>
          <a:lstStyle/>
          <a:p>
            <a:pPr algn="ctr"/>
            <a:endParaRPr lang="ro-RO" sz="2400" b="1" smtClean="0">
              <a:latin typeface="Arial" panose="020B0604020202020204" pitchFamily="34" charset="0"/>
              <a:cs typeface="Arial" panose="020B0604020202020204" pitchFamily="34" charset="0"/>
            </a:endParaRPr>
          </a:p>
          <a:p>
            <a:pPr algn="ctr"/>
            <a:r>
              <a:rPr lang="en-US" sz="2400" b="1" smtClean="0">
                <a:latin typeface="Arial" panose="020B0604020202020204" pitchFamily="34" charset="0"/>
                <a:cs typeface="Arial" panose="020B0604020202020204" pitchFamily="34" charset="0"/>
              </a:rPr>
              <a:t>CONSILIERE </a:t>
            </a:r>
            <a:r>
              <a:rPr lang="en-US" sz="2400" b="1">
                <a:latin typeface="Arial" panose="020B0604020202020204" pitchFamily="34" charset="0"/>
                <a:cs typeface="Arial" panose="020B0604020202020204" pitchFamily="34" charset="0"/>
              </a:rPr>
              <a:t>PENTRU O CARIERĂ DIDACTICĂ DE </a:t>
            </a:r>
            <a:r>
              <a:rPr lang="en-US" sz="2400" b="1" smtClean="0">
                <a:latin typeface="Arial" panose="020B0604020202020204" pitchFamily="34" charset="0"/>
                <a:cs typeface="Arial" panose="020B0604020202020204" pitchFamily="34" charset="0"/>
              </a:rPr>
              <a:t>SUCCES</a:t>
            </a:r>
          </a:p>
          <a:p>
            <a:pPr algn="ctr"/>
            <a:endParaRPr lang="en-US" sz="2400" b="1">
              <a:latin typeface="Arial" panose="020B0604020202020204" pitchFamily="34" charset="0"/>
              <a:cs typeface="Arial" panose="020B0604020202020204" pitchFamily="34" charset="0"/>
            </a:endParaRPr>
          </a:p>
          <a:p>
            <a:pPr algn="ctr"/>
            <a:r>
              <a:rPr lang="en-US" sz="2400" b="1" smtClean="0">
                <a:latin typeface="Arial" panose="020B0604020202020204" pitchFamily="34" charset="0"/>
                <a:cs typeface="Arial" panose="020B0604020202020204" pitchFamily="34" charset="0"/>
              </a:rPr>
              <a:t>Managementul activit</a:t>
            </a:r>
            <a:r>
              <a:rPr lang="ro-RO" sz="2400" b="1" smtClean="0">
                <a:latin typeface="Arial" panose="020B0604020202020204" pitchFamily="34" charset="0"/>
                <a:cs typeface="Arial" panose="020B0604020202020204" pitchFamily="34" charset="0"/>
              </a:rPr>
              <a:t>ăţ</a:t>
            </a:r>
            <a:r>
              <a:rPr lang="en-US" sz="2400" b="1" smtClean="0">
                <a:latin typeface="Arial" panose="020B0604020202020204" pitchFamily="34" charset="0"/>
                <a:cs typeface="Arial" panose="020B0604020202020204" pitchFamily="34" charset="0"/>
              </a:rPr>
              <a:t>ilor </a:t>
            </a:r>
            <a:r>
              <a:rPr lang="en-US" sz="2400" b="1">
                <a:latin typeface="Arial" panose="020B0604020202020204" pitchFamily="34" charset="0"/>
                <a:cs typeface="Arial" panose="020B0604020202020204" pitchFamily="34" charset="0"/>
              </a:rPr>
              <a:t>de formare </a:t>
            </a:r>
            <a:r>
              <a:rPr lang="en-US" sz="2400" b="1" smtClean="0">
                <a:latin typeface="Arial" panose="020B0604020202020204" pitchFamily="34" charset="0"/>
                <a:cs typeface="Arial" panose="020B0604020202020204" pitchFamily="34" charset="0"/>
              </a:rPr>
              <a:t>continu</a:t>
            </a:r>
            <a:r>
              <a:rPr lang="ro-RO" sz="2400" b="1" smtClean="0">
                <a:latin typeface="Arial" panose="020B0604020202020204" pitchFamily="34" charset="0"/>
                <a:cs typeface="Arial" panose="020B0604020202020204" pitchFamily="34" charset="0"/>
              </a:rPr>
              <a:t>ă</a:t>
            </a:r>
            <a:endParaRPr lang="en-US" sz="2400" b="1">
              <a:latin typeface="Arial" panose="020B0604020202020204" pitchFamily="34" charset="0"/>
              <a:cs typeface="Arial" panose="020B0604020202020204" pitchFamily="34" charset="0"/>
            </a:endParaRPr>
          </a:p>
          <a:p>
            <a:pPr algn="ctr"/>
            <a:endParaRPr lang="en-US" sz="2400" b="1" smtClean="0">
              <a:latin typeface="Arial" panose="020B0604020202020204" pitchFamily="34" charset="0"/>
              <a:cs typeface="Arial" panose="020B0604020202020204" pitchFamily="34" charset="0"/>
            </a:endParaRPr>
          </a:p>
          <a:p>
            <a:pPr algn="ctr"/>
            <a:r>
              <a:rPr lang="en-US" sz="2400" b="1" smtClean="0">
                <a:latin typeface="Arial" panose="020B0604020202020204" pitchFamily="34" charset="0"/>
                <a:cs typeface="Arial" panose="020B0604020202020204" pitchFamily="34" charset="0"/>
              </a:rPr>
              <a:t>Curs C25</a:t>
            </a:r>
          </a:p>
          <a:p>
            <a:pPr algn="ctr"/>
            <a:endParaRPr lang="ro-RO" sz="2400" b="1">
              <a:latin typeface="Arial" panose="020B0604020202020204" pitchFamily="34" charset="0"/>
              <a:cs typeface="Arial" panose="020B0604020202020204" pitchFamily="34" charset="0"/>
            </a:endParaRPr>
          </a:p>
          <a:p>
            <a:pPr algn="ctr"/>
            <a:endParaRPr lang="ro-RO" sz="2400" b="1" smtClean="0">
              <a:latin typeface="Arial" panose="020B0604020202020204" pitchFamily="34" charset="0"/>
              <a:cs typeface="Arial" panose="020B0604020202020204" pitchFamily="34" charset="0"/>
            </a:endParaRPr>
          </a:p>
          <a:p>
            <a:pPr algn="ctr"/>
            <a:endParaRPr lang="ro-RO" sz="2400" b="1">
              <a:latin typeface="Arial" panose="020B0604020202020204" pitchFamily="34" charset="0"/>
              <a:cs typeface="Arial" panose="020B0604020202020204" pitchFamily="34" charset="0"/>
            </a:endParaRPr>
          </a:p>
          <a:p>
            <a:pPr algn="ctr"/>
            <a:endParaRPr lang="ro-RO" sz="2400" b="1" smtClean="0">
              <a:latin typeface="Arial" panose="020B0604020202020204" pitchFamily="34" charset="0"/>
              <a:cs typeface="Arial" panose="020B0604020202020204" pitchFamily="34" charset="0"/>
            </a:endParaRPr>
          </a:p>
          <a:p>
            <a:pPr algn="ctr"/>
            <a:endParaRPr lang="en-US" sz="2400" b="1">
              <a:latin typeface="Arial" panose="020B0604020202020204" pitchFamily="34" charset="0"/>
              <a:cs typeface="Arial" panose="020B0604020202020204" pitchFamily="34" charset="0"/>
            </a:endParaRPr>
          </a:p>
          <a:p>
            <a:pPr algn="ctr"/>
            <a:endParaRPr lang="en-US" sz="2400"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Î</a:t>
            </a:r>
            <a:r>
              <a:rPr lang="en-US" sz="2400" b="1" err="1" smtClean="0">
                <a:latin typeface="Arial" panose="020B0604020202020204" pitchFamily="34" charset="0"/>
                <a:cs typeface="Arial" panose="020B0604020202020204" pitchFamily="34" charset="0"/>
              </a:rPr>
              <a:t>nt</a:t>
            </a:r>
            <a:r>
              <a:rPr lang="ro-RO" sz="2400" b="1" smtClean="0">
                <a:latin typeface="Arial" panose="020B0604020202020204" pitchFamily="34" charset="0"/>
                <a:cs typeface="Arial" panose="020B0604020202020204" pitchFamily="34" charset="0"/>
              </a:rPr>
              <a:t>â</a:t>
            </a:r>
            <a:r>
              <a:rPr lang="en-US" sz="2400" b="1" err="1" smtClean="0">
                <a:latin typeface="Arial" panose="020B0604020202020204" pitchFamily="34" charset="0"/>
                <a:cs typeface="Arial" panose="020B0604020202020204" pitchFamily="34" charset="0"/>
              </a:rPr>
              <a:t>lnirea</a:t>
            </a:r>
            <a:r>
              <a:rPr lang="en-US" sz="2400" b="1" smtClean="0">
                <a:latin typeface="Arial" panose="020B0604020202020204" pitchFamily="34" charset="0"/>
                <a:cs typeface="Arial" panose="020B0604020202020204" pitchFamily="34" charset="0"/>
              </a:rPr>
              <a:t> de </a:t>
            </a:r>
            <a:r>
              <a:rPr lang="en-US" sz="2400" b="1" err="1" smtClean="0">
                <a:latin typeface="Arial" panose="020B0604020202020204" pitchFamily="34" charset="0"/>
                <a:cs typeface="Arial" panose="020B0604020202020204" pitchFamily="34" charset="0"/>
              </a:rPr>
              <a:t>lucru</a:t>
            </a:r>
            <a:r>
              <a:rPr lang="en-US" sz="2400" b="1" smtClean="0">
                <a:latin typeface="Arial" panose="020B0604020202020204" pitchFamily="34" charset="0"/>
                <a:cs typeface="Arial" panose="020B0604020202020204" pitchFamily="34" charset="0"/>
              </a:rPr>
              <a:t> a </a:t>
            </a:r>
            <a:r>
              <a:rPr lang="en-US" sz="2400" b="1" err="1" smtClean="0">
                <a:latin typeface="Arial" panose="020B0604020202020204" pitchFamily="34" charset="0"/>
                <a:cs typeface="Arial" panose="020B0604020202020204" pitchFamily="34" charset="0"/>
              </a:rPr>
              <a:t>Responsabililor</a:t>
            </a:r>
            <a:r>
              <a:rPr lang="en-US" sz="2400" b="1" smtClean="0">
                <a:latin typeface="Arial" panose="020B0604020202020204" pitchFamily="34" charset="0"/>
                <a:cs typeface="Arial" panose="020B0604020202020204" pitchFamily="34" charset="0"/>
              </a:rPr>
              <a:t> cu </a:t>
            </a:r>
            <a:r>
              <a:rPr lang="en-US" sz="2400" b="1" err="1" smtClean="0">
                <a:latin typeface="Arial" panose="020B0604020202020204" pitchFamily="34" charset="0"/>
                <a:cs typeface="Arial" panose="020B0604020202020204" pitchFamily="34" charset="0"/>
              </a:rPr>
              <a:t>Formarea</a:t>
            </a:r>
            <a:r>
              <a:rPr lang="en-US" sz="2400" b="1" smtClean="0">
                <a:latin typeface="Arial" panose="020B0604020202020204" pitchFamily="34" charset="0"/>
                <a:cs typeface="Arial" panose="020B0604020202020204" pitchFamily="34" charset="0"/>
              </a:rPr>
              <a:t> </a:t>
            </a:r>
            <a:r>
              <a:rPr lang="en-US" sz="2400" b="1" err="1" smtClean="0">
                <a:latin typeface="Arial" panose="020B0604020202020204" pitchFamily="34" charset="0"/>
                <a:cs typeface="Arial" panose="020B0604020202020204" pitchFamily="34" charset="0"/>
              </a:rPr>
              <a:t>Continu</a:t>
            </a:r>
            <a:r>
              <a:rPr lang="ro-RO" sz="2400" b="1">
                <a:latin typeface="Arial" panose="020B0604020202020204" pitchFamily="34" charset="0"/>
                <a:cs typeface="Arial" panose="020B0604020202020204" pitchFamily="34" charset="0"/>
              </a:rPr>
              <a:t>ă</a:t>
            </a:r>
            <a:r>
              <a:rPr lang="en-US" sz="2400" b="1" smtClean="0">
                <a:latin typeface="Arial" panose="020B0604020202020204" pitchFamily="34" charset="0"/>
                <a:cs typeface="Arial" panose="020B0604020202020204" pitchFamily="34" charset="0"/>
              </a:rPr>
              <a:t> (RFC)</a:t>
            </a:r>
            <a:r>
              <a:rPr lang="ro-RO" sz="2400" b="1" smtClean="0">
                <a:latin typeface="Arial" panose="020B0604020202020204" pitchFamily="34" charset="0"/>
                <a:cs typeface="Arial" panose="020B0604020202020204" pitchFamily="34" charset="0"/>
              </a:rPr>
              <a:t> din şcoli</a:t>
            </a:r>
            <a:endParaRPr lang="en-US" sz="2400" b="1" smtClean="0">
              <a:latin typeface="Arial" panose="020B0604020202020204" pitchFamily="34" charset="0"/>
              <a:cs typeface="Arial" panose="020B0604020202020204" pitchFamily="34" charset="0"/>
            </a:endParaRPr>
          </a:p>
          <a:p>
            <a:pPr algn="ctr"/>
            <a:endParaRPr lang="en-US" sz="2400" b="1">
              <a:latin typeface="Arial" panose="020B0604020202020204" pitchFamily="34" charset="0"/>
              <a:cs typeface="Arial" panose="020B0604020202020204" pitchFamily="34" charset="0"/>
            </a:endParaRPr>
          </a:p>
          <a:p>
            <a:pPr algn="ctr"/>
            <a:r>
              <a:rPr lang="en-US" sz="2400" b="1" smtClean="0">
                <a:latin typeface="Arial" panose="020B0604020202020204" pitchFamily="34" charset="0"/>
                <a:cs typeface="Arial" panose="020B0604020202020204" pitchFamily="34" charset="0"/>
              </a:rPr>
              <a:t>4 – 14 </a:t>
            </a:r>
            <a:r>
              <a:rPr lang="en-US" sz="2400" b="1" err="1" smtClean="0">
                <a:latin typeface="Arial" panose="020B0604020202020204" pitchFamily="34" charset="0"/>
                <a:cs typeface="Arial" panose="020B0604020202020204" pitchFamily="34" charset="0"/>
              </a:rPr>
              <a:t>noiembrie</a:t>
            </a:r>
            <a:r>
              <a:rPr lang="en-US" sz="2400" b="1" smtClean="0">
                <a:latin typeface="Arial" panose="020B0604020202020204" pitchFamily="34" charset="0"/>
                <a:cs typeface="Arial" panose="020B0604020202020204" pitchFamily="34" charset="0"/>
              </a:rPr>
              <a:t> 2013</a:t>
            </a:r>
          </a:p>
        </p:txBody>
      </p:sp>
    </p:spTree>
    <p:extLst>
      <p:ext uri="{BB962C8B-B14F-4D97-AF65-F5344CB8AC3E}">
        <p14:creationId xmlns="" xmlns:p14="http://schemas.microsoft.com/office/powerpoint/2010/main" val="466083769"/>
      </p:ext>
    </p:extLst>
  </p:cSld>
  <p:clrMapOvr>
    <a:masterClrMapping/>
  </p:clrMapOvr>
  <p:transition spd="slow">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043607" y="1196752"/>
            <a:ext cx="8064897" cy="4524315"/>
          </a:xfrm>
          <a:prstGeom prst="rect">
            <a:avLst/>
          </a:prstGeom>
          <a:noFill/>
        </p:spPr>
        <p:txBody>
          <a:bodyPr wrap="square" rtlCol="0">
            <a:spAutoFit/>
          </a:bodyPr>
          <a:lstStyle/>
          <a:p>
            <a:pPr algn="ctr"/>
            <a:r>
              <a:rPr lang="ro-RO" sz="2400" b="1">
                <a:latin typeface="Arial" panose="020B0604020202020204" pitchFamily="34" charset="0"/>
                <a:cs typeface="Arial" panose="020B0604020202020204" pitchFamily="34" charset="0"/>
              </a:rPr>
              <a:t>ATRIBUŢIILE RESPONSABILULUI COMISIEI DE PERFECŢIONARE</a:t>
            </a:r>
            <a:r>
              <a:rPr lang="en-US" sz="2400" b="1">
                <a:latin typeface="Arial" panose="020B0604020202020204" pitchFamily="34" charset="0"/>
                <a:cs typeface="Arial" panose="020B0604020202020204" pitchFamily="34" charset="0"/>
              </a:rPr>
              <a:t> </a:t>
            </a:r>
            <a:r>
              <a:rPr lang="ro-RO" sz="2400" b="1">
                <a:latin typeface="Arial" panose="020B0604020202020204" pitchFamily="34" charset="0"/>
                <a:cs typeface="Arial" panose="020B0604020202020204" pitchFamily="34" charset="0"/>
              </a:rPr>
              <a:t>/ FORMARE </a:t>
            </a:r>
            <a:r>
              <a:rPr lang="ro-RO" sz="2400" b="1" smtClean="0">
                <a:latin typeface="Arial" panose="020B0604020202020204" pitchFamily="34" charset="0"/>
                <a:cs typeface="Arial" panose="020B0604020202020204" pitchFamily="34" charset="0"/>
              </a:rPr>
              <a:t>CONTINUĂ</a:t>
            </a:r>
            <a:endParaRPr lang="en-US" sz="2400" b="1" smtClean="0">
              <a:latin typeface="Arial" panose="020B0604020202020204" pitchFamily="34" charset="0"/>
              <a:cs typeface="Arial" panose="020B0604020202020204" pitchFamily="34" charset="0"/>
            </a:endParaRPr>
          </a:p>
          <a:p>
            <a:pPr algn="ctr"/>
            <a:endParaRPr lang="en-US" sz="2400" b="1" smtClean="0">
              <a:latin typeface="Arial" panose="020B0604020202020204" pitchFamily="34" charset="0"/>
              <a:cs typeface="Arial" panose="020B0604020202020204" pitchFamily="34" charset="0"/>
            </a:endParaRPr>
          </a:p>
          <a:p>
            <a:pPr algn="ctr"/>
            <a:endParaRPr lang="en-US" sz="2400" b="1" smtClean="0">
              <a:latin typeface="Arial" panose="020B0604020202020204" pitchFamily="34" charset="0"/>
              <a:cs typeface="Arial" panose="020B0604020202020204" pitchFamily="34" charset="0"/>
            </a:endParaRPr>
          </a:p>
          <a:p>
            <a:pPr algn="ctr"/>
            <a:endParaRPr lang="en-US" sz="2400" b="1">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CONTINUE</a:t>
            </a:r>
          </a:p>
          <a:p>
            <a:pPr algn="ctr"/>
            <a:endParaRPr lang="en-US" sz="2400" smtClean="0">
              <a:latin typeface="Arial" panose="020B0604020202020204" pitchFamily="34" charset="0"/>
              <a:cs typeface="Arial" panose="020B0604020202020204" pitchFamily="34" charset="0"/>
            </a:endParaRPr>
          </a:p>
          <a:p>
            <a:pPr algn="ctr"/>
            <a:endParaRPr lang="en-US" sz="2400" smtClean="0">
              <a:latin typeface="Arial" panose="020B0604020202020204" pitchFamily="34" charset="0"/>
              <a:cs typeface="Arial" panose="020B0604020202020204" pitchFamily="34" charset="0"/>
            </a:endParaRPr>
          </a:p>
          <a:p>
            <a:pPr algn="ctr"/>
            <a:endParaRPr lang="ro-RO" sz="240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OFERTA DE PROGRAME A CCD HUNEDOARA</a:t>
            </a:r>
          </a:p>
          <a:p>
            <a:pPr algn="ctr"/>
            <a:r>
              <a:rPr lang="ro-RO" sz="2400" b="1">
                <a:latin typeface="Arial" panose="020B0604020202020204" pitchFamily="34" charset="0"/>
                <a:cs typeface="Arial" panose="020B0604020202020204" pitchFamily="34" charset="0"/>
              </a:rPr>
              <a:t>2013 / </a:t>
            </a:r>
            <a:r>
              <a:rPr lang="ro-RO" sz="2400" b="1" smtClean="0">
                <a:latin typeface="Arial" panose="020B0604020202020204" pitchFamily="34" charset="0"/>
                <a:cs typeface="Arial" panose="020B0604020202020204" pitchFamily="34" charset="0"/>
              </a:rPr>
              <a:t>2014</a:t>
            </a:r>
            <a:endParaRPr lang="ro-RO" sz="2400" b="1">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656560952"/>
      </p:ext>
    </p:extLst>
  </p:cSld>
  <p:clrMapOvr>
    <a:masterClrMapping/>
  </p:clrMapOvr>
  <p:transition spd="slow">
    <p:rand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599" y="193278"/>
            <a:ext cx="8136905" cy="5539978"/>
          </a:xfrm>
          <a:prstGeom prst="rect">
            <a:avLst/>
          </a:prstGeom>
          <a:noFill/>
        </p:spPr>
        <p:txBody>
          <a:bodyPr wrap="square" rtlCol="0">
            <a:spAutoFit/>
          </a:bodyPr>
          <a:lstStyle/>
          <a:p>
            <a:endParaRPr lang="ro-RO"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a:t>
            </a:r>
            <a:r>
              <a:rPr lang="en-US" sz="2400" b="1" smtClean="0">
                <a:latin typeface="Arial" panose="020B0604020202020204" pitchFamily="34" charset="0"/>
                <a:cs typeface="Arial" panose="020B0604020202020204" pitchFamily="34" charset="0"/>
              </a:rPr>
              <a:t> </a:t>
            </a:r>
            <a:r>
              <a:rPr lang="ro-RO" sz="2400" b="1" smtClean="0">
                <a:latin typeface="Arial" panose="020B0604020202020204" pitchFamily="34" charset="0"/>
                <a:cs typeface="Arial" panose="020B0604020202020204" pitchFamily="34" charset="0"/>
              </a:rPr>
              <a:t>/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z="2400">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b="1">
                <a:latin typeface="Arial" panose="020B0604020202020204" pitchFamily="34" charset="0"/>
                <a:cs typeface="Arial" panose="020B0604020202020204" pitchFamily="34" charset="0"/>
              </a:rPr>
              <a:t>Responsabilul cu perfecţionarea/formarea continuă este persoana </a:t>
            </a: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desemnată </a:t>
            </a:r>
            <a:r>
              <a:rPr lang="ro-RO" b="1">
                <a:latin typeface="Arial" panose="020B0604020202020204" pitchFamily="34" charset="0"/>
                <a:cs typeface="Arial" panose="020B0604020202020204" pitchFamily="34" charset="0"/>
              </a:rPr>
              <a:t>de conducerea unităţii de învăţământ să gestioneze activitatea de perfecţionare/formare continuă a cadrelor didactice din unitatea de învăţământ. </a:t>
            </a:r>
            <a:endParaRPr lang="ro-RO">
              <a:latin typeface="Arial" panose="020B0604020202020204" pitchFamily="34" charset="0"/>
              <a:cs typeface="Arial" panose="020B0604020202020204" pitchFamily="34" charset="0"/>
            </a:endParaRPr>
          </a:p>
          <a:p>
            <a:endParaRPr lang="en-US" b="1" smtClean="0">
              <a:latin typeface="Arial" panose="020B0604020202020204" pitchFamily="34" charset="0"/>
              <a:cs typeface="Arial" panose="020B0604020202020204" pitchFamily="34" charset="0"/>
            </a:endParaRPr>
          </a:p>
          <a:p>
            <a:r>
              <a:rPr lang="en-US" b="1" smtClean="0">
                <a:latin typeface="Arial" panose="020B0604020202020204" pitchFamily="34" charset="0"/>
                <a:cs typeface="Arial" panose="020B0604020202020204" pitchFamily="34" charset="0"/>
              </a:rPr>
              <a:t>P</a:t>
            </a:r>
            <a:r>
              <a:rPr lang="ro-RO" b="1" smtClean="0">
                <a:latin typeface="Arial" panose="020B0604020202020204" pitchFamily="34" charset="0"/>
                <a:cs typeface="Arial" panose="020B0604020202020204" pitchFamily="34" charset="0"/>
              </a:rPr>
              <a:t>e </a:t>
            </a:r>
            <a:r>
              <a:rPr lang="ro-RO" b="1">
                <a:latin typeface="Arial" panose="020B0604020202020204" pitchFamily="34" charset="0"/>
                <a:cs typeface="Arial" panose="020B0604020202020204" pitchFamily="34" charset="0"/>
              </a:rPr>
              <a:t>întreaga perioadă, în care îndeplineşte această funcţie, colaborează </a:t>
            </a:r>
            <a:r>
              <a:rPr lang="ro-RO" b="1" smtClean="0">
                <a:latin typeface="Arial" panose="020B0604020202020204" pitchFamily="34" charset="0"/>
                <a:cs typeface="Arial" panose="020B0604020202020204" pitchFamily="34" charset="0"/>
              </a:rPr>
              <a:t>cu:</a:t>
            </a:r>
          </a:p>
          <a:p>
            <a:pPr marL="1200150" lvl="2" indent="-285750">
              <a:buFont typeface="Wingdings" pitchFamily="2" charset="2"/>
              <a:buChar char="v"/>
            </a:pPr>
            <a:r>
              <a:rPr lang="ro-RO" b="1" smtClean="0">
                <a:latin typeface="Arial" panose="020B0604020202020204" pitchFamily="34" charset="0"/>
                <a:cs typeface="Arial" panose="020B0604020202020204" pitchFamily="34" charset="0"/>
              </a:rPr>
              <a:t>directorul </a:t>
            </a:r>
            <a:r>
              <a:rPr lang="ro-RO" b="1">
                <a:latin typeface="Arial" panose="020B0604020202020204" pitchFamily="34" charset="0"/>
                <a:cs typeface="Arial" panose="020B0604020202020204" pitchFamily="34" charset="0"/>
              </a:rPr>
              <a:t>unităţii de </a:t>
            </a:r>
            <a:r>
              <a:rPr lang="ro-RO" b="1" smtClean="0">
                <a:latin typeface="Arial" panose="020B0604020202020204" pitchFamily="34" charset="0"/>
                <a:cs typeface="Arial" panose="020B0604020202020204" pitchFamily="34" charset="0"/>
              </a:rPr>
              <a:t>învăţământ;</a:t>
            </a:r>
          </a:p>
          <a:p>
            <a:pPr marL="1200150" lvl="2" indent="-285750">
              <a:buFont typeface="Wingdings" pitchFamily="2" charset="2"/>
              <a:buChar char="v"/>
            </a:pPr>
            <a:r>
              <a:rPr lang="ro-RO" b="1" smtClean="0">
                <a:latin typeface="Arial" panose="020B0604020202020204" pitchFamily="34" charset="0"/>
                <a:cs typeface="Arial" panose="020B0604020202020204" pitchFamily="34" charset="0"/>
              </a:rPr>
              <a:t>cadrele </a:t>
            </a:r>
            <a:r>
              <a:rPr lang="ro-RO" b="1">
                <a:latin typeface="Arial" panose="020B0604020202020204" pitchFamily="34" charset="0"/>
                <a:cs typeface="Arial" panose="020B0604020202020204" pitchFamily="34" charset="0"/>
              </a:rPr>
              <a:t>didactice din </a:t>
            </a:r>
            <a:r>
              <a:rPr lang="ro-RO" b="1" smtClean="0">
                <a:latin typeface="Arial" panose="020B0604020202020204" pitchFamily="34" charset="0"/>
                <a:cs typeface="Arial" panose="020B0604020202020204" pitchFamily="34" charset="0"/>
              </a:rPr>
              <a:t>unitate; </a:t>
            </a:r>
          </a:p>
          <a:p>
            <a:pPr marL="1200150" lvl="2" indent="-285750">
              <a:buFont typeface="Wingdings" pitchFamily="2" charset="2"/>
              <a:buChar char="v"/>
            </a:pPr>
            <a:r>
              <a:rPr lang="ro-RO" b="1" smtClean="0">
                <a:latin typeface="Arial" panose="020B0604020202020204" pitchFamily="34" charset="0"/>
                <a:cs typeface="Arial" panose="020B0604020202020204" pitchFamily="34" charset="0"/>
              </a:rPr>
              <a:t>membrii </a:t>
            </a:r>
            <a:r>
              <a:rPr lang="ro-RO" b="1">
                <a:latin typeface="Arial" panose="020B0604020202020204" pitchFamily="34" charset="0"/>
                <a:cs typeface="Arial" panose="020B0604020202020204" pitchFamily="34" charset="0"/>
              </a:rPr>
              <a:t>Comisiei pentru perfecţionare/ formare continuă a cadrelor didactice, stabilită la nivelul </a:t>
            </a:r>
            <a:r>
              <a:rPr lang="ro-RO" b="1" smtClean="0">
                <a:latin typeface="Arial" panose="020B0604020202020204" pitchFamily="34" charset="0"/>
                <a:cs typeface="Arial" panose="020B0604020202020204" pitchFamily="34" charset="0"/>
              </a:rPr>
              <a:t>şcolii; </a:t>
            </a:r>
            <a:endParaRPr lang="ro-RO" b="1">
              <a:latin typeface="Arial" panose="020B0604020202020204" pitchFamily="34" charset="0"/>
              <a:cs typeface="Arial" panose="020B0604020202020204" pitchFamily="34" charset="0"/>
            </a:endParaRPr>
          </a:p>
          <a:p>
            <a:pPr marL="1200150" lvl="2" indent="-285750">
              <a:buFont typeface="Wingdings" pitchFamily="2" charset="2"/>
              <a:buChar char="v"/>
            </a:pPr>
            <a:r>
              <a:rPr lang="ro-RO" b="1" smtClean="0">
                <a:latin typeface="Arial" panose="020B0604020202020204" pitchFamily="34" charset="0"/>
                <a:cs typeface="Arial" panose="020B0604020202020204" pitchFamily="34" charset="0"/>
              </a:rPr>
              <a:t>inspectorul </a:t>
            </a:r>
            <a:r>
              <a:rPr lang="ro-RO" b="1">
                <a:latin typeface="Arial" panose="020B0604020202020204" pitchFamily="34" charset="0"/>
                <a:cs typeface="Arial" panose="020B0604020202020204" pitchFamily="34" charset="0"/>
              </a:rPr>
              <a:t>şcolar pentru dezvoltarea resursei umane din cadrul </a:t>
            </a:r>
            <a:r>
              <a:rPr lang="ro-RO" b="1" smtClean="0">
                <a:latin typeface="Arial" panose="020B0604020202020204" pitchFamily="34" charset="0"/>
                <a:cs typeface="Arial" panose="020B0604020202020204" pitchFamily="34" charset="0"/>
              </a:rPr>
              <a:t>I. S. J.</a:t>
            </a:r>
            <a:r>
              <a:rPr lang="en-US"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pPr marL="1200150" lvl="2" indent="-285750">
              <a:buFont typeface="Wingdings" pitchFamily="2" charset="2"/>
              <a:buChar char="v"/>
            </a:pPr>
            <a:r>
              <a:rPr lang="ro-RO" b="1" smtClean="0">
                <a:latin typeface="Arial" panose="020B0604020202020204" pitchFamily="34" charset="0"/>
                <a:cs typeface="Arial" panose="020B0604020202020204" pitchFamily="34" charset="0"/>
              </a:rPr>
              <a:t>C</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C</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D</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a:t>
            </a:r>
            <a:r>
              <a:rPr lang="en-US" b="1" err="1" smtClean="0">
                <a:latin typeface="Arial" panose="020B0604020202020204" pitchFamily="34" charset="0"/>
                <a:cs typeface="Arial" panose="020B0604020202020204" pitchFamily="34" charset="0"/>
              </a:rPr>
              <a:t>Hunedoara</a:t>
            </a:r>
            <a:r>
              <a:rPr lang="ro-RO" b="1" smtClean="0">
                <a:latin typeface="Arial" panose="020B0604020202020204" pitchFamily="34" charset="0"/>
                <a:cs typeface="Arial" panose="020B0604020202020204" pitchFamily="34" charset="0"/>
              </a:rPr>
              <a:t>, ca principal furnizor de programe adresate personalului didactic, auxiliar și de conducere din școală</a:t>
            </a:r>
            <a:r>
              <a:rPr lang="en-US">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p:txBody>
      </p:sp>
    </p:spTree>
  </p:cSld>
  <p:clrMapOvr>
    <a:masterClrMapping/>
  </p:clrMapOvr>
  <p:transition spd="slow">
    <p:rand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84548" y="182245"/>
            <a:ext cx="8159452" cy="5262979"/>
          </a:xfrm>
          <a:prstGeom prst="rect">
            <a:avLst/>
          </a:prstGeom>
          <a:noFill/>
        </p:spPr>
        <p:txBody>
          <a:bodyPr wrap="square" rtlCol="0">
            <a:spAutoFit/>
          </a:bodyPr>
          <a:lstStyle/>
          <a:p>
            <a:endParaRPr lang="ro-RO">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a:t>
            </a:r>
            <a:r>
              <a:rPr lang="en-US" sz="2400" b="1" smtClean="0">
                <a:latin typeface="Arial" panose="020B0604020202020204" pitchFamily="34" charset="0"/>
                <a:cs typeface="Arial" panose="020B0604020202020204" pitchFamily="34" charset="0"/>
              </a:rPr>
              <a:t> </a:t>
            </a:r>
            <a:r>
              <a:rPr lang="ro-RO" sz="2400" b="1" smtClean="0">
                <a:latin typeface="Arial" panose="020B0604020202020204" pitchFamily="34" charset="0"/>
                <a:cs typeface="Arial" panose="020B0604020202020204" pitchFamily="34" charset="0"/>
              </a:rPr>
              <a:t>/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mtClean="0">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b="1">
                <a:latin typeface="Arial" panose="020B0604020202020204" pitchFamily="34" charset="0"/>
                <a:cs typeface="Arial" panose="020B0604020202020204" pitchFamily="34" charset="0"/>
              </a:rPr>
              <a:t>Activitatea responsabilului cu perfecţionarea/formarea continuă va </a:t>
            </a:r>
            <a:r>
              <a:rPr lang="ro-RO" b="1" smtClean="0">
                <a:latin typeface="Arial" panose="020B0604020202020204" pitchFamily="34" charset="0"/>
                <a:cs typeface="Arial" panose="020B0604020202020204" pitchFamily="34" charset="0"/>
              </a:rPr>
              <a:t>fi</a:t>
            </a:r>
            <a:r>
              <a:rPr lang="en-US" b="1" smtClean="0">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centrată </a:t>
            </a:r>
            <a:r>
              <a:rPr lang="ro-RO" b="1">
                <a:latin typeface="Arial" panose="020B0604020202020204" pitchFamily="34" charset="0"/>
                <a:cs typeface="Arial" panose="020B0604020202020204" pitchFamily="34" charset="0"/>
              </a:rPr>
              <a:t>pe următoarele coordonate:</a:t>
            </a:r>
            <a:endParaRPr lang="ro-RO">
              <a:latin typeface="Arial" panose="020B0604020202020204" pitchFamily="34" charset="0"/>
              <a:cs typeface="Arial" panose="020B0604020202020204" pitchFamily="34" charset="0"/>
            </a:endParaRPr>
          </a:p>
          <a:p>
            <a:r>
              <a:rPr lang="ro-RO" b="1">
                <a:latin typeface="Arial" panose="020B0604020202020204" pitchFamily="34" charset="0"/>
                <a:cs typeface="Arial" panose="020B0604020202020204" pitchFamily="34" charset="0"/>
              </a:rPr>
              <a:t> </a:t>
            </a:r>
            <a:endParaRPr lang="ro-RO">
              <a:latin typeface="Arial" panose="020B0604020202020204" pitchFamily="34" charset="0"/>
              <a:cs typeface="Arial" panose="020B0604020202020204" pitchFamily="34" charset="0"/>
            </a:endParaRPr>
          </a:p>
          <a:p>
            <a:pPr marL="1657350" lvl="3" indent="-285750">
              <a:buFont typeface="Wingdings" pitchFamily="2" charset="2"/>
              <a:buChar char="v"/>
            </a:pPr>
            <a:r>
              <a:rPr lang="en-US" b="1" err="1" smtClean="0">
                <a:latin typeface="Arial" panose="020B0604020202020204" pitchFamily="34" charset="0"/>
                <a:cs typeface="Arial" panose="020B0604020202020204" pitchFamily="34" charset="0"/>
              </a:rPr>
              <a:t>Informare</a:t>
            </a:r>
            <a:endParaRPr lang="ro-RO" b="1" smtClean="0">
              <a:latin typeface="Arial" panose="020B0604020202020204" pitchFamily="34" charset="0"/>
              <a:cs typeface="Arial" panose="020B0604020202020204" pitchFamily="34" charset="0"/>
            </a:endParaRPr>
          </a:p>
          <a:p>
            <a:pPr marL="1657350" lvl="3" indent="-285750">
              <a:buFont typeface="Wingdings" pitchFamily="2" charset="2"/>
              <a:buChar char="v"/>
            </a:pPr>
            <a:endParaRPr lang="ro-RO">
              <a:latin typeface="Arial" panose="020B0604020202020204" pitchFamily="34" charset="0"/>
              <a:cs typeface="Arial" panose="020B0604020202020204" pitchFamily="34" charset="0"/>
            </a:endParaRPr>
          </a:p>
          <a:p>
            <a:pPr marL="1657350" lvl="3" indent="-285750">
              <a:buFont typeface="Wingdings" pitchFamily="2" charset="2"/>
              <a:buChar char="v"/>
            </a:pPr>
            <a:r>
              <a:rPr lang="ro-RO" b="1" smtClean="0">
                <a:latin typeface="Arial" panose="020B0604020202020204" pitchFamily="34" charset="0"/>
                <a:cs typeface="Arial" panose="020B0604020202020204" pitchFamily="34" charset="0"/>
              </a:rPr>
              <a:t>Organizare/coordonare</a:t>
            </a:r>
          </a:p>
          <a:p>
            <a:pPr marL="1657350" lvl="3" indent="-285750">
              <a:buFont typeface="Wingdings" pitchFamily="2" charset="2"/>
              <a:buChar char="v"/>
            </a:pPr>
            <a:endParaRPr lang="ro-RO" b="1" smtClean="0">
              <a:latin typeface="Arial" panose="020B0604020202020204" pitchFamily="34" charset="0"/>
              <a:cs typeface="Arial" panose="020B0604020202020204" pitchFamily="34" charset="0"/>
            </a:endParaRPr>
          </a:p>
          <a:p>
            <a:pPr marL="1657350" lvl="3" indent="-285750">
              <a:buFont typeface="Wingdings" pitchFamily="2" charset="2"/>
              <a:buChar char="v"/>
            </a:pPr>
            <a:r>
              <a:rPr lang="ro-RO" b="1" smtClean="0">
                <a:latin typeface="Arial" panose="020B0604020202020204" pitchFamily="34" charset="0"/>
                <a:cs typeface="Arial" panose="020B0604020202020204" pitchFamily="34" charset="0"/>
              </a:rPr>
              <a:t>Consiliere/consultanţă</a:t>
            </a:r>
          </a:p>
          <a:p>
            <a:pPr marL="1657350" lvl="3" indent="-285750">
              <a:buFont typeface="Wingdings" pitchFamily="2" charset="2"/>
              <a:buChar char="v"/>
            </a:pPr>
            <a:endParaRPr lang="ro-RO" b="1" smtClean="0">
              <a:latin typeface="Arial" panose="020B0604020202020204" pitchFamily="34" charset="0"/>
              <a:cs typeface="Arial" panose="020B0604020202020204" pitchFamily="34" charset="0"/>
            </a:endParaRPr>
          </a:p>
          <a:p>
            <a:pPr marL="1657350" lvl="3" indent="-285750">
              <a:buFont typeface="Wingdings" pitchFamily="2" charset="2"/>
              <a:buChar char="v"/>
            </a:pPr>
            <a:r>
              <a:rPr lang="ro-RO" b="1" smtClean="0">
                <a:latin typeface="Arial" panose="020B0604020202020204" pitchFamily="34" charset="0"/>
                <a:cs typeface="Arial" panose="020B0604020202020204" pitchFamily="34" charset="0"/>
              </a:rPr>
              <a:t>Formare</a:t>
            </a:r>
          </a:p>
          <a:p>
            <a:pPr marL="1657350" lvl="3" indent="-285750">
              <a:buFont typeface="Wingdings" pitchFamily="2" charset="2"/>
              <a:buChar char="v"/>
            </a:pPr>
            <a:endParaRPr lang="ro-RO" b="1" smtClean="0">
              <a:latin typeface="Arial" panose="020B0604020202020204" pitchFamily="34" charset="0"/>
              <a:cs typeface="Arial" panose="020B0604020202020204" pitchFamily="34" charset="0"/>
            </a:endParaRPr>
          </a:p>
          <a:p>
            <a:pPr marL="1657350" lvl="3" indent="-285750">
              <a:buFont typeface="Wingdings" pitchFamily="2" charset="2"/>
              <a:buChar char="v"/>
            </a:pPr>
            <a:r>
              <a:rPr lang="ro-RO" b="1" smtClean="0">
                <a:latin typeface="Arial" panose="020B0604020202020204" pitchFamily="34" charset="0"/>
                <a:cs typeface="Arial" panose="020B0604020202020204" pitchFamily="34" charset="0"/>
              </a:rPr>
              <a:t>Monitorizare</a:t>
            </a:r>
          </a:p>
          <a:p>
            <a:pPr lvl="3"/>
            <a:r>
              <a:rPr lang="ro-RO" b="1" smtClean="0">
                <a:latin typeface="Arial" panose="020B0604020202020204" pitchFamily="34" charset="0"/>
                <a:cs typeface="Arial" panose="020B0604020202020204" pitchFamily="34" charset="0"/>
              </a:rPr>
              <a:t>	</a:t>
            </a:r>
          </a:p>
          <a:p>
            <a:pPr marL="1657350" lvl="3" indent="-285750">
              <a:buFont typeface="Wingdings" pitchFamily="2" charset="2"/>
              <a:buChar char="v"/>
            </a:pPr>
            <a:r>
              <a:rPr lang="ro-RO" b="1" smtClean="0">
                <a:latin typeface="Arial" panose="020B0604020202020204" pitchFamily="34" charset="0"/>
                <a:cs typeface="Arial" panose="020B0604020202020204" pitchFamily="34" charset="0"/>
              </a:rPr>
              <a:t>Evaluare</a:t>
            </a:r>
            <a:endParaRPr lang="ro-RO" b="1">
              <a:latin typeface="Arial" panose="020B0604020202020204" pitchFamily="34" charset="0"/>
              <a:cs typeface="Arial" panose="020B0604020202020204" pitchFamily="34" charset="0"/>
            </a:endParaRPr>
          </a:p>
        </p:txBody>
      </p:sp>
    </p:spTree>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600" y="132303"/>
            <a:ext cx="8172400" cy="5816977"/>
          </a:xfrm>
          <a:prstGeom prst="rect">
            <a:avLst/>
          </a:prstGeom>
          <a:noFill/>
        </p:spPr>
        <p:txBody>
          <a:bodyPr wrap="square" rtlCol="0">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a:t>
            </a:r>
            <a:r>
              <a:rPr lang="en-US" sz="2400" b="1" smtClean="0">
                <a:latin typeface="Arial" panose="020B0604020202020204" pitchFamily="34" charset="0"/>
                <a:cs typeface="Arial" panose="020B0604020202020204" pitchFamily="34" charset="0"/>
              </a:rPr>
              <a:t> </a:t>
            </a:r>
            <a:r>
              <a:rPr lang="ro-RO" sz="2400" b="1" smtClean="0">
                <a:latin typeface="Arial" panose="020B0604020202020204" pitchFamily="34" charset="0"/>
                <a:cs typeface="Arial" panose="020B0604020202020204" pitchFamily="34" charset="0"/>
              </a:rPr>
              <a:t>/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pPr algn="ctr"/>
            <a:endParaRPr lang="ro-RO" b="1">
              <a:latin typeface="Arial" panose="020B0604020202020204" pitchFamily="34" charset="0"/>
              <a:cs typeface="Arial" panose="020B0604020202020204" pitchFamily="34" charset="0"/>
            </a:endParaRPr>
          </a:p>
          <a:p>
            <a:pPr algn="ctr"/>
            <a:r>
              <a:rPr lang="en-US" b="1" smtClean="0">
                <a:latin typeface="Arial" panose="020B0604020202020204" pitchFamily="34" charset="0"/>
                <a:cs typeface="Arial" panose="020B0604020202020204" pitchFamily="34" charset="0"/>
              </a:rPr>
              <a:t>INFORMARE</a:t>
            </a:r>
            <a:endParaRPr lang="en-US" b="1">
              <a:latin typeface="Arial" panose="020B0604020202020204" pitchFamily="34" charset="0"/>
              <a:cs typeface="Arial" panose="020B0604020202020204" pitchFamily="34" charset="0"/>
            </a:endParaRPr>
          </a:p>
          <a:p>
            <a:pPr algn="ctr"/>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en-US" b="1">
                <a:latin typeface="Arial" panose="020B0604020202020204" pitchFamily="34" charset="0"/>
                <a:cs typeface="Arial" panose="020B0604020202020204" pitchFamily="34" charset="0"/>
              </a:rPr>
              <a:t>Se </a:t>
            </a:r>
            <a:r>
              <a:rPr lang="en-US" b="1" err="1">
                <a:latin typeface="Arial" panose="020B0604020202020204" pitchFamily="34" charset="0"/>
                <a:cs typeface="Arial" panose="020B0604020202020204" pitchFamily="34" charset="0"/>
              </a:rPr>
              <a:t>documentează</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privind</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legislaţia</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în</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vigoare</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referitoare</a:t>
            </a:r>
            <a:r>
              <a:rPr lang="en-US" b="1">
                <a:latin typeface="Arial" panose="020B0604020202020204" pitchFamily="34" charset="0"/>
                <a:cs typeface="Arial" panose="020B0604020202020204" pitchFamily="34" charset="0"/>
              </a:rPr>
              <a:t> la </a:t>
            </a:r>
            <a:r>
              <a:rPr lang="ro-RO" b="1" smtClean="0">
                <a:latin typeface="Arial" panose="020B0604020202020204" pitchFamily="34" charset="0"/>
                <a:cs typeface="Arial" panose="020B0604020202020204" pitchFamily="34" charset="0"/>
              </a:rPr>
              <a:t>perfecţionarea</a:t>
            </a:r>
            <a:r>
              <a:rPr lang="en-US" b="1" smtClean="0">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formarea continuă a personalului didactic din învăţământul </a:t>
            </a:r>
            <a:r>
              <a:rPr lang="ro-RO" b="1" smtClean="0">
                <a:latin typeface="Arial" panose="020B0604020202020204" pitchFamily="34" charset="0"/>
                <a:cs typeface="Arial" panose="020B0604020202020204" pitchFamily="34" charset="0"/>
              </a:rPr>
              <a:t>preuniversitar;</a:t>
            </a: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Accesibilizează </a:t>
            </a:r>
            <a:r>
              <a:rPr lang="ro-RO" b="1">
                <a:latin typeface="Arial" panose="020B0604020202020204" pitchFamily="34" charset="0"/>
                <a:cs typeface="Arial" panose="020B0604020202020204" pitchFamily="34" charset="0"/>
              </a:rPr>
              <a:t>şi facilitează accesul la informaţie pentru toate cadrele didactice din unitatea de </a:t>
            </a:r>
            <a:r>
              <a:rPr lang="ro-RO" b="1" smtClean="0">
                <a:latin typeface="Arial" panose="020B0604020202020204" pitchFamily="34" charset="0"/>
                <a:cs typeface="Arial" panose="020B0604020202020204" pitchFamily="34" charset="0"/>
              </a:rPr>
              <a:t>învăţământ;</a:t>
            </a: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Consultă </a:t>
            </a:r>
            <a:r>
              <a:rPr lang="en-US" b="1" smtClean="0">
                <a:latin typeface="Arial" panose="020B0604020202020204" pitchFamily="34" charset="0"/>
                <a:cs typeface="Arial" panose="020B0604020202020204" pitchFamily="34" charset="0"/>
              </a:rPr>
              <a:t>forum</a:t>
            </a:r>
            <a:r>
              <a:rPr lang="ro-RO" b="1" smtClean="0">
                <a:latin typeface="Arial" panose="020B0604020202020204" pitchFamily="34" charset="0"/>
                <a:cs typeface="Arial" panose="020B0604020202020204" pitchFamily="34" charset="0"/>
              </a:rPr>
              <a:t>ul I.S.J. (</a:t>
            </a:r>
            <a:r>
              <a:rPr lang="en-US" b="1" smtClean="0">
                <a:latin typeface="Arial" panose="020B0604020202020204" pitchFamily="34" charset="0"/>
                <a:cs typeface="Arial" panose="020B0604020202020204" pitchFamily="34" charset="0"/>
              </a:rPr>
              <a:t>rubrica</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inspectorului pentru </a:t>
            </a:r>
            <a:r>
              <a:rPr lang="ro-RO" b="1" smtClean="0">
                <a:latin typeface="Arial" panose="020B0604020202020204" pitchFamily="34" charset="0"/>
                <a:cs typeface="Arial" panose="020B0604020202020204" pitchFamily="34" charset="0"/>
              </a:rPr>
              <a:t>perfecţionare)</a:t>
            </a:r>
            <a:r>
              <a:rPr lang="en-US" b="1" smtClean="0">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şi </a:t>
            </a:r>
            <a:r>
              <a:rPr lang="en-US" b="1" smtClean="0">
                <a:latin typeface="Arial" panose="020B0604020202020204" pitchFamily="34" charset="0"/>
                <a:cs typeface="Arial" panose="020B0604020202020204" pitchFamily="34" charset="0"/>
              </a:rPr>
              <a:t>site-ul</a:t>
            </a:r>
            <a:r>
              <a:rPr lang="ro-RO" b="1" smtClean="0">
                <a:latin typeface="Arial" panose="020B0604020202020204" pitchFamily="34" charset="0"/>
                <a:cs typeface="Arial" panose="020B0604020202020204" pitchFamily="34" charset="0"/>
              </a:rPr>
              <a:t> C</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C</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D</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a:t>
            </a:r>
            <a:r>
              <a:rPr lang="en-US" b="1" smtClean="0">
                <a:latin typeface="Arial" panose="020B0604020202020204" pitchFamily="34" charset="0"/>
                <a:cs typeface="Arial" panose="020B0604020202020204" pitchFamily="34" charset="0"/>
              </a:rPr>
              <a:t>Hunedoara</a:t>
            </a:r>
            <a:r>
              <a:rPr lang="ro-RO" b="1" smtClean="0">
                <a:latin typeface="Arial" panose="020B0604020202020204" pitchFamily="34" charset="0"/>
                <a:cs typeface="Arial" panose="020B0604020202020204" pitchFamily="34" charset="0"/>
              </a:rPr>
              <a:t> și </a:t>
            </a:r>
            <a:r>
              <a:rPr lang="ro-RO" b="1">
                <a:latin typeface="Arial" panose="020B0604020202020204" pitchFamily="34" charset="0"/>
                <a:cs typeface="Arial" panose="020B0604020202020204" pitchFamily="34" charset="0"/>
              </a:rPr>
              <a:t>informează personalul </a:t>
            </a:r>
            <a:r>
              <a:rPr lang="ro-RO" b="1" smtClean="0">
                <a:latin typeface="Arial" panose="020B0604020202020204" pitchFamily="34" charset="0"/>
                <a:cs typeface="Arial" panose="020B0604020202020204" pitchFamily="34" charset="0"/>
              </a:rPr>
              <a:t>din </a:t>
            </a:r>
            <a:r>
              <a:rPr lang="ro-RO" b="1">
                <a:latin typeface="Arial" panose="020B0604020202020204" pitchFamily="34" charset="0"/>
                <a:cs typeface="Arial" panose="020B0604020202020204" pitchFamily="34" charset="0"/>
              </a:rPr>
              <a:t>şcoală cu privire la noutăţile </a:t>
            </a:r>
            <a:r>
              <a:rPr lang="ro-RO" b="1" smtClean="0">
                <a:latin typeface="Arial" panose="020B0604020202020204" pitchFamily="34" charset="0"/>
                <a:cs typeface="Arial" panose="020B0604020202020204" pitchFamily="34" charset="0"/>
              </a:rPr>
              <a:t>apărute;</a:t>
            </a: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Recomandă consult</a:t>
            </a:r>
            <a:r>
              <a:rPr lang="en-US" b="1" smtClean="0">
                <a:latin typeface="Arial" panose="020B0604020202020204" pitchFamily="34" charset="0"/>
                <a:cs typeface="Arial" panose="020B0604020202020204" pitchFamily="34" charset="0"/>
              </a:rPr>
              <a:t>a</a:t>
            </a:r>
            <a:r>
              <a:rPr lang="ro-RO" b="1" smtClean="0">
                <a:latin typeface="Arial" panose="020B0604020202020204" pitchFamily="34" charset="0"/>
                <a:cs typeface="Arial" panose="020B0604020202020204" pitchFamily="34" charset="0"/>
              </a:rPr>
              <a:t>r</a:t>
            </a:r>
            <a:r>
              <a:rPr lang="en-US" b="1" smtClean="0">
                <a:latin typeface="Arial" panose="020B0604020202020204" pitchFamily="34" charset="0"/>
                <a:cs typeface="Arial" panose="020B0604020202020204" pitchFamily="34" charset="0"/>
              </a:rPr>
              <a:t>ea</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site-ului de către toate cadrele </a:t>
            </a:r>
            <a:r>
              <a:rPr lang="ro-RO" b="1" smtClean="0">
                <a:latin typeface="Arial" panose="020B0604020202020204" pitchFamily="34" charset="0"/>
                <a:cs typeface="Arial" panose="020B0604020202020204" pitchFamily="34" charset="0"/>
              </a:rPr>
              <a:t>didactice;</a:t>
            </a: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Diseminează </a:t>
            </a:r>
            <a:r>
              <a:rPr lang="ro-RO" b="1">
                <a:latin typeface="Arial" panose="020B0604020202020204" pitchFamily="34" charset="0"/>
                <a:cs typeface="Arial" panose="020B0604020202020204" pitchFamily="34" charset="0"/>
              </a:rPr>
              <a:t>toate informaţiile </a:t>
            </a:r>
            <a:r>
              <a:rPr lang="ro-RO" b="1" smtClean="0">
                <a:latin typeface="Arial" panose="020B0604020202020204" pitchFamily="34" charset="0"/>
                <a:cs typeface="Arial" panose="020B0604020202020204" pitchFamily="34" charset="0"/>
              </a:rPr>
              <a:t>referitoare </a:t>
            </a:r>
            <a:r>
              <a:rPr lang="ro-RO" b="1">
                <a:latin typeface="Arial" panose="020B0604020202020204" pitchFamily="34" charset="0"/>
                <a:cs typeface="Arial" panose="020B0604020202020204" pitchFamily="34" charset="0"/>
              </a:rPr>
              <a:t>la </a:t>
            </a:r>
            <a:r>
              <a:rPr lang="ro-RO" b="1" smtClean="0">
                <a:latin typeface="Arial" panose="020B0604020202020204" pitchFamily="34" charset="0"/>
                <a:cs typeface="Arial" panose="020B0604020202020204" pitchFamily="34" charset="0"/>
              </a:rPr>
              <a:t>perfecţionarea</a:t>
            </a:r>
            <a:r>
              <a:rPr lang="en-US" b="1" smtClean="0">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formarea continuă a personalului </a:t>
            </a:r>
            <a:r>
              <a:rPr lang="ro-RO" b="1" smtClean="0">
                <a:latin typeface="Arial" panose="020B0604020202020204" pitchFamily="34" charset="0"/>
                <a:cs typeface="Arial" panose="020B0604020202020204" pitchFamily="34" charset="0"/>
              </a:rPr>
              <a:t>din sistem;</a:t>
            </a:r>
            <a:endParaRPr lang="en-US" b="1">
              <a:latin typeface="Arial" panose="020B0604020202020204" pitchFamily="34" charset="0"/>
              <a:cs typeface="Arial" panose="020B0604020202020204" pitchFamily="34" charset="0"/>
            </a:endParaRPr>
          </a:p>
          <a:p>
            <a:pPr marL="285750" indent="-285750">
              <a:buFont typeface="Wingdings" pitchFamily="2" charset="2"/>
              <a:buChar char="Ø"/>
            </a:pPr>
            <a:r>
              <a:rPr lang="ro-RO" b="1">
                <a:latin typeface="Arial" panose="020B0604020202020204" pitchFamily="34" charset="0"/>
                <a:cs typeface="Arial" panose="020B0604020202020204" pitchFamily="34" charset="0"/>
              </a:rPr>
              <a:t>Organizează la nivelul unităţii de învăţământ un punct de informare unde se v</a:t>
            </a:r>
            <a:r>
              <a:rPr lang="en-US" b="1">
                <a:latin typeface="Arial" panose="020B0604020202020204" pitchFamily="34" charset="0"/>
                <a:cs typeface="Arial" panose="020B0604020202020204" pitchFamily="34" charset="0"/>
              </a:rPr>
              <a:t>or</a:t>
            </a:r>
            <a:r>
              <a:rPr lang="ro-RO" b="1">
                <a:latin typeface="Arial" panose="020B0604020202020204" pitchFamily="34" charset="0"/>
                <a:cs typeface="Arial" panose="020B0604020202020204" pitchFamily="34" charset="0"/>
              </a:rPr>
              <a:t> găsi</a:t>
            </a:r>
            <a:r>
              <a:rPr lang="en-US" b="1">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toate documentele  referitoare la perfecţionarea</a:t>
            </a:r>
            <a:r>
              <a:rPr lang="en-US" b="1">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 formarea continuă</a:t>
            </a:r>
            <a:r>
              <a:rPr lang="en-US" b="1" smtClean="0">
                <a:latin typeface="Arial" panose="020B0604020202020204" pitchFamily="34" charset="0"/>
                <a:cs typeface="Arial" panose="020B0604020202020204" pitchFamily="34" charset="0"/>
              </a:rPr>
              <a:t>.</a:t>
            </a:r>
            <a:endParaRPr lang="ro-RO" b="1">
              <a:latin typeface="Arial" panose="020B0604020202020204" pitchFamily="34" charset="0"/>
              <a:cs typeface="Arial" panose="020B0604020202020204" pitchFamily="34" charset="0"/>
            </a:endParaRPr>
          </a:p>
        </p:txBody>
      </p:sp>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20880" cy="4431983"/>
          </a:xfrm>
          <a:prstGeom prst="rect">
            <a:avLst/>
          </a:prstGeom>
        </p:spPr>
        <p:txBody>
          <a:bodyPr wrap="square">
            <a:spAutoFit/>
          </a:bodyPr>
          <a:lstStyle/>
          <a:p>
            <a:pPr lvl="0"/>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a:t>
            </a:r>
            <a:r>
              <a:rPr lang="en-US" sz="2400" b="1" smtClean="0">
                <a:latin typeface="Arial" panose="020B0604020202020204" pitchFamily="34" charset="0"/>
                <a:cs typeface="Arial" panose="020B0604020202020204" pitchFamily="34" charset="0"/>
              </a:rPr>
              <a:t> </a:t>
            </a:r>
            <a:r>
              <a:rPr lang="ro-RO" sz="2400" b="1" smtClean="0">
                <a:latin typeface="Arial" panose="020B0604020202020204" pitchFamily="34" charset="0"/>
                <a:cs typeface="Arial" panose="020B0604020202020204" pitchFamily="34" charset="0"/>
              </a:rPr>
              <a:t>/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z="2400" b="1">
              <a:latin typeface="Arial" panose="020B0604020202020204" pitchFamily="34" charset="0"/>
              <a:cs typeface="Arial" panose="020B0604020202020204" pitchFamily="34" charset="0"/>
            </a:endParaRPr>
          </a:p>
          <a:p>
            <a:pPr algn="ctr"/>
            <a:endParaRPr lang="ro-RO" b="1">
              <a:latin typeface="Arial" panose="020B0604020202020204" pitchFamily="34" charset="0"/>
              <a:cs typeface="Arial" panose="020B0604020202020204" pitchFamily="34" charset="0"/>
            </a:endParaRPr>
          </a:p>
          <a:p>
            <a:pPr algn="ctr"/>
            <a:r>
              <a:rPr lang="en-US" b="1" smtClean="0">
                <a:latin typeface="Arial" panose="020B0604020202020204" pitchFamily="34" charset="0"/>
                <a:cs typeface="Arial" panose="020B0604020202020204" pitchFamily="34" charset="0"/>
              </a:rPr>
              <a:t>INFORMARE</a:t>
            </a:r>
            <a:endParaRPr lang="ro-RO" b="1">
              <a:latin typeface="Arial" panose="020B0604020202020204" pitchFamily="34" charset="0"/>
              <a:cs typeface="Arial" panose="020B0604020202020204" pitchFamily="34" charset="0"/>
            </a:endParaRPr>
          </a:p>
          <a:p>
            <a:pPr lvl="0"/>
            <a:endParaRPr lang="ro-RO" b="1">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en-US" b="1" smtClean="0">
                <a:latin typeface="Arial" panose="020B0604020202020204" pitchFamily="34" charset="0"/>
                <a:cs typeface="Arial" panose="020B0604020202020204" pitchFamily="34" charset="0"/>
              </a:rPr>
              <a:t>Prezint</a:t>
            </a:r>
            <a:r>
              <a:rPr lang="ro-RO" b="1" smtClean="0">
                <a:latin typeface="Arial" panose="020B0604020202020204" pitchFamily="34" charset="0"/>
                <a:cs typeface="Arial" panose="020B0604020202020204" pitchFamily="34" charset="0"/>
              </a:rPr>
              <a:t>ă </a:t>
            </a:r>
            <a:r>
              <a:rPr lang="ro-RO" b="1">
                <a:latin typeface="Arial" panose="020B0604020202020204" pitchFamily="34" charset="0"/>
                <a:cs typeface="Arial" panose="020B0604020202020204" pitchFamily="34" charset="0"/>
              </a:rPr>
              <a:t>informări asupra activităţilor de </a:t>
            </a:r>
            <a:r>
              <a:rPr lang="ro-RO" b="1" smtClean="0">
                <a:latin typeface="Arial" panose="020B0604020202020204" pitchFamily="34" charset="0"/>
                <a:cs typeface="Arial" panose="020B0604020202020204" pitchFamily="34" charset="0"/>
              </a:rPr>
              <a:t>perfecţionare</a:t>
            </a:r>
            <a:r>
              <a:rPr lang="en-US" b="1" smtClean="0">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formare continuă a cadrelor didactice în cadrul Consiliului Profesoral şi a Consiliului de Administraţie din </a:t>
            </a:r>
            <a:r>
              <a:rPr lang="ro-RO" b="1" smtClean="0">
                <a:latin typeface="Arial" panose="020B0604020202020204" pitchFamily="34" charset="0"/>
                <a:cs typeface="Arial" panose="020B0604020202020204" pitchFamily="34" charset="0"/>
              </a:rPr>
              <a:t>şcoală;</a:t>
            </a:r>
          </a:p>
          <a:p>
            <a:pPr lvl="0"/>
            <a:endParaRPr lang="ro-RO" b="1" smtClean="0">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Întocmeşte </a:t>
            </a:r>
            <a:r>
              <a:rPr lang="ro-RO" b="1">
                <a:latin typeface="Arial" panose="020B0604020202020204" pitchFamily="34" charset="0"/>
                <a:cs typeface="Arial" panose="020B0604020202020204" pitchFamily="34" charset="0"/>
              </a:rPr>
              <a:t>rapoarte referitoare la domeniul de responsabilitate către inspectorul şcolar pentru dezvoltarea resursei umane din cadrul </a:t>
            </a:r>
            <a:r>
              <a:rPr lang="ro-RO" b="1" smtClean="0">
                <a:latin typeface="Arial" panose="020B0604020202020204" pitchFamily="34" charset="0"/>
                <a:cs typeface="Arial" panose="020B0604020202020204" pitchFamily="34" charset="0"/>
              </a:rPr>
              <a:t>I</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Ş</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J</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şi echipa managerială </a:t>
            </a:r>
            <a:r>
              <a:rPr lang="ro-RO" b="1" smtClean="0">
                <a:latin typeface="Arial" panose="020B0604020202020204" pitchFamily="34" charset="0"/>
                <a:cs typeface="Arial" panose="020B0604020202020204" pitchFamily="34" charset="0"/>
              </a:rPr>
              <a:t>a școlii, </a:t>
            </a:r>
            <a:r>
              <a:rPr lang="ro-RO" b="1">
                <a:latin typeface="Arial" panose="020B0604020202020204" pitchFamily="34" charset="0"/>
                <a:cs typeface="Arial" panose="020B0604020202020204" pitchFamily="34" charset="0"/>
              </a:rPr>
              <a:t>spre informarea acestora privind activitatea de perfecţionare/ formarea continuă a cadrelor didactice din unitatea de învăţământ</a:t>
            </a:r>
            <a:r>
              <a:rPr lang="ro-RO" b="1"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858996340"/>
      </p:ext>
    </p:extLst>
  </p:cSld>
  <p:clrMapOvr>
    <a:masterClrMapping/>
  </p:clrMapOvr>
  <p:transition spd="slow">
    <p:rand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1020341" y="93394"/>
            <a:ext cx="7992888" cy="66479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ctr" fontAlgn="base">
              <a:spcBef>
                <a:spcPct val="0"/>
              </a:spcBef>
              <a:spcAft>
                <a:spcPct val="0"/>
              </a:spcAft>
            </a:pPr>
            <a:endParaRPr lang="ro-RO" b="1" smtClean="0">
              <a:latin typeface="Arial" panose="020B0604020202020204" pitchFamily="34" charset="0"/>
              <a:cs typeface="Arial" panose="020B0604020202020204" pitchFamily="34" charset="0"/>
            </a:endParaRPr>
          </a:p>
          <a:p>
            <a:pPr algn="ctr" fontAlgn="base">
              <a:spcBef>
                <a:spcPct val="0"/>
              </a:spcBef>
              <a:spcAft>
                <a:spcPct val="0"/>
              </a:spcAft>
            </a:pP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pPr algn="ctr" fontAlgn="base">
              <a:spcBef>
                <a:spcPct val="0"/>
              </a:spcBef>
              <a:spcAft>
                <a:spcPct val="0"/>
              </a:spcAft>
            </a:pPr>
            <a:endParaRPr lang="ro-RO" b="1">
              <a:latin typeface="Arial" panose="020B0604020202020204" pitchFamily="34" charset="0"/>
              <a:ea typeface="Times New Roman"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US"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ORGANIZARE</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a:t>
            </a:r>
            <a:r>
              <a:rPr kumimoji="0" lang="en-US"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COORDONARE</a:t>
            </a:r>
            <a:endPar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endParaRPr kumimoji="0" lang="ro-RO" b="0" i="0" u="none" strike="noStrike" cap="none" normalizeH="0" baseline="0" smtClean="0">
              <a:ln>
                <a:noFill/>
              </a:ln>
              <a:effectLst/>
              <a:latin typeface="Arial" panose="020B0604020202020204" pitchFamily="34" charset="0"/>
              <a:cs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itchFamily="2" charset="2"/>
              <a:buChar char="Ø"/>
              <a:tabLst/>
            </a:pP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Alcătuieşte baza de date privind: situaţia perfecţionării prin grade didactice, masterat, doctorat; perfecţionarea o dată la 5 ani (cu respectarea metodologiei de formare continuă)</a:t>
            </a:r>
            <a:r>
              <a:rPr kumimoji="0" lang="ro-RO" b="1" i="0" u="none" strike="noStrike" cap="none" normalizeH="0" smtClean="0">
                <a:ln>
                  <a:noFill/>
                </a:ln>
                <a:effectLst/>
                <a:latin typeface="Arial" panose="020B0604020202020204" pitchFamily="34" charset="0"/>
                <a:ea typeface="Times New Roman" pitchFamily="18" charset="0"/>
                <a:cs typeface="Arial" panose="020B0604020202020204" pitchFamily="34" charset="0"/>
              </a:rPr>
              <a:t> și</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participarea la cursuri de formare continuă a cadrelor didactice din unitatea de învăţământ;</a:t>
            </a:r>
          </a:p>
          <a:p>
            <a:pPr marL="285750" marR="0" lvl="0" indent="-285750" algn="l" defTabSz="914400" rtl="0" eaLnBrk="0" fontAlgn="base" latinLnBrk="0" hangingPunct="0">
              <a:lnSpc>
                <a:spcPct val="100000"/>
              </a:lnSpc>
              <a:spcBef>
                <a:spcPct val="0"/>
              </a:spcBef>
              <a:spcAft>
                <a:spcPct val="0"/>
              </a:spcAft>
              <a:buClrTx/>
              <a:buSzTx/>
              <a:buFont typeface="Wingdings" pitchFamily="2" charset="2"/>
              <a:buChar char="Ø"/>
              <a:tabLst/>
            </a:pPr>
            <a:endPar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endParaRPr>
          </a:p>
          <a:p>
            <a:pPr marL="285750" lvl="0" indent="-285750" algn="just" eaLnBrk="0" fontAlgn="base" hangingPunct="0">
              <a:spcBef>
                <a:spcPct val="0"/>
              </a:spcBef>
              <a:spcAft>
                <a:spcPct val="0"/>
              </a:spcAft>
              <a:buFont typeface="Wingdings" pitchFamily="2" charset="2"/>
              <a:buChar char="Ø"/>
            </a:pP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Organizează şi coordonează participarea personalului didactic din unitatea de învăţământ la activităţile  de formare continuă organizate  la diferite niveluri (I. S.J., C.C.D., universităţi, colegii etc.),  în conformitate  cu </a:t>
            </a:r>
            <a:r>
              <a:rPr lang="ro-RO" b="1" smtClean="0">
                <a:latin typeface="Arial" panose="020B0604020202020204" pitchFamily="34" charset="0"/>
                <a:ea typeface="Times New Roman" pitchFamily="18" charset="0"/>
                <a:cs typeface="Arial" panose="020B0604020202020204" pitchFamily="34" charset="0"/>
              </a:rPr>
              <a:t>prevederile</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t>
            </a:r>
          </a:p>
          <a:p>
            <a:pPr marL="742950" lvl="1" indent="-285750" eaLnBrk="0" fontAlgn="base" hangingPunct="0">
              <a:spcBef>
                <a:spcPct val="0"/>
              </a:spcBef>
              <a:spcAft>
                <a:spcPct val="0"/>
              </a:spcAft>
              <a:buFont typeface="Arial" pitchFamily="34" charset="0"/>
              <a:buChar char="•"/>
            </a:pP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Legii  Educaţiei  Naţionale (</a:t>
            </a:r>
            <a:r>
              <a:rPr lang="ro-RO" b="1" smtClean="0">
                <a:latin typeface="Arial" panose="020B0604020202020204" pitchFamily="34" charset="0"/>
                <a:ea typeface="Times New Roman" pitchFamily="18" charset="0"/>
                <a:cs typeface="Arial" panose="020B0604020202020204" pitchFamily="34" charset="0"/>
              </a:rPr>
              <a:t>Legea nr. 1/ 2011);</a:t>
            </a:r>
            <a:endPar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endParaRPr>
          </a:p>
          <a:p>
            <a:pPr marL="742950" lvl="1" indent="-285750" eaLnBrk="0" fontAlgn="base" hangingPunct="0">
              <a:spcBef>
                <a:spcPct val="0"/>
              </a:spcBef>
              <a:spcAft>
                <a:spcPct val="0"/>
              </a:spcAft>
              <a:buFont typeface="Arial" pitchFamily="34" charset="0"/>
              <a:buChar char="•"/>
            </a:pP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Metodologiei   formării   continue   a  personalului didactic din învăţământul </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pr</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euniversitar  </a:t>
            </a:r>
            <a:r>
              <a:rPr lang="ro-RO" b="1">
                <a:latin typeface="Arial" panose="020B0604020202020204" pitchFamily="34" charset="0"/>
                <a:ea typeface="Times New Roman" pitchFamily="18" charset="0"/>
                <a:cs typeface="Arial" panose="020B0604020202020204" pitchFamily="34" charset="0"/>
              </a:rPr>
              <a:t>(</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OM</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ECTS</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nr.5</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561</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20</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1</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1</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a:t>
            </a:r>
            <a:endPar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endParaRPr>
          </a:p>
          <a:p>
            <a:pPr marL="742950" lvl="1" indent="-285750" eaLnBrk="0" fontAlgn="base" hangingPunct="0">
              <a:spcBef>
                <a:spcPct val="0"/>
              </a:spcBef>
              <a:spcAft>
                <a:spcPct val="0"/>
              </a:spcAft>
              <a:buFont typeface="Arial" pitchFamily="34" charset="0"/>
              <a:buChar char="•"/>
            </a:pP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Calendarului perfecţionării  prin  grade  didactice  ME</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N</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pentru anul şcolar în curs</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t>
            </a:r>
          </a:p>
          <a:p>
            <a:pPr marL="742950" lvl="1" indent="-285750" eaLnBrk="0" fontAlgn="base" hangingPunct="0">
              <a:spcBef>
                <a:spcPct val="0"/>
              </a:spcBef>
              <a:spcAft>
                <a:spcPct val="0"/>
              </a:spcAft>
              <a:buFont typeface="Arial" pitchFamily="34" charset="0"/>
              <a:buChar char="•"/>
            </a:pPr>
            <a:r>
              <a:rPr lang="ro-RO" b="1">
                <a:latin typeface="Arial" panose="020B0604020202020204" pitchFamily="34" charset="0"/>
                <a:ea typeface="Times New Roman" pitchFamily="18" charset="0"/>
                <a:cs typeface="Arial" panose="020B0604020202020204" pitchFamily="34" charset="0"/>
              </a:rPr>
              <a:t>C</a:t>
            </a:r>
            <a:r>
              <a:rPr kumimoji="0" lang="it-IT"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alendarului  activităţilor  pentru  fiecare  tip  de  grad  didactic elaborat la nivelul</a:t>
            </a:r>
            <a:r>
              <a:rPr kumimoji="0" lang="ro-RO" b="1" i="0" u="none" strike="noStrike" cap="none" normalizeH="0" baseline="0" smtClean="0">
                <a:ln>
                  <a:noFill/>
                </a:ln>
                <a:effectLst/>
                <a:latin typeface="Arial" panose="020B0604020202020204" pitchFamily="34" charset="0"/>
                <a:ea typeface="Times New Roman" pitchFamily="18" charset="0"/>
                <a:cs typeface="Arial" panose="020B0604020202020204" pitchFamily="34" charset="0"/>
              </a:rPr>
              <a:t> ISJ.</a:t>
            </a:r>
            <a:endParaRPr kumimoji="0" lang="it-IT" b="0" i="0" u="none" strike="noStrike" cap="none" normalizeH="0" baseline="0" smtClean="0">
              <a:ln>
                <a:noFill/>
              </a:ln>
              <a:effectLst/>
              <a:latin typeface="Arial" pitchFamily="34" charset="0"/>
              <a:cs typeface="Arial" pitchFamily="34" charset="0"/>
            </a:endParaRPr>
          </a:p>
        </p:txBody>
      </p:sp>
    </p:spTree>
    <p:extLst>
      <p:ext uri="{BB962C8B-B14F-4D97-AF65-F5344CB8AC3E}">
        <p14:creationId xmlns="" xmlns:p14="http://schemas.microsoft.com/office/powerpoint/2010/main" val="2332852331"/>
      </p:ext>
    </p:extLst>
  </p:cSld>
  <p:clrMapOvr>
    <a:masterClrMapping/>
  </p:clrMapOvr>
  <p:transition spd="slow">
    <p:rand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3698" y="44624"/>
            <a:ext cx="7920880" cy="6093976"/>
          </a:xfrm>
          <a:prstGeom prst="rect">
            <a:avLst/>
          </a:prstGeom>
        </p:spPr>
        <p:txBody>
          <a:bodyPr wrap="square">
            <a:spAutoFit/>
          </a:bodyPr>
          <a:lstStyle/>
          <a:p>
            <a:pPr algn="ctr" fontAlgn="base">
              <a:spcBef>
                <a:spcPct val="0"/>
              </a:spcBef>
              <a:spcAft>
                <a:spcPct val="0"/>
              </a:spcAft>
            </a:pPr>
            <a:endParaRPr lang="ro-RO" b="1" smtClean="0">
              <a:latin typeface="Arial" panose="020B0604020202020204" pitchFamily="34" charset="0"/>
              <a:cs typeface="Arial" panose="020B0604020202020204" pitchFamily="34" charset="0"/>
            </a:endParaRPr>
          </a:p>
          <a:p>
            <a:pPr algn="ctr" fontAlgn="base">
              <a:spcBef>
                <a:spcPct val="0"/>
              </a:spcBef>
              <a:spcAft>
                <a:spcPct val="0"/>
              </a:spcAft>
            </a:pP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pPr algn="ctr" fontAlgn="base">
              <a:spcBef>
                <a:spcPct val="0"/>
              </a:spcBef>
              <a:spcAft>
                <a:spcPct val="0"/>
              </a:spcAft>
            </a:pPr>
            <a:endParaRPr lang="ro-RO" b="1">
              <a:latin typeface="Arial" panose="020B0604020202020204" pitchFamily="34" charset="0"/>
              <a:ea typeface="Times New Roman" pitchFamily="18" charset="0"/>
              <a:cs typeface="Arial" panose="020B0604020202020204" pitchFamily="34" charset="0"/>
            </a:endParaRPr>
          </a:p>
          <a:p>
            <a:pPr lvl="0" algn="ctr" fontAlgn="base">
              <a:spcBef>
                <a:spcPct val="0"/>
              </a:spcBef>
              <a:spcAft>
                <a:spcPct val="0"/>
              </a:spcAft>
            </a:pPr>
            <a:r>
              <a:rPr lang="en-US" b="1" smtClean="0">
                <a:latin typeface="Arial" panose="020B0604020202020204" pitchFamily="34" charset="0"/>
                <a:ea typeface="Times New Roman" pitchFamily="18" charset="0"/>
                <a:cs typeface="Arial" panose="020B0604020202020204" pitchFamily="34" charset="0"/>
              </a:rPr>
              <a:t>ORGANIZARE</a:t>
            </a:r>
            <a:r>
              <a:rPr lang="ro-RO" b="1" smtClean="0">
                <a:latin typeface="Arial" panose="020B0604020202020204" pitchFamily="34" charset="0"/>
                <a:ea typeface="Times New Roman" pitchFamily="18" charset="0"/>
                <a:cs typeface="Arial" panose="020B0604020202020204" pitchFamily="34" charset="0"/>
              </a:rPr>
              <a:t> </a:t>
            </a:r>
            <a:r>
              <a:rPr lang="en-US" b="1" smtClean="0">
                <a:latin typeface="Arial" panose="020B0604020202020204" pitchFamily="34" charset="0"/>
                <a:ea typeface="Times New Roman" pitchFamily="18" charset="0"/>
                <a:cs typeface="Arial" panose="020B0604020202020204" pitchFamily="34" charset="0"/>
              </a:rPr>
              <a:t>/ COORDONARE</a:t>
            </a:r>
            <a:endParaRPr lang="ro-RO" b="1" smtClean="0">
              <a:latin typeface="Arial" panose="020B0604020202020204" pitchFamily="34" charset="0"/>
              <a:ea typeface="Times New Roman" pitchFamily="18" charset="0"/>
              <a:cs typeface="Arial" panose="020B0604020202020204" pitchFamily="34" charset="0"/>
            </a:endParaRPr>
          </a:p>
          <a:p>
            <a:pPr lvl="0" fontAlgn="base">
              <a:spcBef>
                <a:spcPct val="0"/>
              </a:spcBef>
              <a:spcAft>
                <a:spcPct val="0"/>
              </a:spcAft>
            </a:pPr>
            <a:endParaRPr lang="ro-RO" b="1">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a:latin typeface="Arial" panose="020B0604020202020204" pitchFamily="34" charset="0"/>
                <a:cs typeface="Arial" panose="020B0604020202020204" pitchFamily="34" charset="0"/>
              </a:rPr>
              <a:t>Întocmeşte pentru fiecare cadru </a:t>
            </a:r>
            <a:r>
              <a:rPr lang="ro-RO" b="1" smtClean="0">
                <a:latin typeface="Arial" panose="020B0604020202020204" pitchFamily="34" charset="0"/>
                <a:cs typeface="Arial" panose="020B0604020202020204" pitchFamily="34" charset="0"/>
              </a:rPr>
              <a:t>didactic, o </a:t>
            </a:r>
            <a:r>
              <a:rPr lang="ro-RO" b="1">
                <a:latin typeface="Arial" panose="020B0604020202020204" pitchFamily="34" charset="0"/>
                <a:cs typeface="Arial" panose="020B0604020202020204" pitchFamily="34" charset="0"/>
              </a:rPr>
              <a:t>Fişă individuală de formare </a:t>
            </a:r>
            <a:r>
              <a:rPr lang="ro-RO" b="1" smtClean="0">
                <a:latin typeface="Arial" panose="020B0604020202020204" pitchFamily="34" charset="0"/>
                <a:cs typeface="Arial" panose="020B0604020202020204" pitchFamily="34" charset="0"/>
              </a:rPr>
              <a:t>continuă, </a:t>
            </a:r>
            <a:r>
              <a:rPr lang="ro-RO" b="1">
                <a:latin typeface="Arial" panose="020B0604020202020204" pitchFamily="34" charset="0"/>
                <a:cs typeface="Arial" panose="020B0604020202020204" pitchFamily="34" charset="0"/>
              </a:rPr>
              <a:t>fişă care va fi actualizată permanent şi va </a:t>
            </a:r>
            <a:r>
              <a:rPr lang="ro-RO" b="1" smtClean="0">
                <a:latin typeface="Arial" panose="020B0604020202020204" pitchFamily="34" charset="0"/>
                <a:cs typeface="Arial" panose="020B0604020202020204" pitchFamily="34" charset="0"/>
              </a:rPr>
              <a:t>fi inclusă </a:t>
            </a:r>
            <a:r>
              <a:rPr lang="ro-RO" b="1">
                <a:latin typeface="Arial" panose="020B0604020202020204" pitchFamily="34" charset="0"/>
                <a:cs typeface="Arial" panose="020B0604020202020204" pitchFamily="34" charset="0"/>
              </a:rPr>
              <a:t>în dosarul Comisiei pentru perfecţionare/ formare continuă a </a:t>
            </a:r>
            <a:r>
              <a:rPr lang="ro-RO" b="1" smtClean="0">
                <a:latin typeface="Arial" panose="020B0604020202020204" pitchFamily="34" charset="0"/>
                <a:cs typeface="Arial" panose="020B0604020202020204" pitchFamily="34" charset="0"/>
              </a:rPr>
              <a:t>cadrelor </a:t>
            </a:r>
            <a:r>
              <a:rPr lang="ro-RO" b="1">
                <a:latin typeface="Arial" panose="020B0604020202020204" pitchFamily="34" charset="0"/>
                <a:cs typeface="Arial" panose="020B0604020202020204" pitchFamily="34" charset="0"/>
              </a:rPr>
              <a:t>didactice, stabilită la nivelul </a:t>
            </a:r>
            <a:r>
              <a:rPr lang="ro-RO" b="1" smtClean="0">
                <a:latin typeface="Arial" panose="020B0604020202020204" pitchFamily="34" charset="0"/>
                <a:cs typeface="Arial" panose="020B0604020202020204" pitchFamily="34" charset="0"/>
              </a:rPr>
              <a:t>şcolii;</a:t>
            </a:r>
          </a:p>
          <a:p>
            <a:pPr lvl="0"/>
            <a:endParaRPr lang="ro-RO" b="1" smtClean="0">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Organizează </a:t>
            </a:r>
            <a:r>
              <a:rPr lang="ro-RO" b="1">
                <a:latin typeface="Arial" panose="020B0604020202020204" pitchFamily="34" charset="0"/>
                <a:cs typeface="Arial" panose="020B0604020202020204" pitchFamily="34" charset="0"/>
              </a:rPr>
              <a:t>şi conduce reuniuni/ateliere de lucru/lecţii/activităţi demonstrative pe teme profesionale în cadrul catedrelor/comisiilor metodice </a:t>
            </a:r>
            <a:r>
              <a:rPr lang="ro-RO" b="1" smtClean="0">
                <a:latin typeface="Arial" panose="020B0604020202020204" pitchFamily="34" charset="0"/>
                <a:cs typeface="Arial" panose="020B0604020202020204" pitchFamily="34" charset="0"/>
              </a:rPr>
              <a:t>etc.;</a:t>
            </a:r>
          </a:p>
          <a:p>
            <a:pPr lvl="0"/>
            <a:endParaRPr lang="ro-RO" b="1" smtClean="0">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Organizează </a:t>
            </a:r>
            <a:r>
              <a:rPr lang="ro-RO" b="1">
                <a:latin typeface="Arial" panose="020B0604020202020204" pitchFamily="34" charset="0"/>
                <a:cs typeface="Arial" panose="020B0604020202020204" pitchFamily="34" charset="0"/>
              </a:rPr>
              <a:t>şi coordonează activităţi de diseminare a cunoştinţelor, metodelor şi practicilor pedagogice dobândite de profesori prin participarea la stagii de formare continuă, burse de studiu în ţară şi străinătate (aceste activităţi vor fi consemnate şi în rapoartele realizate periodic la solicitarea Inspectoratului Şcolar Judeţean sau echipei manageriale din </a:t>
            </a:r>
            <a:r>
              <a:rPr lang="ro-RO" b="1" smtClean="0">
                <a:latin typeface="Arial" panose="020B0604020202020204" pitchFamily="34" charset="0"/>
                <a:cs typeface="Arial" panose="020B0604020202020204" pitchFamily="34" charset="0"/>
              </a:rPr>
              <a:t>şcoală);</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505783818"/>
      </p:ext>
    </p:extLst>
  </p:cSld>
  <p:clrMapOvr>
    <a:masterClrMapping/>
  </p:clrMapOvr>
  <p:transition spd="slow">
    <p:rand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4985980"/>
          </a:xfrm>
          <a:prstGeom prst="rect">
            <a:avLst/>
          </a:prstGeom>
        </p:spPr>
        <p:txBody>
          <a:bodyPr wrap="square">
            <a:spAutoFit/>
          </a:bodyPr>
          <a:lstStyle/>
          <a:p>
            <a:pPr algn="ctr" fontAlgn="base">
              <a:spcBef>
                <a:spcPct val="0"/>
              </a:spcBef>
              <a:spcAft>
                <a:spcPct val="0"/>
              </a:spcAft>
            </a:pPr>
            <a:endParaRPr lang="ro-RO" b="1" smtClean="0">
              <a:latin typeface="Arial" panose="020B0604020202020204" pitchFamily="34" charset="0"/>
              <a:cs typeface="Arial" panose="020B0604020202020204" pitchFamily="34" charset="0"/>
            </a:endParaRPr>
          </a:p>
          <a:p>
            <a:pPr algn="ctr" fontAlgn="base">
              <a:spcBef>
                <a:spcPct val="0"/>
              </a:spcBef>
              <a:spcAft>
                <a:spcPct val="0"/>
              </a:spcAft>
            </a:pP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pPr algn="ctr" fontAlgn="base">
              <a:spcBef>
                <a:spcPct val="0"/>
              </a:spcBef>
              <a:spcAft>
                <a:spcPct val="0"/>
              </a:spcAft>
            </a:pPr>
            <a:endParaRPr lang="ro-RO" b="1">
              <a:latin typeface="Arial" panose="020B0604020202020204" pitchFamily="34" charset="0"/>
              <a:ea typeface="Times New Roman" pitchFamily="18" charset="0"/>
              <a:cs typeface="Arial" panose="020B0604020202020204" pitchFamily="34" charset="0"/>
            </a:endParaRPr>
          </a:p>
          <a:p>
            <a:pPr lvl="0" algn="ctr" fontAlgn="base">
              <a:spcBef>
                <a:spcPct val="0"/>
              </a:spcBef>
              <a:spcAft>
                <a:spcPct val="0"/>
              </a:spcAft>
            </a:pPr>
            <a:r>
              <a:rPr lang="en-US" b="1" smtClean="0">
                <a:latin typeface="Arial" panose="020B0604020202020204" pitchFamily="34" charset="0"/>
                <a:ea typeface="Times New Roman" pitchFamily="18" charset="0"/>
                <a:cs typeface="Arial" panose="020B0604020202020204" pitchFamily="34" charset="0"/>
              </a:rPr>
              <a:t>ORGANIZARE</a:t>
            </a:r>
            <a:r>
              <a:rPr lang="ro-RO" b="1" smtClean="0">
                <a:latin typeface="Arial" panose="020B0604020202020204" pitchFamily="34" charset="0"/>
                <a:ea typeface="Times New Roman" pitchFamily="18" charset="0"/>
                <a:cs typeface="Arial" panose="020B0604020202020204" pitchFamily="34" charset="0"/>
              </a:rPr>
              <a:t> </a:t>
            </a:r>
            <a:r>
              <a:rPr lang="en-US" b="1" smtClean="0">
                <a:latin typeface="Arial" panose="020B0604020202020204" pitchFamily="34" charset="0"/>
                <a:ea typeface="Times New Roman" pitchFamily="18" charset="0"/>
                <a:cs typeface="Arial" panose="020B0604020202020204" pitchFamily="34" charset="0"/>
              </a:rPr>
              <a:t>/ </a:t>
            </a:r>
            <a:r>
              <a:rPr lang="en-US" b="1">
                <a:latin typeface="Arial" panose="020B0604020202020204" pitchFamily="34" charset="0"/>
                <a:ea typeface="Times New Roman" pitchFamily="18" charset="0"/>
                <a:cs typeface="Arial" panose="020B0604020202020204" pitchFamily="34" charset="0"/>
              </a:rPr>
              <a:t>COORDONARE</a:t>
            </a:r>
            <a:endParaRPr lang="ro-RO" b="1">
              <a:latin typeface="Arial" panose="020B0604020202020204" pitchFamily="34" charset="0"/>
              <a:cs typeface="Arial" panose="020B0604020202020204" pitchFamily="34" charset="0"/>
            </a:endParaRPr>
          </a:p>
          <a:p>
            <a:pPr lvl="0"/>
            <a:endParaRPr lang="ro-RO" b="1">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Sprijină </a:t>
            </a:r>
            <a:r>
              <a:rPr lang="ro-RO" b="1">
                <a:latin typeface="Arial" panose="020B0604020202020204" pitchFamily="34" charset="0"/>
                <a:cs typeface="Arial" panose="020B0604020202020204" pitchFamily="34" charset="0"/>
              </a:rPr>
              <a:t>echipa managerială din unitatea de învăţământ în desfăşurarea unor acţiuni de analiză, identificare şi stabilire a nevoii de formare a personalului didactic din şcoală </a:t>
            </a:r>
            <a:r>
              <a:rPr lang="ro-RO" b="1" smtClean="0">
                <a:latin typeface="Arial" panose="020B0604020202020204" pitchFamily="34" charset="0"/>
                <a:cs typeface="Arial" panose="020B0604020202020204" pitchFamily="34" charset="0"/>
              </a:rPr>
              <a:t>(informaţiile </a:t>
            </a:r>
            <a:r>
              <a:rPr lang="ro-RO" b="1">
                <a:latin typeface="Arial" panose="020B0604020202020204" pitchFamily="34" charset="0"/>
                <a:cs typeface="Arial" panose="020B0604020202020204" pitchFamily="34" charset="0"/>
              </a:rPr>
              <a:t>legate de nevoile de formare identificate şi stabilite la nivelul unităţii de învăţământ vor fi aduse la cunoştinţa inspectorului pentru dezvoltarea resursei umane din cadrul Inspectoratului Şcolar Judeţean şi consemnate în rapoartele de activitate</a:t>
            </a:r>
            <a:r>
              <a:rPr lang="ro-RO" b="1" smtClean="0">
                <a:latin typeface="Arial" panose="020B0604020202020204" pitchFamily="34" charset="0"/>
                <a:cs typeface="Arial" panose="020B0604020202020204" pitchFamily="34" charset="0"/>
              </a:rPr>
              <a:t>);</a:t>
            </a:r>
          </a:p>
          <a:p>
            <a:pPr marL="285750" lvl="0" indent="-285750">
              <a:buFont typeface="Wingdings" pitchFamily="2" charset="2"/>
              <a:buChar char="Ø"/>
            </a:pPr>
            <a:endParaRPr lang="ro-RO" b="1" smtClean="0">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Coordonează</a:t>
            </a:r>
            <a:r>
              <a:rPr lang="ro-RO" b="1">
                <a:latin typeface="Arial" panose="020B0604020202020204" pitchFamily="34" charset="0"/>
                <a:cs typeface="Arial" panose="020B0604020202020204" pitchFamily="34" charset="0"/>
              </a:rPr>
              <a:t>, la solicitarea conducerii şcolii, monitorizarea impactului produs de programele de formare continuă asupra calităţii </a:t>
            </a:r>
            <a:r>
              <a:rPr lang="ro-RO" b="1" smtClean="0">
                <a:latin typeface="Arial" panose="020B0604020202020204" pitchFamily="34" charset="0"/>
                <a:cs typeface="Arial" panose="020B0604020202020204" pitchFamily="34" charset="0"/>
              </a:rPr>
              <a:t>educaţiei.</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028298782"/>
      </p:ext>
    </p:extLst>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4431983"/>
          </a:xfrm>
          <a:prstGeom prst="rect">
            <a:avLst/>
          </a:prstGeom>
        </p:spPr>
        <p:txBody>
          <a:bodyPr wrap="square">
            <a:spAutoFit/>
          </a:bodyPr>
          <a:lstStyle/>
          <a:p>
            <a:pPr algn="ctr" fontAlgn="base">
              <a:spcBef>
                <a:spcPct val="0"/>
              </a:spcBef>
              <a:spcAft>
                <a:spcPct val="0"/>
              </a:spcAft>
            </a:pPr>
            <a:endParaRPr lang="ro-RO" b="1" smtClean="0">
              <a:latin typeface="Arial" panose="020B0604020202020204" pitchFamily="34" charset="0"/>
              <a:cs typeface="Arial" panose="020B0604020202020204" pitchFamily="34" charset="0"/>
            </a:endParaRPr>
          </a:p>
          <a:p>
            <a:pPr algn="ctr" fontAlgn="base">
              <a:spcBef>
                <a:spcPct val="0"/>
              </a:spcBef>
              <a:spcAft>
                <a:spcPct val="0"/>
              </a:spcAft>
            </a:pP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z="2400" b="1">
              <a:latin typeface="Arial" panose="020B0604020202020204" pitchFamily="34" charset="0"/>
              <a:ea typeface="Times New Roman" pitchFamily="18" charset="0"/>
              <a:cs typeface="Arial" panose="020B0604020202020204" pitchFamily="34" charset="0"/>
            </a:endParaRPr>
          </a:p>
          <a:p>
            <a:pPr lvl="0" fontAlgn="base">
              <a:spcBef>
                <a:spcPct val="0"/>
              </a:spcBef>
              <a:spcAft>
                <a:spcPct val="0"/>
              </a:spcAft>
            </a:pPr>
            <a:endParaRPr lang="ro-RO" b="1" smtClean="0">
              <a:latin typeface="Arial" panose="020B0604020202020204" pitchFamily="34" charset="0"/>
              <a:ea typeface="Times New Roman" pitchFamily="18" charset="0"/>
              <a:cs typeface="Arial" panose="020B0604020202020204" pitchFamily="34" charset="0"/>
            </a:endParaRPr>
          </a:p>
          <a:p>
            <a:pPr lvl="0" algn="ctr" fontAlgn="base">
              <a:spcBef>
                <a:spcPct val="0"/>
              </a:spcBef>
              <a:spcAft>
                <a:spcPct val="0"/>
              </a:spcAft>
            </a:pPr>
            <a:r>
              <a:rPr lang="en-US" b="1" smtClean="0">
                <a:latin typeface="Arial" panose="020B0604020202020204" pitchFamily="34" charset="0"/>
                <a:ea typeface="Times New Roman" pitchFamily="18" charset="0"/>
                <a:cs typeface="Arial" panose="020B0604020202020204" pitchFamily="34" charset="0"/>
              </a:rPr>
              <a:t>ORGANIZARE</a:t>
            </a:r>
            <a:r>
              <a:rPr lang="ro-RO" b="1" smtClean="0">
                <a:latin typeface="Arial" panose="020B0604020202020204" pitchFamily="34" charset="0"/>
                <a:ea typeface="Times New Roman" pitchFamily="18" charset="0"/>
                <a:cs typeface="Arial" panose="020B0604020202020204" pitchFamily="34" charset="0"/>
              </a:rPr>
              <a:t> </a:t>
            </a:r>
            <a:r>
              <a:rPr lang="en-US" b="1" smtClean="0">
                <a:latin typeface="Arial" panose="020B0604020202020204" pitchFamily="34" charset="0"/>
                <a:ea typeface="Times New Roman" pitchFamily="18" charset="0"/>
                <a:cs typeface="Arial" panose="020B0604020202020204" pitchFamily="34" charset="0"/>
              </a:rPr>
              <a:t>/ COORDONARE</a:t>
            </a:r>
            <a:endParaRPr lang="ro-RO" b="1">
              <a:latin typeface="Arial" panose="020B0604020202020204" pitchFamily="34" charset="0"/>
              <a:cs typeface="Arial" panose="020B0604020202020204" pitchFamily="34" charset="0"/>
            </a:endParaRPr>
          </a:p>
          <a:p>
            <a:pPr lvl="0"/>
            <a:endParaRPr lang="ro-RO" b="1">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Promovează </a:t>
            </a:r>
            <a:r>
              <a:rPr lang="ro-RO" b="1">
                <a:latin typeface="Arial" panose="020B0604020202020204" pitchFamily="34" charset="0"/>
                <a:cs typeface="Arial" panose="020B0604020202020204" pitchFamily="34" charset="0"/>
              </a:rPr>
              <a:t>la nivelul şcolii, împreună cu echipa managerială, oferta Casei Corpului Didactic cuprinzând cursurile de formare continuă pentru anul şcolar în curs, orientând cadrele didactice spre acele cursuri de formare care vin </a:t>
            </a:r>
            <a:r>
              <a:rPr lang="ro-RO" b="1" smtClean="0">
                <a:latin typeface="Arial" panose="020B0604020202020204" pitchFamily="34" charset="0"/>
                <a:cs typeface="Arial" panose="020B0604020202020204" pitchFamily="34" charset="0"/>
              </a:rPr>
              <a:t>în întâmpinarea nevoilor </a:t>
            </a:r>
            <a:r>
              <a:rPr lang="ro-RO" b="1">
                <a:latin typeface="Arial" panose="020B0604020202020204" pitchFamily="34" charset="0"/>
                <a:cs typeface="Arial" panose="020B0604020202020204" pitchFamily="34" charset="0"/>
              </a:rPr>
              <a:t>de formare identificate la nivelul şcolii, în vederea asigurării calităţii </a:t>
            </a:r>
            <a:r>
              <a:rPr lang="ro-RO" b="1" smtClean="0">
                <a:latin typeface="Arial" panose="020B0604020202020204" pitchFamily="34" charset="0"/>
                <a:cs typeface="Arial" panose="020B0604020202020204" pitchFamily="34" charset="0"/>
              </a:rPr>
              <a:t>educaţiei;</a:t>
            </a:r>
          </a:p>
          <a:p>
            <a:pPr lvl="0"/>
            <a:endParaRPr lang="ro-RO" b="1" smtClean="0">
              <a:latin typeface="Arial" panose="020B0604020202020204" pitchFamily="34" charset="0"/>
              <a:cs typeface="Arial" panose="020B0604020202020204" pitchFamily="34" charset="0"/>
            </a:endParaRPr>
          </a:p>
          <a:p>
            <a:pPr marL="285750" lvl="0" indent="-285750" algn="just">
              <a:buFont typeface="Wingdings" pitchFamily="2" charset="2"/>
              <a:buChar char="Ø"/>
            </a:pPr>
            <a:r>
              <a:rPr lang="ro-RO" b="1" smtClean="0">
                <a:latin typeface="Arial" panose="020B0604020202020204" pitchFamily="34" charset="0"/>
                <a:cs typeface="Arial" panose="020B0604020202020204" pitchFamily="34" charset="0"/>
              </a:rPr>
              <a:t>Coordonează </a:t>
            </a:r>
            <a:r>
              <a:rPr lang="ro-RO" b="1">
                <a:latin typeface="Arial" panose="020B0604020202020204" pitchFamily="34" charset="0"/>
                <a:cs typeface="Arial" panose="020B0604020202020204" pitchFamily="34" charset="0"/>
              </a:rPr>
              <a:t>şi monitorizează, împreună cu echipa managerială a şcolii, activitatea catedrelor/comisiilor metodice din cadrul unităţii de învăţământ</a:t>
            </a:r>
            <a:r>
              <a:rPr lang="ro-RO" b="1"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4244017189"/>
      </p:ext>
    </p:extLst>
  </p:cSld>
  <p:clrMapOvr>
    <a:masterClrMapping/>
  </p:clrMapOvr>
  <p:transition spd="slow">
    <p:rand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6370975"/>
          </a:xfrm>
          <a:prstGeom prst="rect">
            <a:avLst/>
          </a:prstGeom>
        </p:spPr>
        <p:txBody>
          <a:bodyPr wrap="square">
            <a:spAutoFit/>
          </a:bodyPr>
          <a:lstStyle/>
          <a:p>
            <a:pPr algn="ctr"/>
            <a:endParaRPr lang="ro-RO"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pPr algn="ctr"/>
            <a:endParaRPr lang="ro-RO" b="1">
              <a:latin typeface="Arial" panose="020B0604020202020204" pitchFamily="34" charset="0"/>
              <a:cs typeface="Arial" panose="020B0604020202020204" pitchFamily="34" charset="0"/>
            </a:endParaRPr>
          </a:p>
          <a:p>
            <a:pPr algn="ctr"/>
            <a:r>
              <a:rPr lang="en-US" b="1" smtClean="0">
                <a:latin typeface="Arial" panose="020B0604020202020204" pitchFamily="34" charset="0"/>
                <a:cs typeface="Arial" panose="020B0604020202020204" pitchFamily="34" charset="0"/>
              </a:rPr>
              <a:t>CONSILIERE</a:t>
            </a:r>
            <a:r>
              <a:rPr lang="ro-RO" b="1" smtClean="0">
                <a:latin typeface="Arial" panose="020B0604020202020204" pitchFamily="34" charset="0"/>
                <a:cs typeface="Arial" panose="020B0604020202020204" pitchFamily="34" charset="0"/>
              </a:rPr>
              <a:t> </a:t>
            </a:r>
            <a:r>
              <a:rPr lang="en-US" b="1" smtClean="0">
                <a:latin typeface="Arial" panose="020B0604020202020204" pitchFamily="34" charset="0"/>
                <a:cs typeface="Arial" panose="020B0604020202020204" pitchFamily="34" charset="0"/>
              </a:rPr>
              <a:t>/ </a:t>
            </a:r>
            <a:r>
              <a:rPr lang="en-US" b="1">
                <a:latin typeface="Arial" panose="020B0604020202020204" pitchFamily="34" charset="0"/>
                <a:cs typeface="Arial" panose="020B0604020202020204" pitchFamily="34" charset="0"/>
              </a:rPr>
              <a:t>CONSULTANŢĂ</a:t>
            </a:r>
            <a:endParaRPr lang="ro-RO">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a:latin typeface="Arial" panose="020B0604020202020204" pitchFamily="34" charset="0"/>
                <a:cs typeface="Arial" panose="020B0604020202020204" pitchFamily="34" charset="0"/>
              </a:rPr>
              <a:t>Consiliază cadrele didactice din şcoală pe probleme de perfecţionare/ formare continuă  şi colaborează cu echipa managerială a şcolii pe această </a:t>
            </a:r>
            <a:r>
              <a:rPr lang="ro-RO" b="1" smtClean="0">
                <a:latin typeface="Arial" panose="020B0604020202020204" pitchFamily="34" charset="0"/>
                <a:cs typeface="Arial" panose="020B0604020202020204" pitchFamily="34" charset="0"/>
              </a:rPr>
              <a:t>problematică;</a:t>
            </a:r>
          </a:p>
          <a:p>
            <a:pPr lvl="0"/>
            <a:endParaRPr lang="ro-RO" b="1" smtClean="0">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Solicită </a:t>
            </a:r>
            <a:r>
              <a:rPr lang="ro-RO" b="1">
                <a:latin typeface="Arial" panose="020B0604020202020204" pitchFamily="34" charset="0"/>
                <a:cs typeface="Arial" panose="020B0604020202020204" pitchFamily="34" charset="0"/>
              </a:rPr>
              <a:t>consiliere/consultanţă, atunci când consideră necesar,  inspectorului pentru dezvoltarea resursei umane din cadrul Inspectoratului Şcolar </a:t>
            </a:r>
            <a:r>
              <a:rPr lang="ro-RO" b="1" smtClean="0">
                <a:latin typeface="Arial" panose="020B0604020202020204" pitchFamily="34" charset="0"/>
                <a:cs typeface="Arial" panose="020B0604020202020204" pitchFamily="34" charset="0"/>
              </a:rPr>
              <a:t>Judeţean;</a:t>
            </a:r>
          </a:p>
          <a:p>
            <a:pPr lvl="0"/>
            <a:endParaRPr lang="ro-RO" b="1" smtClean="0">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Facilitează </a:t>
            </a:r>
            <a:r>
              <a:rPr lang="ro-RO" b="1">
                <a:latin typeface="Arial" panose="020B0604020202020204" pitchFamily="34" charset="0"/>
                <a:cs typeface="Arial" panose="020B0604020202020204" pitchFamily="34" charset="0"/>
              </a:rPr>
              <a:t>comunicarea intercolegială la nivelul şcolii, formarea şi dezvoltarea unei culturi organizaţionale specifice, relaţionarea şcolii cu alte instituţii şi organizaţii, cu scopul asigurării unei imagini pozitive a şcolii în comunitate şi la nivelul </a:t>
            </a:r>
            <a:r>
              <a:rPr lang="ro-RO" b="1" smtClean="0">
                <a:latin typeface="Arial" panose="020B0604020202020204" pitchFamily="34" charset="0"/>
                <a:cs typeface="Arial" panose="020B0604020202020204" pitchFamily="34" charset="0"/>
              </a:rPr>
              <a:t>judeţului;</a:t>
            </a:r>
          </a:p>
          <a:p>
            <a:pPr lvl="0"/>
            <a:endParaRPr lang="ro-RO" b="1" smtClean="0">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Deprinde </a:t>
            </a:r>
            <a:r>
              <a:rPr lang="ro-RO" b="1">
                <a:latin typeface="Arial" panose="020B0604020202020204" pitchFamily="34" charset="0"/>
                <a:cs typeface="Arial" panose="020B0604020202020204" pitchFamily="34" charset="0"/>
              </a:rPr>
              <a:t>şi foloseşte tehnica observării şi analizei lecţiilor/ activităţilor susţinute de cadrele didactice, cu scopul îmbunătăţirii procesului de </a:t>
            </a:r>
            <a:r>
              <a:rPr lang="ro-RO" b="1" smtClean="0">
                <a:latin typeface="Arial" panose="020B0604020202020204" pitchFamily="34" charset="0"/>
                <a:cs typeface="Arial" panose="020B0604020202020204" pitchFamily="34" charset="0"/>
              </a:rPr>
              <a:t>predare/învăţare/</a:t>
            </a:r>
            <a:r>
              <a:rPr lang="it-IT" b="1" smtClean="0">
                <a:latin typeface="Arial" panose="020B0604020202020204" pitchFamily="34" charset="0"/>
                <a:cs typeface="Arial" panose="020B0604020202020204" pitchFamily="34" charset="0"/>
              </a:rPr>
              <a:t>evaluare</a:t>
            </a:r>
            <a:r>
              <a:rPr lang="it-IT" b="1">
                <a:latin typeface="Arial" panose="020B0604020202020204" pitchFamily="34" charset="0"/>
                <a:cs typeface="Arial" panose="020B0604020202020204" pitchFamily="34" charset="0"/>
              </a:rPr>
              <a:t>, prin consiliere colegială</a:t>
            </a:r>
            <a:r>
              <a:rPr lang="it-IT" b="1"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634817715"/>
      </p:ext>
    </p:extLst>
  </p:cSld>
  <p:clrMapOvr>
    <a:masterClrMapping/>
  </p:clrMapOvr>
  <p:transition spd="slow">
    <p:rand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8235" y="116632"/>
            <a:ext cx="7992888" cy="4154984"/>
          </a:xfrm>
          <a:prstGeom prst="rect">
            <a:avLst/>
          </a:prstGeom>
        </p:spPr>
        <p:txBody>
          <a:bodyPr wrap="square">
            <a:spAutoFit/>
          </a:bodyPr>
          <a:lstStyle/>
          <a:p>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p>
          <a:p>
            <a:endParaRPr lang="ro-RO" b="1" smtClean="0">
              <a:latin typeface="Arial" panose="020B0604020202020204" pitchFamily="34" charset="0"/>
              <a:cs typeface="Arial" panose="020B0604020202020204" pitchFamily="34" charset="0"/>
            </a:endParaRPr>
          </a:p>
          <a:p>
            <a:pPr algn="ctr"/>
            <a:r>
              <a:rPr lang="it-IT" b="1" smtClean="0">
                <a:latin typeface="Arial" panose="020B0604020202020204" pitchFamily="34" charset="0"/>
                <a:cs typeface="Arial" panose="020B0604020202020204" pitchFamily="34" charset="0"/>
              </a:rPr>
              <a:t>FORMARE</a:t>
            </a:r>
            <a:endParaRPr lang="ro-RO">
              <a:latin typeface="Arial" panose="020B0604020202020204" pitchFamily="34" charset="0"/>
              <a:cs typeface="Arial" panose="020B0604020202020204" pitchFamily="34" charset="0"/>
            </a:endParaRPr>
          </a:p>
          <a:p>
            <a:r>
              <a:rPr lang="it-IT" b="1">
                <a:latin typeface="Arial" panose="020B0604020202020204" pitchFamily="34" charset="0"/>
                <a:cs typeface="Arial" panose="020B0604020202020204" pitchFamily="34" charset="0"/>
              </a:rPr>
              <a:t> </a:t>
            </a:r>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a:latin typeface="Arial" panose="020B0604020202020204" pitchFamily="34" charset="0"/>
                <a:cs typeface="Arial" panose="020B0604020202020204" pitchFamily="34" charset="0"/>
              </a:rPr>
              <a:t>Participă la activităţile de perfecţionare</a:t>
            </a:r>
            <a:r>
              <a:rPr lang="it-IT" b="1">
                <a:latin typeface="Arial" panose="020B0604020202020204" pitchFamily="34" charset="0"/>
                <a:cs typeface="Arial" panose="020B0604020202020204" pitchFamily="34" charset="0"/>
              </a:rPr>
              <a:t>/formare continuă</a:t>
            </a:r>
            <a:r>
              <a:rPr lang="ro-RO" b="1">
                <a:latin typeface="Arial" panose="020B0604020202020204" pitchFamily="34" charset="0"/>
                <a:cs typeface="Arial" panose="020B0604020202020204" pitchFamily="34" charset="0"/>
              </a:rPr>
              <a:t> organizate la diferite </a:t>
            </a:r>
            <a:r>
              <a:rPr lang="ro-RO" b="1" smtClean="0">
                <a:latin typeface="Arial" panose="020B0604020202020204" pitchFamily="34" charset="0"/>
                <a:cs typeface="Arial" panose="020B0604020202020204" pitchFamily="34" charset="0"/>
              </a:rPr>
              <a:t>niveluri - </a:t>
            </a:r>
            <a:r>
              <a:rPr lang="ro-RO" b="1">
                <a:latin typeface="Arial" panose="020B0604020202020204" pitchFamily="34" charset="0"/>
                <a:cs typeface="Arial" panose="020B0604020202020204" pitchFamily="34" charset="0"/>
              </a:rPr>
              <a:t>Inspectoratul Şcolar Judeţean, Casa Corpului Didactic, universităţi, colegii, asociaţii sau ONG-uri ce au ca scop îmbunătăţirea perfecţionării</a:t>
            </a:r>
            <a:r>
              <a:rPr lang="it-IT" b="1">
                <a:latin typeface="Arial" panose="020B0604020202020204" pitchFamily="34" charset="0"/>
                <a:cs typeface="Arial" panose="020B0604020202020204" pitchFamily="34" charset="0"/>
              </a:rPr>
              <a:t>/formării continue a cadrelor didactice</a:t>
            </a:r>
            <a:r>
              <a:rPr lang="it-IT"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pPr lvl="0"/>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Realizează </a:t>
            </a:r>
            <a:r>
              <a:rPr lang="ro-RO" b="1">
                <a:latin typeface="Arial" panose="020B0604020202020204" pitchFamily="34" charset="0"/>
                <a:cs typeface="Arial" panose="020B0604020202020204" pitchFamily="34" charset="0"/>
              </a:rPr>
              <a:t>activităţi de diseminare a informaţiilor </a:t>
            </a:r>
            <a:r>
              <a:rPr lang="ro-RO" b="1" smtClean="0">
                <a:latin typeface="Arial" panose="020B0604020202020204" pitchFamily="34" charset="0"/>
                <a:cs typeface="Arial" panose="020B0604020202020204" pitchFamily="34" charset="0"/>
              </a:rPr>
              <a:t>primite </a:t>
            </a:r>
            <a:r>
              <a:rPr lang="ro-RO" b="1">
                <a:latin typeface="Arial" panose="020B0604020202020204" pitchFamily="34" charset="0"/>
                <a:cs typeface="Arial" panose="020B0604020202020204" pitchFamily="34" charset="0"/>
              </a:rPr>
              <a:t>în cadrul cursurilor de formare continuă, instruirilor, întâlnirilor organizate de diferite instituţii abilitate în domeniu</a:t>
            </a:r>
            <a:r>
              <a:rPr lang="ro-RO" b="1"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840922037"/>
      </p:ext>
    </p:extLst>
  </p:cSld>
  <p:clrMapOvr>
    <a:masterClrMapping/>
  </p:clrMapOvr>
  <p:transition spd="slow">
    <p:rand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776864" cy="5816977"/>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z="2400" b="1">
              <a:latin typeface="Arial" panose="020B0604020202020204" pitchFamily="34" charset="0"/>
              <a:cs typeface="Arial" panose="020B0604020202020204" pitchFamily="34" charset="0"/>
            </a:endParaRPr>
          </a:p>
          <a:p>
            <a:endParaRPr lang="ro-RO" b="1" smtClean="0">
              <a:latin typeface="Arial" panose="020B0604020202020204" pitchFamily="34" charset="0"/>
              <a:cs typeface="Arial" panose="020B0604020202020204" pitchFamily="34" charset="0"/>
            </a:endParaRPr>
          </a:p>
          <a:p>
            <a:pPr algn="ctr"/>
            <a:r>
              <a:rPr lang="en-US" b="1" smtClean="0">
                <a:latin typeface="Arial" panose="020B0604020202020204" pitchFamily="34" charset="0"/>
                <a:cs typeface="Arial" panose="020B0604020202020204" pitchFamily="34" charset="0"/>
              </a:rPr>
              <a:t>MONITORIZARE</a:t>
            </a:r>
            <a:endParaRPr lang="ro-RO">
              <a:latin typeface="Arial" panose="020B0604020202020204" pitchFamily="34" charset="0"/>
              <a:cs typeface="Arial" panose="020B0604020202020204" pitchFamily="34" charset="0"/>
            </a:endParaRPr>
          </a:p>
          <a:p>
            <a:r>
              <a:rPr lang="en-US" b="1">
                <a:latin typeface="Arial" panose="020B0604020202020204" pitchFamily="34" charset="0"/>
                <a:cs typeface="Arial" panose="020B0604020202020204" pitchFamily="34" charset="0"/>
              </a:rPr>
              <a:t> </a:t>
            </a:r>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Monitorizează participarea </a:t>
            </a:r>
            <a:r>
              <a:rPr lang="ro-RO" b="1">
                <a:latin typeface="Arial" panose="020B0604020202020204" pitchFamily="34" charset="0"/>
                <a:cs typeface="Arial" panose="020B0604020202020204" pitchFamily="34" charset="0"/>
              </a:rPr>
              <a:t>cadrelor didactice la activităţile de </a:t>
            </a:r>
            <a:r>
              <a:rPr lang="ro-RO" b="1" smtClean="0">
                <a:latin typeface="Arial" panose="020B0604020202020204" pitchFamily="34" charset="0"/>
                <a:cs typeface="Arial" panose="020B0604020202020204" pitchFamily="34" charset="0"/>
              </a:rPr>
              <a:t>perfecţionare </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a:t>
            </a:r>
            <a:r>
              <a:rPr lang="en-US" b="1" smtClean="0">
                <a:latin typeface="Arial" panose="020B0604020202020204" pitchFamily="34" charset="0"/>
                <a:cs typeface="Arial" panose="020B0604020202020204" pitchFamily="34" charset="0"/>
              </a:rPr>
              <a:t>formare </a:t>
            </a:r>
            <a:r>
              <a:rPr lang="en-US" b="1" err="1">
                <a:latin typeface="Arial" panose="020B0604020202020204" pitchFamily="34" charset="0"/>
                <a:cs typeface="Arial" panose="020B0604020202020204" pitchFamily="34" charset="0"/>
              </a:rPr>
              <a:t>continuă</a:t>
            </a:r>
            <a:r>
              <a:rPr lang="ro-RO" b="1">
                <a:latin typeface="Arial" panose="020B0604020202020204" pitchFamily="34" charset="0"/>
                <a:cs typeface="Arial" panose="020B0604020202020204" pitchFamily="34" charset="0"/>
              </a:rPr>
              <a:t> organizate la nivelul unităţii </a:t>
            </a:r>
            <a:r>
              <a:rPr lang="ro-RO" b="1" smtClean="0">
                <a:latin typeface="Arial" panose="020B0604020202020204" pitchFamily="34" charset="0"/>
                <a:cs typeface="Arial" panose="020B0604020202020204" pitchFamily="34" charset="0"/>
              </a:rPr>
              <a:t>şcolare;</a:t>
            </a:r>
          </a:p>
          <a:p>
            <a:pPr lvl="0"/>
            <a:endParaRPr lang="ro-RO" b="1" smtClean="0">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Monitorizează</a:t>
            </a:r>
            <a:r>
              <a:rPr lang="ro-RO" b="1">
                <a:latin typeface="Arial" panose="020B0604020202020204" pitchFamily="34" charset="0"/>
                <a:cs typeface="Arial" panose="020B0604020202020204" pitchFamily="34" charset="0"/>
              </a:rPr>
              <a:t>, împreună cu echipa managerială a şcolii, activităţile desfăşurate la nivelul şcolii în scopul promovării bunelor </a:t>
            </a:r>
            <a:r>
              <a:rPr lang="ro-RO" b="1" smtClean="0">
                <a:latin typeface="Arial" panose="020B0604020202020204" pitchFamily="34" charset="0"/>
                <a:cs typeface="Arial" panose="020B0604020202020204" pitchFamily="34" charset="0"/>
              </a:rPr>
              <a:t>practici;</a:t>
            </a:r>
          </a:p>
          <a:p>
            <a:pPr lvl="0"/>
            <a:endParaRPr lang="ro-RO" b="1" smtClean="0">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Monitorizează parcursul, </a:t>
            </a:r>
            <a:r>
              <a:rPr lang="ro-RO" b="1">
                <a:latin typeface="Arial" panose="020B0604020202020204" pitchFamily="34" charset="0"/>
                <a:cs typeface="Arial" panose="020B0604020202020204" pitchFamily="34" charset="0"/>
              </a:rPr>
              <a:t>în vederea perfecţionării prin grade </a:t>
            </a:r>
            <a:r>
              <a:rPr lang="ro-RO" b="1" smtClean="0">
                <a:latin typeface="Arial" panose="020B0604020202020204" pitchFamily="34" charset="0"/>
                <a:cs typeface="Arial" panose="020B0604020202020204" pitchFamily="34" charset="0"/>
              </a:rPr>
              <a:t>didactice, </a:t>
            </a:r>
            <a:r>
              <a:rPr lang="ro-RO" b="1">
                <a:latin typeface="Arial" panose="020B0604020202020204" pitchFamily="34" charset="0"/>
                <a:cs typeface="Arial" panose="020B0604020202020204" pitchFamily="34" charset="0"/>
              </a:rPr>
              <a:t>pentru tot personalul didactic din unitatea de învăţământ şi </a:t>
            </a:r>
            <a:r>
              <a:rPr lang="ro-RO" b="1" smtClean="0">
                <a:latin typeface="Arial" panose="020B0604020202020204" pitchFamily="34" charset="0"/>
                <a:cs typeface="Arial" panose="020B0604020202020204" pitchFamily="34" charset="0"/>
              </a:rPr>
              <a:t>informează</a:t>
            </a:r>
            <a:r>
              <a:rPr lang="ro-RO" b="1">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în </a:t>
            </a:r>
            <a:r>
              <a:rPr lang="ro-RO" b="1">
                <a:latin typeface="Arial" panose="020B0604020202020204" pitchFamily="34" charset="0"/>
                <a:cs typeface="Arial" panose="020B0604020202020204" pitchFamily="34" charset="0"/>
              </a:rPr>
              <a:t>scris, inspectorul şcolar pentru dezvoltarea resursei umane din cadrul ISJ privind </a:t>
            </a:r>
            <a:r>
              <a:rPr lang="ro-RO" b="1" smtClean="0">
                <a:latin typeface="Arial" panose="020B0604020202020204" pitchFamily="34" charset="0"/>
                <a:cs typeface="Arial" panose="020B0604020202020204" pitchFamily="34" charset="0"/>
              </a:rPr>
              <a:t>cadrele </a:t>
            </a:r>
            <a:r>
              <a:rPr lang="ro-RO" b="1">
                <a:latin typeface="Arial" panose="020B0604020202020204" pitchFamily="34" charset="0"/>
                <a:cs typeface="Arial" panose="020B0604020202020204" pitchFamily="34" charset="0"/>
              </a:rPr>
              <a:t>didactice care nu mai îndeplinesc condiţiile legale pentru obţinerea gradelor didactice </a:t>
            </a:r>
            <a:r>
              <a:rPr lang="ro-RO" b="1" smtClean="0">
                <a:latin typeface="Arial" panose="020B0604020202020204" pitchFamily="34" charset="0"/>
                <a:cs typeface="Arial" panose="020B0604020202020204" pitchFamily="34" charset="0"/>
              </a:rPr>
              <a:t>(de </a:t>
            </a:r>
            <a:r>
              <a:rPr lang="ro-RO" b="1">
                <a:latin typeface="Arial" panose="020B0604020202020204" pitchFamily="34" charset="0"/>
                <a:cs typeface="Arial" panose="020B0604020202020204" pitchFamily="34" charset="0"/>
              </a:rPr>
              <a:t>vechime, concedii fără plată, concedii creştere copil, sancţiuni, calificativ necorespunzător etc</a:t>
            </a:r>
            <a:r>
              <a:rPr lang="ro-RO" b="1"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763153093"/>
      </p:ext>
    </p:extLst>
  </p:cSld>
  <p:clrMapOvr>
    <a:masterClrMapping/>
  </p:clrMapOvr>
  <p:transition spd="slow">
    <p:rand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4985980"/>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ATRIBUŢIILE RESPONSABILULUI COMISIEI DE PERFECŢIONARE / </a:t>
            </a:r>
            <a:r>
              <a:rPr lang="ro-RO" sz="2400" b="1">
                <a:latin typeface="Arial" panose="020B0604020202020204" pitchFamily="34" charset="0"/>
                <a:cs typeface="Arial" panose="020B0604020202020204" pitchFamily="34" charset="0"/>
              </a:rPr>
              <a:t>FORMARE </a:t>
            </a:r>
            <a:r>
              <a:rPr lang="ro-RO" sz="2400" b="1" smtClean="0">
                <a:latin typeface="Arial" panose="020B0604020202020204" pitchFamily="34" charset="0"/>
                <a:cs typeface="Arial" panose="020B0604020202020204" pitchFamily="34" charset="0"/>
              </a:rPr>
              <a:t>CONTINUĂ</a:t>
            </a:r>
            <a:endParaRPr lang="ro-RO" sz="2400" b="1">
              <a:latin typeface="Arial" panose="020B0604020202020204" pitchFamily="34" charset="0"/>
              <a:cs typeface="Arial" panose="020B0604020202020204" pitchFamily="34" charset="0"/>
            </a:endParaRPr>
          </a:p>
          <a:p>
            <a:endParaRPr lang="ro-RO" b="1" smtClean="0">
              <a:latin typeface="Arial" panose="020B0604020202020204" pitchFamily="34" charset="0"/>
              <a:cs typeface="Arial" panose="020B0604020202020204" pitchFamily="34" charset="0"/>
            </a:endParaRPr>
          </a:p>
          <a:p>
            <a:pPr algn="ctr"/>
            <a:r>
              <a:rPr lang="ro-RO" b="1" smtClean="0">
                <a:latin typeface="Arial" panose="020B0604020202020204" pitchFamily="34" charset="0"/>
                <a:cs typeface="Arial" panose="020B0604020202020204" pitchFamily="34" charset="0"/>
              </a:rPr>
              <a:t>EVALUARE</a:t>
            </a:r>
          </a:p>
          <a:p>
            <a:endParaRPr lang="ro-RO">
              <a:latin typeface="Arial" panose="020B0604020202020204" pitchFamily="34" charset="0"/>
              <a:cs typeface="Arial" panose="020B0604020202020204" pitchFamily="34" charset="0"/>
            </a:endParaRPr>
          </a:p>
          <a:p>
            <a:pPr marL="285750" lvl="0" indent="-285750">
              <a:buFont typeface="Wingdings" pitchFamily="2" charset="2"/>
              <a:buChar char="Ø"/>
            </a:pPr>
            <a:r>
              <a:rPr lang="ro-RO" b="1" smtClean="0">
                <a:latin typeface="Arial" panose="020B0604020202020204" pitchFamily="34" charset="0"/>
                <a:cs typeface="Arial" panose="020B0604020202020204" pitchFamily="34" charset="0"/>
              </a:rPr>
              <a:t>Realizează </a:t>
            </a:r>
            <a:r>
              <a:rPr lang="ro-RO" b="1">
                <a:latin typeface="Arial" panose="020B0604020202020204" pitchFamily="34" charset="0"/>
                <a:cs typeface="Arial" panose="020B0604020202020204" pitchFamily="34" charset="0"/>
              </a:rPr>
              <a:t>evaluarea activităţii de perfecţionare/ formare </a:t>
            </a:r>
            <a:r>
              <a:rPr lang="ro-RO" b="1" smtClean="0">
                <a:latin typeface="Arial" panose="020B0604020202020204" pitchFamily="34" charset="0"/>
                <a:cs typeface="Arial" panose="020B0604020202020204" pitchFamily="34" charset="0"/>
              </a:rPr>
              <a:t>continuă:</a:t>
            </a:r>
            <a:endParaRPr lang="ro-RO">
              <a:latin typeface="Arial" panose="020B0604020202020204" pitchFamily="34" charset="0"/>
              <a:cs typeface="Arial" panose="020B0604020202020204" pitchFamily="34" charset="0"/>
            </a:endParaRPr>
          </a:p>
          <a:p>
            <a:pPr lvl="1"/>
            <a:r>
              <a:rPr lang="ro-RO" b="1">
                <a:latin typeface="Arial" panose="020B0604020202020204" pitchFamily="34" charset="0"/>
                <a:cs typeface="Arial" panose="020B0604020202020204" pitchFamily="34" charset="0"/>
              </a:rPr>
              <a:t>- de </a:t>
            </a:r>
            <a:r>
              <a:rPr lang="ro-RO" b="1" smtClean="0">
                <a:latin typeface="Arial" panose="020B0604020202020204" pitchFamily="34" charset="0"/>
                <a:cs typeface="Arial" panose="020B0604020202020204" pitchFamily="34" charset="0"/>
              </a:rPr>
              <a:t>proces - </a:t>
            </a:r>
            <a:r>
              <a:rPr lang="ro-RO" b="1">
                <a:latin typeface="Arial" panose="020B0604020202020204" pitchFamily="34" charset="0"/>
                <a:cs typeface="Arial" panose="020B0604020202020204" pitchFamily="34" charset="0"/>
              </a:rPr>
              <a:t>pentru programele de </a:t>
            </a:r>
            <a:r>
              <a:rPr lang="ro-RO" b="1" smtClean="0">
                <a:latin typeface="Arial" panose="020B0604020202020204" pitchFamily="34" charset="0"/>
                <a:cs typeface="Arial" panose="020B0604020202020204" pitchFamily="34" charset="0"/>
              </a:rPr>
              <a:t>perfecţionare / </a:t>
            </a:r>
            <a:r>
              <a:rPr lang="ro-RO" b="1">
                <a:latin typeface="Arial" panose="020B0604020202020204" pitchFamily="34" charset="0"/>
                <a:cs typeface="Arial" panose="020B0604020202020204" pitchFamily="34" charset="0"/>
              </a:rPr>
              <a:t>formare continuă </a:t>
            </a:r>
            <a:r>
              <a:rPr lang="ro-RO" b="1" smtClean="0">
                <a:latin typeface="Arial" panose="020B0604020202020204" pitchFamily="34" charset="0"/>
                <a:cs typeface="Arial" panose="020B0604020202020204" pitchFamily="34" charset="0"/>
              </a:rPr>
              <a:t>    aflate </a:t>
            </a:r>
            <a:r>
              <a:rPr lang="ro-RO" b="1">
                <a:latin typeface="Arial" panose="020B0604020202020204" pitchFamily="34" charset="0"/>
                <a:cs typeface="Arial" panose="020B0604020202020204" pitchFamily="34" charset="0"/>
              </a:rPr>
              <a:t>în derulare la nivelul unităţii de învăţământ;</a:t>
            </a:r>
            <a:endParaRPr lang="ro-RO">
              <a:latin typeface="Arial" panose="020B0604020202020204" pitchFamily="34" charset="0"/>
              <a:cs typeface="Arial" panose="020B0604020202020204" pitchFamily="34" charset="0"/>
            </a:endParaRPr>
          </a:p>
          <a:p>
            <a:pPr lvl="1"/>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de produs, pentru produsele finale ale formării continue, reflectate în activitatea didactică;</a:t>
            </a:r>
            <a:endParaRPr lang="ro-RO">
              <a:latin typeface="Arial" panose="020B0604020202020204" pitchFamily="34" charset="0"/>
              <a:cs typeface="Arial" panose="020B0604020202020204" pitchFamily="34" charset="0"/>
            </a:endParaRPr>
          </a:p>
          <a:p>
            <a:pPr lvl="1"/>
            <a:r>
              <a:rPr lang="ro-RO" b="1" smtClean="0">
                <a:latin typeface="Arial" panose="020B0604020202020204" pitchFamily="34" charset="0"/>
                <a:cs typeface="Arial" panose="020B0604020202020204" pitchFamily="34" charset="0"/>
              </a:rPr>
              <a:t>- </a:t>
            </a:r>
            <a:r>
              <a:rPr lang="ro-RO" b="1">
                <a:latin typeface="Arial" panose="020B0604020202020204" pitchFamily="34" charset="0"/>
                <a:cs typeface="Arial" panose="020B0604020202020204" pitchFamily="34" charset="0"/>
              </a:rPr>
              <a:t>de valorizare a bunelor </a:t>
            </a:r>
            <a:r>
              <a:rPr lang="ro-RO" b="1" smtClean="0">
                <a:latin typeface="Arial" panose="020B0604020202020204" pitchFamily="34" charset="0"/>
                <a:cs typeface="Arial" panose="020B0604020202020204" pitchFamily="34" charset="0"/>
              </a:rPr>
              <a:t>practici.</a:t>
            </a:r>
          </a:p>
          <a:p>
            <a:endParaRPr lang="ro-RO" b="1" smtClean="0">
              <a:latin typeface="Arial" panose="020B0604020202020204" pitchFamily="34" charset="0"/>
              <a:cs typeface="Arial" panose="020B0604020202020204" pitchFamily="34" charset="0"/>
            </a:endParaRPr>
          </a:p>
          <a:p>
            <a:pPr marL="285750" indent="-285750">
              <a:buFont typeface="Wingdings" pitchFamily="2" charset="2"/>
              <a:buChar char="Ø"/>
            </a:pPr>
            <a:r>
              <a:rPr lang="ro-RO" b="1" smtClean="0">
                <a:latin typeface="Arial" panose="020B0604020202020204" pitchFamily="34" charset="0"/>
                <a:cs typeface="Arial" panose="020B0604020202020204" pitchFamily="34" charset="0"/>
              </a:rPr>
              <a:t>Prezintă, </a:t>
            </a:r>
            <a:r>
              <a:rPr lang="ro-RO" b="1">
                <a:latin typeface="Arial" panose="020B0604020202020204" pitchFamily="34" charset="0"/>
                <a:cs typeface="Arial" panose="020B0604020202020204" pitchFamily="34" charset="0"/>
              </a:rPr>
              <a:t>în </a:t>
            </a:r>
            <a:r>
              <a:rPr lang="ro-RO" b="1" smtClean="0">
                <a:latin typeface="Arial" panose="020B0604020202020204" pitchFamily="34" charset="0"/>
                <a:cs typeface="Arial" panose="020B0604020202020204" pitchFamily="34" charset="0"/>
              </a:rPr>
              <a:t>colectivul didactic, rezultatele evaluării, </a:t>
            </a:r>
            <a:r>
              <a:rPr lang="ro-RO" b="1">
                <a:latin typeface="Arial" panose="020B0604020202020204" pitchFamily="34" charset="0"/>
                <a:cs typeface="Arial" panose="020B0604020202020204" pitchFamily="34" charset="0"/>
              </a:rPr>
              <a:t>în vederea identificării unor soluţii pentru îmbunătăţirea activităţii de perfecţionare/ formare continuă şi a calităţii educaţiei la nivelul unităţii de </a:t>
            </a:r>
            <a:r>
              <a:rPr lang="ro-RO" b="1" smtClean="0">
                <a:latin typeface="Arial" panose="020B0604020202020204" pitchFamily="34" charset="0"/>
                <a:cs typeface="Arial" panose="020B0604020202020204" pitchFamily="34" charset="0"/>
              </a:rPr>
              <a:t>învăţământ.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3653073212"/>
      </p:ext>
    </p:extLst>
  </p:cSld>
  <p:clrMapOvr>
    <a:masterClrMapping/>
  </p:clrMapOvr>
  <p:transition spd="slow">
    <p:rand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51112" y="116632"/>
            <a:ext cx="7992888" cy="4431983"/>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LEGISLAȚIE ȘCOLARĂ ÎN DOMENIUL FORMĂRII CONTINUE</a:t>
            </a:r>
          </a:p>
          <a:p>
            <a:endParaRPr lang="ro-RO">
              <a:latin typeface="Arial" panose="020B0604020202020204" pitchFamily="34" charset="0"/>
              <a:cs typeface="Arial" panose="020B0604020202020204" pitchFamily="34" charset="0"/>
            </a:endParaRPr>
          </a:p>
          <a:p>
            <a:pPr algn="ctr"/>
            <a:r>
              <a:rPr lang="ro-RO" b="1" smtClean="0">
                <a:latin typeface="Arial" panose="020B0604020202020204" pitchFamily="34" charset="0"/>
                <a:cs typeface="Arial" panose="020B0604020202020204" pitchFamily="34" charset="0"/>
              </a:rPr>
              <a:t>LEGEA EDUCAȚIEI NAȚIONALE (LEGEA NR. 1/ 2011)</a:t>
            </a:r>
          </a:p>
          <a:p>
            <a:pPr algn="ct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TITLUL IV</a:t>
            </a:r>
            <a:endParaRPr lang="ro-RO" b="1">
              <a:latin typeface="Arial" panose="020B0604020202020204" pitchFamily="34" charset="0"/>
              <a:cs typeface="Arial" panose="020B0604020202020204" pitchFamily="34" charset="0"/>
            </a:endParaRPr>
          </a:p>
          <a:p>
            <a:r>
              <a:rPr lang="ro-RO" b="1">
                <a:latin typeface="Arial" panose="020B0604020202020204" pitchFamily="34" charset="0"/>
                <a:cs typeface="Arial" panose="020B0604020202020204" pitchFamily="34" charset="0"/>
              </a:rPr>
              <a:t>STATUTUL PERSONALULUI </a:t>
            </a:r>
            <a:r>
              <a:rPr lang="ro-RO" b="1" smtClean="0">
                <a:latin typeface="Arial" panose="020B0604020202020204" pitchFamily="34" charset="0"/>
                <a:cs typeface="Arial" panose="020B0604020202020204" pitchFamily="34" charset="0"/>
              </a:rPr>
              <a:t>DIDACTIC/ </a:t>
            </a:r>
          </a:p>
          <a:p>
            <a:endParaRPr lang="ro-RO" b="1" smtClean="0">
              <a:latin typeface="Arial" panose="020B0604020202020204" pitchFamily="34" charset="0"/>
              <a:cs typeface="Arial" panose="020B0604020202020204" pitchFamily="34" charset="0"/>
            </a:endParaRPr>
          </a:p>
          <a:p>
            <a:r>
              <a:rPr lang="ro-RO" b="1">
                <a:latin typeface="Arial" panose="020B0604020202020204" pitchFamily="34" charset="0"/>
                <a:cs typeface="Arial" panose="020B0604020202020204" pitchFamily="34" charset="0"/>
              </a:rPr>
              <a:t>Art. 242. – (1) Formarea continuă a cadrelor didactice cuprinde </a:t>
            </a:r>
            <a:r>
              <a:rPr lang="ro-RO" b="1" smtClean="0">
                <a:latin typeface="Arial" panose="020B0604020202020204" pitchFamily="34" charset="0"/>
                <a:cs typeface="Arial" panose="020B0604020202020204" pitchFamily="34" charset="0"/>
              </a:rPr>
              <a:t>dezvoltarea profesională </a:t>
            </a:r>
            <a:r>
              <a:rPr lang="ro-RO" b="1">
                <a:latin typeface="Arial" panose="020B0604020202020204" pitchFamily="34" charset="0"/>
                <a:cs typeface="Arial" panose="020B0604020202020204" pitchFamily="34" charset="0"/>
              </a:rPr>
              <a:t>şi evoluţia în carieră</a:t>
            </a:r>
            <a:r>
              <a:rPr lang="ro-RO" b="1" smtClean="0">
                <a:latin typeface="Arial" panose="020B0604020202020204" pitchFamily="34" charset="0"/>
                <a:cs typeface="Arial" panose="020B0604020202020204" pitchFamily="34" charset="0"/>
              </a:rPr>
              <a:t>.</a:t>
            </a:r>
          </a:p>
          <a:p>
            <a:endParaRPr lang="ro-RO" b="1">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	-  (</a:t>
            </a:r>
            <a:r>
              <a:rPr lang="ro-RO" b="1">
                <a:latin typeface="Arial" panose="020B0604020202020204" pitchFamily="34" charset="0"/>
                <a:cs typeface="Arial" panose="020B0604020202020204" pitchFamily="34" charset="0"/>
              </a:rPr>
              <a:t>2) Evoluţia în carieră se realizează prin gradul didactic II şi gradul didactic I, </a:t>
            </a:r>
            <a:r>
              <a:rPr lang="ro-RO" b="1" smtClean="0">
                <a:latin typeface="Arial" panose="020B0604020202020204" pitchFamily="34" charset="0"/>
                <a:cs typeface="Arial" panose="020B0604020202020204" pitchFamily="34" charset="0"/>
              </a:rPr>
              <a:t>examene de </a:t>
            </a:r>
            <a:r>
              <a:rPr lang="ro-RO" b="1">
                <a:latin typeface="Arial" panose="020B0604020202020204" pitchFamily="34" charset="0"/>
                <a:cs typeface="Arial" panose="020B0604020202020204" pitchFamily="34" charset="0"/>
              </a:rPr>
              <a:t>certificare a diferitelor niveluri de competenţă</a:t>
            </a:r>
            <a:r>
              <a:rPr lang="ro-RO" b="1" smtClean="0">
                <a:latin typeface="Arial" panose="020B0604020202020204" pitchFamily="34" charset="0"/>
                <a:cs typeface="Arial" panose="020B0604020202020204" pitchFamily="34" charset="0"/>
              </a:rPr>
              <a:t>.</a:t>
            </a:r>
            <a:endParaRPr lang="ro-RO" b="1">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752838994"/>
      </p:ext>
    </p:extLst>
  </p:cSld>
  <p:clrMapOvr>
    <a:masterClrMapping/>
  </p:clrMapOvr>
  <p:transition spd="slow">
    <p:rand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5539978"/>
          </a:xfrm>
          <a:prstGeom prst="rect">
            <a:avLst/>
          </a:prstGeom>
        </p:spPr>
        <p:txBody>
          <a:bodyPr wrap="square">
            <a:spAutoFit/>
          </a:bodyPr>
          <a:lstStyle/>
          <a:p>
            <a:endParaRPr lang="ro-RO" smtClean="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CONTINUE</a:t>
            </a:r>
          </a:p>
          <a:p>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2011)</a:t>
            </a:r>
          </a:p>
          <a:p>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Art</a:t>
            </a:r>
            <a:r>
              <a:rPr lang="ro-RO">
                <a:latin typeface="Arial" panose="020B0604020202020204" pitchFamily="34" charset="0"/>
                <a:cs typeface="Arial" panose="020B0604020202020204" pitchFamily="34" charset="0"/>
              </a:rPr>
              <a:t>. 244. – (1) Ministerul Educaţiei, Cercetării, Tineretului şi Sportului </a:t>
            </a:r>
            <a:r>
              <a:rPr lang="ro-RO" smtClean="0">
                <a:latin typeface="Arial" panose="020B0604020202020204" pitchFamily="34" charset="0"/>
                <a:cs typeface="Arial" panose="020B0604020202020204" pitchFamily="34" charset="0"/>
              </a:rPr>
              <a:t>stabileşte obiectivele </a:t>
            </a:r>
            <a:r>
              <a:rPr lang="ro-RO">
                <a:latin typeface="Arial" panose="020B0604020202020204" pitchFamily="34" charset="0"/>
                <a:cs typeface="Arial" panose="020B0604020202020204" pitchFamily="34" charset="0"/>
              </a:rPr>
              <a:t>şi coordonează formarea continuă a personalului didactic la nivel de sistem </a:t>
            </a:r>
            <a:r>
              <a:rPr lang="ro-RO" smtClean="0">
                <a:latin typeface="Arial" panose="020B0604020202020204" pitchFamily="34" charset="0"/>
                <a:cs typeface="Arial" panose="020B0604020202020204" pitchFamily="34" charset="0"/>
              </a:rPr>
              <a:t>de învăţământ </a:t>
            </a:r>
            <a:r>
              <a:rPr lang="ro-RO">
                <a:latin typeface="Arial" panose="020B0604020202020204" pitchFamily="34" charset="0"/>
                <a:cs typeface="Arial" panose="020B0604020202020204" pitchFamily="34" charset="0"/>
              </a:rPr>
              <a:t>preuniversitar, în conformitate cu strategiile şi politicile naţionale</a:t>
            </a:r>
            <a:r>
              <a:rPr lang="ro-RO" smtClean="0">
                <a:latin typeface="Arial" panose="020B0604020202020204" pitchFamily="34" charset="0"/>
                <a:cs typeface="Arial" panose="020B0604020202020204" pitchFamily="34" charset="0"/>
              </a:rPr>
              <a:t>.</a:t>
            </a:r>
          </a:p>
          <a:p>
            <a:endParaRPr lang="ro-RO">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(2) </a:t>
            </a:r>
            <a:r>
              <a:rPr lang="ro-RO" b="1">
                <a:latin typeface="Arial" panose="020B0604020202020204" pitchFamily="34" charset="0"/>
                <a:cs typeface="Arial" panose="020B0604020202020204" pitchFamily="34" charset="0"/>
              </a:rPr>
              <a:t>Unităţile şi instituţiile de învăţământ preuniversitar, pe baza analizei de </a:t>
            </a:r>
            <a:r>
              <a:rPr lang="ro-RO" b="1" smtClean="0">
                <a:latin typeface="Arial" panose="020B0604020202020204" pitchFamily="34" charset="0"/>
                <a:cs typeface="Arial" panose="020B0604020202020204" pitchFamily="34" charset="0"/>
              </a:rPr>
              <a:t>nevoi,stabilesc </a:t>
            </a:r>
            <a:r>
              <a:rPr lang="ro-RO" b="1">
                <a:latin typeface="Arial" panose="020B0604020202020204" pitchFamily="34" charset="0"/>
                <a:cs typeface="Arial" panose="020B0604020202020204" pitchFamily="34" charset="0"/>
              </a:rPr>
              <a:t>obiectivele şi formarea continuă, inclusiv prin conversie profesională, pentru </a:t>
            </a:r>
            <a:r>
              <a:rPr lang="ro-RO" b="1" smtClean="0">
                <a:latin typeface="Arial" panose="020B0604020202020204" pitchFamily="34" charset="0"/>
                <a:cs typeface="Arial" panose="020B0604020202020204" pitchFamily="34" charset="0"/>
              </a:rPr>
              <a:t>angajaţii proprii.</a:t>
            </a:r>
          </a:p>
          <a:p>
            <a:endParaRPr lang="ro-RO" b="1">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(3) Acreditarea şi evaluarea periodică a furnizorilor de formare continuă şi </a:t>
            </a:r>
            <a:r>
              <a:rPr lang="ro-RO" smtClean="0">
                <a:latin typeface="Arial" panose="020B0604020202020204" pitchFamily="34" charset="0"/>
                <a:cs typeface="Arial" panose="020B0604020202020204" pitchFamily="34" charset="0"/>
              </a:rPr>
              <a:t>a programelor </a:t>
            </a:r>
            <a:r>
              <a:rPr lang="ro-RO">
                <a:latin typeface="Arial" panose="020B0604020202020204" pitchFamily="34" charset="0"/>
                <a:cs typeface="Arial" panose="020B0604020202020204" pitchFamily="34" charset="0"/>
              </a:rPr>
              <a:t>de formare oferite de aceştia, metodologia-cadru de organizare şi desfăşurare </a:t>
            </a:r>
            <a:r>
              <a:rPr lang="ro-RO" smtClean="0">
                <a:latin typeface="Arial" panose="020B0604020202020204" pitchFamily="34" charset="0"/>
                <a:cs typeface="Arial" panose="020B0604020202020204" pitchFamily="34" charset="0"/>
              </a:rPr>
              <a:t>a formării </a:t>
            </a:r>
            <a:r>
              <a:rPr lang="ro-RO">
                <a:latin typeface="Arial" panose="020B0604020202020204" pitchFamily="34" charset="0"/>
                <a:cs typeface="Arial" panose="020B0604020202020204" pitchFamily="34" charset="0"/>
              </a:rPr>
              <a:t>continue sunt realizate de Ministerul Educaţiei, Cercetării, Tineretului şi Sportului, </a:t>
            </a:r>
            <a:r>
              <a:rPr lang="ro-RO" smtClean="0">
                <a:latin typeface="Arial" panose="020B0604020202020204" pitchFamily="34" charset="0"/>
                <a:cs typeface="Arial" panose="020B0604020202020204" pitchFamily="34" charset="0"/>
              </a:rPr>
              <a:t>prin</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direcţiile </a:t>
            </a:r>
            <a:r>
              <a:rPr lang="ro-RO">
                <a:latin typeface="Arial" panose="020B0604020202020204" pitchFamily="34" charset="0"/>
                <a:cs typeface="Arial" panose="020B0604020202020204" pitchFamily="34" charset="0"/>
              </a:rPr>
              <a:t>de specialitate.</a:t>
            </a:r>
          </a:p>
        </p:txBody>
      </p:sp>
    </p:spTree>
    <p:extLst>
      <p:ext uri="{BB962C8B-B14F-4D97-AF65-F5344CB8AC3E}">
        <p14:creationId xmlns="" xmlns:p14="http://schemas.microsoft.com/office/powerpoint/2010/main" val="4020655869"/>
      </p:ext>
    </p:extLst>
  </p:cSld>
  <p:clrMapOvr>
    <a:masterClrMapping/>
  </p:clrMapOvr>
  <p:transition spd="slow">
    <p:rand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2769989"/>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LEGISLAȚIE </a:t>
            </a:r>
            <a:r>
              <a:rPr lang="ro-RO" sz="2400" b="1">
                <a:latin typeface="Arial" panose="020B0604020202020204" pitchFamily="34" charset="0"/>
                <a:cs typeface="Arial" panose="020B0604020202020204" pitchFamily="34" charset="0"/>
              </a:rPr>
              <a:t>ȘCOLARĂ ÎN DOMENIUL FORMĂRII CONTINUE</a:t>
            </a:r>
          </a:p>
          <a:p>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a:t>
            </a:r>
            <a:r>
              <a:rPr lang="ro-RO" b="1" smtClean="0">
                <a:latin typeface="Arial" panose="020B0604020202020204" pitchFamily="34" charset="0"/>
                <a:cs typeface="Arial" panose="020B0604020202020204" pitchFamily="34" charset="0"/>
              </a:rPr>
              <a:t>2011)</a:t>
            </a:r>
          </a:p>
          <a:p>
            <a:endParaRPr lang="ro-RO" b="1">
              <a:latin typeface="Arial" panose="020B0604020202020204" pitchFamily="34" charset="0"/>
              <a:cs typeface="Arial" panose="020B0604020202020204" pitchFamily="34" charset="0"/>
            </a:endParaRPr>
          </a:p>
          <a:p>
            <a:pPr algn="just"/>
            <a:r>
              <a:rPr lang="ro-RO" b="1" smtClean="0">
                <a:latin typeface="Arial" panose="020B0604020202020204" pitchFamily="34" charset="0"/>
                <a:cs typeface="Arial" panose="020B0604020202020204" pitchFamily="34" charset="0"/>
              </a:rPr>
              <a:t>(</a:t>
            </a:r>
            <a:r>
              <a:rPr lang="ro-RO" b="1">
                <a:latin typeface="Arial" panose="020B0604020202020204" pitchFamily="34" charset="0"/>
                <a:cs typeface="Arial" panose="020B0604020202020204" pitchFamily="34" charset="0"/>
              </a:rPr>
              <a:t>4) Casele corpului didactic sunt centre de resurse şi asistenţă educaţională </a:t>
            </a:r>
            <a:r>
              <a:rPr lang="ro-RO" b="1" smtClean="0">
                <a:latin typeface="Arial" panose="020B0604020202020204" pitchFamily="34" charset="0"/>
                <a:cs typeface="Arial" panose="020B0604020202020204" pitchFamily="34" charset="0"/>
              </a:rPr>
              <a:t>şi managerială </a:t>
            </a:r>
            <a:r>
              <a:rPr lang="ro-RO" b="1">
                <a:latin typeface="Arial" panose="020B0604020202020204" pitchFamily="34" charset="0"/>
                <a:cs typeface="Arial" panose="020B0604020202020204" pitchFamily="34" charset="0"/>
              </a:rPr>
              <a:t>pentru cadrele didactice şi didactice auxiliare şi se pot acredita ca furnizori de </a:t>
            </a:r>
            <a:r>
              <a:rPr lang="ro-RO" b="1" smtClean="0">
                <a:latin typeface="Arial" panose="020B0604020202020204" pitchFamily="34" charset="0"/>
                <a:cs typeface="Arial" panose="020B0604020202020204" pitchFamily="34" charset="0"/>
              </a:rPr>
              <a:t>formare continuă.</a:t>
            </a:r>
          </a:p>
        </p:txBody>
      </p:sp>
    </p:spTree>
    <p:extLst>
      <p:ext uri="{BB962C8B-B14F-4D97-AF65-F5344CB8AC3E}">
        <p14:creationId xmlns="" xmlns:p14="http://schemas.microsoft.com/office/powerpoint/2010/main" val="1095808301"/>
      </p:ext>
    </p:extLst>
  </p:cSld>
  <p:clrMapOvr>
    <a:masterClrMapping/>
  </p:clrMapOvr>
  <p:transition spd="slow">
    <p:rand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5816977"/>
          </a:xfrm>
          <a:prstGeom prst="rect">
            <a:avLst/>
          </a:prstGeom>
        </p:spPr>
        <p:txBody>
          <a:bodyPr wrap="square">
            <a:spAutoFit/>
          </a:bodyPr>
          <a:lstStyle/>
          <a:p>
            <a:endParaRPr lang="ro-RO">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CONTINUE</a:t>
            </a:r>
          </a:p>
          <a:p>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a:t>
            </a:r>
            <a:r>
              <a:rPr lang="ro-RO" b="1" smtClean="0">
                <a:latin typeface="Arial" panose="020B0604020202020204" pitchFamily="34" charset="0"/>
                <a:cs typeface="Arial" panose="020B0604020202020204" pitchFamily="34" charset="0"/>
              </a:rPr>
              <a:t>2011)</a:t>
            </a:r>
            <a:endParaRPr lang="ro-RO" b="1">
              <a:latin typeface="Arial" panose="020B0604020202020204" pitchFamily="34" charset="0"/>
              <a:cs typeface="Arial" panose="020B0604020202020204" pitchFamily="34" charset="0"/>
            </a:endParaRPr>
          </a:p>
          <a:p>
            <a:endParaRPr lang="ro-RO" smtClean="0">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t>
            </a:r>
            <a:r>
              <a:rPr lang="ro-RO">
                <a:latin typeface="Arial" panose="020B0604020202020204" pitchFamily="34" charset="0"/>
                <a:cs typeface="Arial" panose="020B0604020202020204" pitchFamily="34" charset="0"/>
              </a:rPr>
              <a:t>5) Dezvoltarea profesională a personalului didactic, de conducere, de îndrumare şi </a:t>
            </a:r>
            <a:r>
              <a:rPr lang="ro-RO" smtClean="0">
                <a:latin typeface="Arial" panose="020B0604020202020204" pitchFamily="34" charset="0"/>
                <a:cs typeface="Arial" panose="020B0604020202020204" pitchFamily="34" charset="0"/>
              </a:rPr>
              <a:t>de control </a:t>
            </a:r>
            <a:r>
              <a:rPr lang="ro-RO">
                <a:latin typeface="Arial" panose="020B0604020202020204" pitchFamily="34" charset="0"/>
                <a:cs typeface="Arial" panose="020B0604020202020204" pitchFamily="34" charset="0"/>
              </a:rPr>
              <a:t>şi recalificarea profesională sunt fundamentate pe standardele profesionale </a:t>
            </a:r>
            <a:r>
              <a:rPr lang="ro-RO" smtClean="0">
                <a:latin typeface="Arial" panose="020B0604020202020204" pitchFamily="34" charset="0"/>
                <a:cs typeface="Arial" panose="020B0604020202020204" pitchFamily="34" charset="0"/>
              </a:rPr>
              <a:t>pentru profesiunea </a:t>
            </a:r>
            <a:r>
              <a:rPr lang="ro-RO">
                <a:latin typeface="Arial" panose="020B0604020202020204" pitchFamily="34" charset="0"/>
                <a:cs typeface="Arial" panose="020B0604020202020204" pitchFamily="34" charset="0"/>
              </a:rPr>
              <a:t>didactică, standarde de calitate şi competenţe profesionale şi au următoarele </a:t>
            </a:r>
            <a:r>
              <a:rPr lang="ro-RO" smtClean="0">
                <a:latin typeface="Arial" panose="020B0604020202020204" pitchFamily="34" charset="0"/>
                <a:cs typeface="Arial" panose="020B0604020202020204" pitchFamily="34" charset="0"/>
              </a:rPr>
              <a:t>finalităţi generale</a:t>
            </a:r>
            <a:r>
              <a:rPr lang="ro-RO">
                <a:latin typeface="Arial" panose="020B0604020202020204" pitchFamily="34" charset="0"/>
                <a:cs typeface="Arial" panose="020B0604020202020204" pitchFamily="34" charset="0"/>
              </a:rPr>
              <a:t>:</a:t>
            </a:r>
          </a:p>
          <a:p>
            <a:pPr lvl="1"/>
            <a:r>
              <a:rPr lang="ro-RO" smtClean="0">
                <a:latin typeface="Arial" panose="020B0604020202020204" pitchFamily="34" charset="0"/>
                <a:cs typeface="Arial" panose="020B0604020202020204" pitchFamily="34" charset="0"/>
              </a:rPr>
              <a:t>a</a:t>
            </a:r>
            <a:r>
              <a:rPr lang="ro-RO">
                <a:latin typeface="Arial" panose="020B0604020202020204" pitchFamily="34" charset="0"/>
                <a:cs typeface="Arial" panose="020B0604020202020204" pitchFamily="34" charset="0"/>
              </a:rPr>
              <a:t>) actualizarea şi dezvoltarea competenţelor în domeniul de specializare </a:t>
            </a:r>
            <a:r>
              <a:rPr lang="ro-RO" smtClean="0">
                <a:latin typeface="Arial" panose="020B0604020202020204" pitchFamily="34" charset="0"/>
                <a:cs typeface="Arial" panose="020B0604020202020204" pitchFamily="34" charset="0"/>
              </a:rPr>
              <a:t>corespunzător funcţiei </a:t>
            </a:r>
            <a:r>
              <a:rPr lang="ro-RO">
                <a:latin typeface="Arial" panose="020B0604020202020204" pitchFamily="34" charset="0"/>
                <a:cs typeface="Arial" panose="020B0604020202020204" pitchFamily="34" charset="0"/>
              </a:rPr>
              <a:t>didactice ocupate, precum şi în domeniul psihopedagogic şi metodic;</a:t>
            </a:r>
          </a:p>
          <a:p>
            <a:pPr lvl="1"/>
            <a:r>
              <a:rPr lang="ro-RO" smtClean="0">
                <a:latin typeface="Arial" panose="020B0604020202020204" pitchFamily="34" charset="0"/>
                <a:cs typeface="Arial" panose="020B0604020202020204" pitchFamily="34" charset="0"/>
              </a:rPr>
              <a:t>b</a:t>
            </a:r>
            <a:r>
              <a:rPr lang="ro-RO">
                <a:latin typeface="Arial" panose="020B0604020202020204" pitchFamily="34" charset="0"/>
                <a:cs typeface="Arial" panose="020B0604020202020204" pitchFamily="34" charset="0"/>
              </a:rPr>
              <a:t>) dezvoltarea competenţelor pentru evoluţia în cariera didactică, prin sistemul </a:t>
            </a:r>
            <a:r>
              <a:rPr lang="ro-RO" smtClean="0">
                <a:latin typeface="Arial" panose="020B0604020202020204" pitchFamily="34" charset="0"/>
                <a:cs typeface="Arial" panose="020B0604020202020204" pitchFamily="34" charset="0"/>
              </a:rPr>
              <a:t>de pregătire </a:t>
            </a:r>
            <a:r>
              <a:rPr lang="ro-RO">
                <a:latin typeface="Arial" panose="020B0604020202020204" pitchFamily="34" charset="0"/>
                <a:cs typeface="Arial" panose="020B0604020202020204" pitchFamily="34" charset="0"/>
              </a:rPr>
              <a:t>şi obţinere a gradelor didactice;</a:t>
            </a:r>
          </a:p>
          <a:p>
            <a:pPr lvl="1"/>
            <a:r>
              <a:rPr lang="ro-RO" smtClean="0">
                <a:latin typeface="Arial" panose="020B0604020202020204" pitchFamily="34" charset="0"/>
                <a:cs typeface="Arial" panose="020B0604020202020204" pitchFamily="34" charset="0"/>
              </a:rPr>
              <a:t>c</a:t>
            </a:r>
            <a:r>
              <a:rPr lang="ro-RO">
                <a:latin typeface="Arial" panose="020B0604020202020204" pitchFamily="34" charset="0"/>
                <a:cs typeface="Arial" panose="020B0604020202020204" pitchFamily="34" charset="0"/>
              </a:rPr>
              <a:t>) dobândirea sau dezvoltarea competenţelor de </a:t>
            </a:r>
            <a:r>
              <a:rPr lang="ro-RO" smtClean="0">
                <a:latin typeface="Arial" panose="020B0604020202020204" pitchFamily="34" charset="0"/>
                <a:cs typeface="Arial" panose="020B0604020202020204" pitchFamily="34" charset="0"/>
              </a:rPr>
              <a:t>conducere</a:t>
            </a:r>
            <a:r>
              <a:rPr lang="ro-RO">
                <a:latin typeface="Arial" panose="020B0604020202020204" pitchFamily="34" charset="0"/>
                <a:cs typeface="Arial" panose="020B0604020202020204" pitchFamily="34" charset="0"/>
              </a:rPr>
              <a:t>, de îndrumare şi de control</a:t>
            </a:r>
            <a:r>
              <a:rPr lang="ro-RO" smtClean="0">
                <a:latin typeface="Arial" panose="020B0604020202020204" pitchFamily="34" charset="0"/>
                <a:cs typeface="Arial" panose="020B0604020202020204" pitchFamily="34" charset="0"/>
              </a:rPr>
              <a:t>;</a:t>
            </a:r>
          </a:p>
          <a:p>
            <a:pPr lvl="1"/>
            <a:r>
              <a:rPr lang="ro-RO">
                <a:latin typeface="Arial" panose="020B0604020202020204" pitchFamily="34" charset="0"/>
                <a:cs typeface="Arial" panose="020B0604020202020204" pitchFamily="34" charset="0"/>
              </a:rPr>
              <a:t>d) dobândirea de noi competenţe, prin programe de conversie pentru noi specializări şi/sau ocuparea de noi funcţii didactice, altele decât cele ocupate în baza formării iniţiale</a:t>
            </a:r>
            <a:r>
              <a:rPr lang="ro-RO"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320755352"/>
      </p:ext>
    </p:extLst>
  </p:cSld>
  <p:clrMapOvr>
    <a:masterClrMapping/>
  </p:clrMapOvr>
  <p:transition spd="slow">
    <p:rand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4352" y="116632"/>
            <a:ext cx="7992888" cy="6093976"/>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LEGISLAȚIE </a:t>
            </a:r>
            <a:r>
              <a:rPr lang="ro-RO" sz="2400" b="1">
                <a:latin typeface="Arial" panose="020B0604020202020204" pitchFamily="34" charset="0"/>
                <a:cs typeface="Arial" panose="020B0604020202020204" pitchFamily="34" charset="0"/>
              </a:rPr>
              <a:t>ȘCOLARĂ ÎN DOMENIUL FORMĂRII CONTINUE</a:t>
            </a:r>
          </a:p>
          <a:p>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a:t>
            </a:r>
            <a:r>
              <a:rPr lang="ro-RO" b="1" smtClean="0">
                <a:latin typeface="Arial" panose="020B0604020202020204" pitchFamily="34" charset="0"/>
                <a:cs typeface="Arial" panose="020B0604020202020204" pitchFamily="34" charset="0"/>
              </a:rPr>
              <a:t>2011)</a:t>
            </a:r>
          </a:p>
          <a:p>
            <a:pPr algn="ctr"/>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e</a:t>
            </a:r>
            <a:r>
              <a:rPr lang="ro-RO">
                <a:latin typeface="Arial" panose="020B0604020202020204" pitchFamily="34" charset="0"/>
                <a:cs typeface="Arial" panose="020B0604020202020204" pitchFamily="34" charset="0"/>
              </a:rPr>
              <a:t>) dobândirea unor competenţe complementare prin care se extinde categoria </a:t>
            </a:r>
            <a:r>
              <a:rPr lang="ro-RO" smtClean="0">
                <a:latin typeface="Arial" panose="020B0604020202020204" pitchFamily="34" charset="0"/>
                <a:cs typeface="Arial" panose="020B0604020202020204" pitchFamily="34" charset="0"/>
              </a:rPr>
              <a:t>de activităţi </a:t>
            </a:r>
            <a:r>
              <a:rPr lang="ro-RO">
                <a:latin typeface="Arial" panose="020B0604020202020204" pitchFamily="34" charset="0"/>
                <a:cs typeface="Arial" panose="020B0604020202020204" pitchFamily="34" charset="0"/>
              </a:rPr>
              <a:t>ce pot fi prestate în activitatea curentă, cum ar fi predarea asistată de calculator, </a:t>
            </a:r>
            <a:r>
              <a:rPr lang="ro-RO" smtClean="0">
                <a:latin typeface="Arial" panose="020B0604020202020204" pitchFamily="34" charset="0"/>
                <a:cs typeface="Arial" panose="020B0604020202020204" pitchFamily="34" charset="0"/>
              </a:rPr>
              <a:t>predarea în </a:t>
            </a:r>
            <a:r>
              <a:rPr lang="ro-RO">
                <a:latin typeface="Arial" panose="020B0604020202020204" pitchFamily="34" charset="0"/>
                <a:cs typeface="Arial" panose="020B0604020202020204" pitchFamily="34" charset="0"/>
              </a:rPr>
              <a:t>limbi străine, consilierea educaţională şi orientarea în carieră, educaţia adulţilor şi altele;</a:t>
            </a:r>
          </a:p>
          <a:p>
            <a:r>
              <a:rPr lang="ro-RO">
                <a:latin typeface="Arial" panose="020B0604020202020204" pitchFamily="34" charset="0"/>
                <a:cs typeface="Arial" panose="020B0604020202020204" pitchFamily="34" charset="0"/>
              </a:rPr>
              <a:t>f) dezvoltarea şi extinderea competenţelor transversale privind interacţiunea </a:t>
            </a:r>
            <a:r>
              <a:rPr lang="ro-RO" smtClean="0">
                <a:latin typeface="Arial" panose="020B0604020202020204" pitchFamily="34" charset="0"/>
                <a:cs typeface="Arial" panose="020B0604020202020204" pitchFamily="34" charset="0"/>
              </a:rPr>
              <a:t>şi comunicarea </a:t>
            </a:r>
            <a:r>
              <a:rPr lang="ro-RO">
                <a:latin typeface="Arial" panose="020B0604020202020204" pitchFamily="34" charset="0"/>
                <a:cs typeface="Arial" panose="020B0604020202020204" pitchFamily="34" charset="0"/>
              </a:rPr>
              <a:t>cu mediul social şi cu mediul pedagogic, asumarea de responsabilităţi </a:t>
            </a:r>
            <a:r>
              <a:rPr lang="ro-RO" smtClean="0">
                <a:latin typeface="Arial" panose="020B0604020202020204" pitchFamily="34" charset="0"/>
                <a:cs typeface="Arial" panose="020B0604020202020204" pitchFamily="34" charset="0"/>
              </a:rPr>
              <a:t>privind organizarea</a:t>
            </a:r>
            <a:r>
              <a:rPr lang="ro-RO">
                <a:latin typeface="Arial" panose="020B0604020202020204" pitchFamily="34" charset="0"/>
                <a:cs typeface="Arial" panose="020B0604020202020204" pitchFamily="34" charset="0"/>
              </a:rPr>
              <a:t>, conducerea şi îmbunătăţirea performanţei strategice a grupurilor profesionale,</a:t>
            </a:r>
          </a:p>
          <a:p>
            <a:r>
              <a:rPr lang="ro-RO">
                <a:latin typeface="Arial" panose="020B0604020202020204" pitchFamily="34" charset="0"/>
                <a:cs typeface="Arial" panose="020B0604020202020204" pitchFamily="34" charset="0"/>
              </a:rPr>
              <a:t>autocontrolul şi analiza reflexivă a propriei activităţi şi altele</a:t>
            </a:r>
            <a:r>
              <a:rPr lang="ro-RO" smtClean="0">
                <a:latin typeface="Arial" panose="020B0604020202020204" pitchFamily="34" charset="0"/>
                <a:cs typeface="Arial" panose="020B0604020202020204" pitchFamily="34" charset="0"/>
              </a:rPr>
              <a:t>.</a:t>
            </a:r>
          </a:p>
          <a:p>
            <a:endParaRPr lang="ro-RO" smtClean="0">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(6) Descrierea competenţelor menţionate, precum şi a modalităţilor de evaluare </a:t>
            </a:r>
            <a:r>
              <a:rPr lang="ro-RO" smtClean="0">
                <a:latin typeface="Arial" panose="020B0604020202020204" pitchFamily="34" charset="0"/>
                <a:cs typeface="Arial" panose="020B0604020202020204" pitchFamily="34" charset="0"/>
              </a:rPr>
              <a:t>şi certificare </a:t>
            </a:r>
            <a:r>
              <a:rPr lang="ro-RO">
                <a:latin typeface="Arial" panose="020B0604020202020204" pitchFamily="34" charset="0"/>
                <a:cs typeface="Arial" panose="020B0604020202020204" pitchFamily="34" charset="0"/>
              </a:rPr>
              <a:t>a acestora în cadrul sistemului de credite profesionale transferabile se realizează </a:t>
            </a:r>
            <a:r>
              <a:rPr lang="ro-RO" smtClean="0">
                <a:latin typeface="Arial" panose="020B0604020202020204" pitchFamily="34" charset="0"/>
                <a:cs typeface="Arial" panose="020B0604020202020204" pitchFamily="34" charset="0"/>
              </a:rPr>
              <a:t>prin </a:t>
            </a:r>
            <a:r>
              <a:rPr lang="ro-RO" b="1" smtClean="0">
                <a:latin typeface="Arial" panose="020B0604020202020204" pitchFamily="34" charset="0"/>
                <a:cs typeface="Arial" panose="020B0604020202020204" pitchFamily="34" charset="0"/>
              </a:rPr>
              <a:t>Metodologia </a:t>
            </a:r>
            <a:r>
              <a:rPr lang="ro-RO" b="1">
                <a:latin typeface="Arial" panose="020B0604020202020204" pitchFamily="34" charset="0"/>
                <a:cs typeface="Arial" panose="020B0604020202020204" pitchFamily="34" charset="0"/>
              </a:rPr>
              <a:t>formării continue a personalului didactic, de conducere, de îndrumare şi </a:t>
            </a:r>
            <a:r>
              <a:rPr lang="ro-RO" b="1" smtClean="0">
                <a:latin typeface="Arial" panose="020B0604020202020204" pitchFamily="34" charset="0"/>
                <a:cs typeface="Arial" panose="020B0604020202020204" pitchFamily="34" charset="0"/>
              </a:rPr>
              <a:t>de (OMECTS nr. 5561/2011)</a:t>
            </a:r>
            <a:r>
              <a:rPr lang="ro-RO"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184745310"/>
      </p:ext>
    </p:extLst>
  </p:cSld>
  <p:clrMapOvr>
    <a:masterClrMapping/>
  </p:clrMapOvr>
  <p:transition spd="slow">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980" y="116632"/>
            <a:ext cx="7992888" cy="5816977"/>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LEGISLAȚIE </a:t>
            </a:r>
            <a:r>
              <a:rPr lang="ro-RO" sz="2400" b="1">
                <a:latin typeface="Arial" panose="020B0604020202020204" pitchFamily="34" charset="0"/>
                <a:cs typeface="Arial" panose="020B0604020202020204" pitchFamily="34" charset="0"/>
              </a:rPr>
              <a:t>ȘCOLARĂ ÎN DOMENIUL FORMĂRII CONTINUE</a:t>
            </a:r>
          </a:p>
          <a:p>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a:t>
            </a:r>
            <a:r>
              <a:rPr lang="ro-RO" b="1" smtClean="0">
                <a:latin typeface="Arial" panose="020B0604020202020204" pitchFamily="34" charset="0"/>
                <a:cs typeface="Arial" panose="020B0604020202020204" pitchFamily="34" charset="0"/>
              </a:rPr>
              <a:t>2011)</a:t>
            </a:r>
            <a:endParaRPr lang="ro-RO" smtClean="0">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Art</a:t>
            </a:r>
            <a:r>
              <a:rPr lang="ro-RO">
                <a:latin typeface="Arial" panose="020B0604020202020204" pitchFamily="34" charset="0"/>
                <a:cs typeface="Arial" panose="020B0604020202020204" pitchFamily="34" charset="0"/>
              </a:rPr>
              <a:t>. 245. – (1) Pentru personalul didactic, de conducere, de îndrumare şi de </a:t>
            </a:r>
            <a:r>
              <a:rPr lang="ro-RO" smtClean="0">
                <a:latin typeface="Arial" panose="020B0604020202020204" pitchFamily="34" charset="0"/>
                <a:cs typeface="Arial" panose="020B0604020202020204" pitchFamily="34" charset="0"/>
              </a:rPr>
              <a:t>control, formarea </a:t>
            </a:r>
            <a:r>
              <a:rPr lang="ro-RO">
                <a:latin typeface="Arial" panose="020B0604020202020204" pitchFamily="34" charset="0"/>
                <a:cs typeface="Arial" panose="020B0604020202020204" pitchFamily="34" charset="0"/>
              </a:rPr>
              <a:t>continuă este un drept şi o obligaţie.</a:t>
            </a:r>
          </a:p>
          <a:p>
            <a:endParaRPr lang="ro-RO" smtClean="0">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t>
            </a:r>
            <a:r>
              <a:rPr lang="ro-RO">
                <a:latin typeface="Arial" panose="020B0604020202020204" pitchFamily="34" charset="0"/>
                <a:cs typeface="Arial" panose="020B0604020202020204" pitchFamily="34" charset="0"/>
              </a:rPr>
              <a:t>2) Organizarea, desfăşurarea, evaluarea şi finanţarea activităţilor de formare </a:t>
            </a:r>
            <a:r>
              <a:rPr lang="ro-RO" smtClean="0">
                <a:latin typeface="Arial" panose="020B0604020202020204" pitchFamily="34" charset="0"/>
                <a:cs typeface="Arial" panose="020B0604020202020204" pitchFamily="34" charset="0"/>
              </a:rPr>
              <a:t>continuă se </a:t>
            </a:r>
            <a:r>
              <a:rPr lang="ro-RO">
                <a:latin typeface="Arial" panose="020B0604020202020204" pitchFamily="34" charset="0"/>
                <a:cs typeface="Arial" panose="020B0604020202020204" pitchFamily="34" charset="0"/>
              </a:rPr>
              <a:t>stabilesc prin metodologie aprobată prin ordin al ministrului educaţiei, cercetării, tineretului </a:t>
            </a:r>
            <a:r>
              <a:rPr lang="ro-RO" smtClean="0">
                <a:latin typeface="Arial" panose="020B0604020202020204" pitchFamily="34" charset="0"/>
                <a:cs typeface="Arial" panose="020B0604020202020204" pitchFamily="34" charset="0"/>
              </a:rPr>
              <a:t>şi sportului.</a:t>
            </a:r>
          </a:p>
          <a:p>
            <a:endParaRPr lang="ro-RO">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(3) Formarea continuă a personalului didactic, de conducere, de îndrumare şi de </a:t>
            </a:r>
            <a:r>
              <a:rPr lang="ro-RO" smtClean="0">
                <a:latin typeface="Arial" panose="020B0604020202020204" pitchFamily="34" charset="0"/>
                <a:cs typeface="Arial" panose="020B0604020202020204" pitchFamily="34" charset="0"/>
              </a:rPr>
              <a:t>control se </a:t>
            </a:r>
            <a:r>
              <a:rPr lang="ro-RO">
                <a:latin typeface="Arial" panose="020B0604020202020204" pitchFamily="34" charset="0"/>
                <a:cs typeface="Arial" panose="020B0604020202020204" pitchFamily="34" charset="0"/>
              </a:rPr>
              <a:t>realizează în funcţie de evoluţiile din domeniul educaţiei şi formării profesionale, inclusiv în </a:t>
            </a:r>
            <a:r>
              <a:rPr lang="ro-RO" smtClean="0">
                <a:latin typeface="Arial" panose="020B0604020202020204" pitchFamily="34" charset="0"/>
                <a:cs typeface="Arial" panose="020B0604020202020204" pitchFamily="34" charset="0"/>
              </a:rPr>
              <a:t>ceea ce </a:t>
            </a:r>
            <a:r>
              <a:rPr lang="ro-RO">
                <a:latin typeface="Arial" panose="020B0604020202020204" pitchFamily="34" charset="0"/>
                <a:cs typeface="Arial" panose="020B0604020202020204" pitchFamily="34" charset="0"/>
              </a:rPr>
              <a:t>priveşte curriculumul naţional, precum şi în funcţie de interesele şi nevoile personale </a:t>
            </a:r>
            <a:r>
              <a:rPr lang="ro-RO" smtClean="0">
                <a:latin typeface="Arial" panose="020B0604020202020204" pitchFamily="34" charset="0"/>
                <a:cs typeface="Arial" panose="020B0604020202020204" pitchFamily="34" charset="0"/>
              </a:rPr>
              <a:t>de dezvoltare.</a:t>
            </a:r>
          </a:p>
          <a:p>
            <a:endParaRPr lang="ro-RO">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(4) Obţinerea prin studiile corespunzătoare a unei noi specializări didactice, diferite </a:t>
            </a:r>
            <a:r>
              <a:rPr lang="ro-RO" smtClean="0">
                <a:latin typeface="Arial" panose="020B0604020202020204" pitchFamily="34" charset="0"/>
                <a:cs typeface="Arial" panose="020B0604020202020204" pitchFamily="34" charset="0"/>
              </a:rPr>
              <a:t>de specializarea </a:t>
            </a:r>
            <a:r>
              <a:rPr lang="ro-RO">
                <a:latin typeface="Arial" panose="020B0604020202020204" pitchFamily="34" charset="0"/>
                <a:cs typeface="Arial" panose="020B0604020202020204" pitchFamily="34" charset="0"/>
              </a:rPr>
              <a:t>curentă, se consideră formare continuă</a:t>
            </a:r>
            <a:r>
              <a:rPr lang="ro-RO"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393724280"/>
      </p:ext>
    </p:extLst>
  </p:cSld>
  <p:clrMapOvr>
    <a:masterClrMapping/>
  </p:clrMapOvr>
  <p:transition spd="slow">
    <p:rand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7693"/>
            <a:ext cx="7992888" cy="5816977"/>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a:t>
            </a:r>
            <a:r>
              <a:rPr lang="ro-RO" sz="2400" b="1" smtClean="0">
                <a:latin typeface="Arial" panose="020B0604020202020204" pitchFamily="34" charset="0"/>
                <a:cs typeface="Arial" panose="020B0604020202020204" pitchFamily="34" charset="0"/>
              </a:rPr>
              <a:t>CONTINUE</a:t>
            </a:r>
          </a:p>
          <a:p>
            <a:pPr algn="ctr"/>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2011)</a:t>
            </a:r>
            <a:endParaRPr lang="ro-RO">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(5) Pe lângă una sau mai multe specializări, cadrele didactice pot dobândi competenţe didactice pentru disciplinele din acelaşi domeniu fundamentat cu domeniul licenţei, prin programe de formare stabilite prin hotărâre a Guvernului</a:t>
            </a:r>
            <a:r>
              <a:rPr lang="ro-RO" smtClean="0">
                <a:latin typeface="Arial" panose="020B0604020202020204" pitchFamily="34" charset="0"/>
                <a:cs typeface="Arial" panose="020B0604020202020204" pitchFamily="34" charset="0"/>
              </a:rPr>
              <a:t>.</a:t>
            </a:r>
          </a:p>
          <a:p>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(6</a:t>
            </a:r>
            <a:r>
              <a:rPr lang="ro-RO">
                <a:latin typeface="Arial" panose="020B0604020202020204" pitchFamily="34" charset="0"/>
                <a:cs typeface="Arial" panose="020B0604020202020204" pitchFamily="34" charset="0"/>
              </a:rPr>
              <a:t>) Personalul didactic, precum şi personalul de conducere, de îndrumare şi de </a:t>
            </a:r>
            <a:r>
              <a:rPr lang="ro-RO" smtClean="0">
                <a:latin typeface="Arial" panose="020B0604020202020204" pitchFamily="34" charset="0"/>
                <a:cs typeface="Arial" panose="020B0604020202020204" pitchFamily="34" charset="0"/>
              </a:rPr>
              <a:t>control din </a:t>
            </a:r>
            <a:r>
              <a:rPr lang="ro-RO">
                <a:latin typeface="Arial" panose="020B0604020202020204" pitchFamily="34" charset="0"/>
                <a:cs typeface="Arial" panose="020B0604020202020204" pitchFamily="34" charset="0"/>
              </a:rPr>
              <a:t>învăţământul preuniversitar este obligat să participe periodic la programe de formare </a:t>
            </a:r>
            <a:r>
              <a:rPr lang="ro-RO" smtClean="0">
                <a:latin typeface="Arial" panose="020B0604020202020204" pitchFamily="34" charset="0"/>
                <a:cs typeface="Arial" panose="020B0604020202020204" pitchFamily="34" charset="0"/>
              </a:rPr>
              <a:t>continuă, astfel </a:t>
            </a:r>
            <a:r>
              <a:rPr lang="ro-RO">
                <a:latin typeface="Arial" panose="020B0604020202020204" pitchFamily="34" charset="0"/>
                <a:cs typeface="Arial" panose="020B0604020202020204" pitchFamily="34" charset="0"/>
              </a:rPr>
              <a:t>încât să acumuleze, la fiecare interval consecutiv de 5 ani, considerat de la data </a:t>
            </a:r>
            <a:r>
              <a:rPr lang="ro-RO" smtClean="0">
                <a:latin typeface="Arial" panose="020B0604020202020204" pitchFamily="34" charset="0"/>
                <a:cs typeface="Arial" panose="020B0604020202020204" pitchFamily="34" charset="0"/>
              </a:rPr>
              <a:t>promovării examenului </a:t>
            </a:r>
            <a:r>
              <a:rPr lang="ro-RO">
                <a:latin typeface="Arial" panose="020B0604020202020204" pitchFamily="34" charset="0"/>
                <a:cs typeface="Arial" panose="020B0604020202020204" pitchFamily="34" charset="0"/>
              </a:rPr>
              <a:t>de </a:t>
            </a:r>
            <a:r>
              <a:rPr lang="ro-RO" smtClean="0">
                <a:latin typeface="Arial" panose="020B0604020202020204" pitchFamily="34" charset="0"/>
                <a:cs typeface="Arial" panose="020B0604020202020204" pitchFamily="34" charset="0"/>
              </a:rPr>
              <a:t>definitivare </a:t>
            </a:r>
            <a:r>
              <a:rPr lang="ro-RO">
                <a:latin typeface="Arial" panose="020B0604020202020204" pitchFamily="34" charset="0"/>
                <a:cs typeface="Arial" panose="020B0604020202020204" pitchFamily="34" charset="0"/>
              </a:rPr>
              <a:t>în învăţământ, minimum 90 de credite profesionale transferabile.</a:t>
            </a:r>
          </a:p>
          <a:p>
            <a:endParaRPr lang="ro-RO" smtClean="0">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t>
            </a:r>
            <a:r>
              <a:rPr lang="ro-RO">
                <a:latin typeface="Arial" panose="020B0604020202020204" pitchFamily="34" charset="0"/>
                <a:cs typeface="Arial" panose="020B0604020202020204" pitchFamily="34" charset="0"/>
              </a:rPr>
              <a:t>7) Programele de conversie profesională intră în atribuţiile instituţiilor de </a:t>
            </a:r>
            <a:r>
              <a:rPr lang="ro-RO" smtClean="0">
                <a:latin typeface="Arial" panose="020B0604020202020204" pitchFamily="34" charset="0"/>
                <a:cs typeface="Arial" panose="020B0604020202020204" pitchFamily="34" charset="0"/>
              </a:rPr>
              <a:t>învăţământ superior </a:t>
            </a:r>
            <a:r>
              <a:rPr lang="ro-RO">
                <a:latin typeface="Arial" panose="020B0604020202020204" pitchFamily="34" charset="0"/>
                <a:cs typeface="Arial" panose="020B0604020202020204" pitchFamily="34" charset="0"/>
              </a:rPr>
              <a:t>şi se desfăşoară în baza unor norme metodologice specifice</a:t>
            </a:r>
            <a:r>
              <a:rPr lang="ro-RO"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3163340835"/>
      </p:ext>
    </p:extLst>
  </p:cSld>
  <p:clrMapOvr>
    <a:masterClrMapping/>
  </p:clrMapOvr>
  <p:transition spd="slow">
    <p:rand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7693"/>
            <a:ext cx="7992888" cy="3600986"/>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a:t>
            </a:r>
            <a:r>
              <a:rPr lang="ro-RO" sz="2400" b="1" smtClean="0">
                <a:latin typeface="Arial" panose="020B0604020202020204" pitchFamily="34" charset="0"/>
                <a:cs typeface="Arial" panose="020B0604020202020204" pitchFamily="34" charset="0"/>
              </a:rPr>
              <a:t>CONTINUE</a:t>
            </a:r>
          </a:p>
          <a:p>
            <a:pPr algn="ctr"/>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LEGEA EDUCAȚIEI NAȚIONALE (LEGEA NR. 1/ 2011)</a:t>
            </a:r>
            <a:endParaRPr lang="ro-RO">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t>
            </a:r>
            <a:r>
              <a:rPr lang="ro-RO">
                <a:latin typeface="Arial" panose="020B0604020202020204" pitchFamily="34" charset="0"/>
                <a:cs typeface="Arial" panose="020B0604020202020204" pitchFamily="34" charset="0"/>
              </a:rPr>
              <a:t>8) Evaluarea şi validarea achiziţiilor dobândite de personalul didactic, de conducere, </a:t>
            </a:r>
            <a:r>
              <a:rPr lang="ro-RO" smtClean="0">
                <a:latin typeface="Arial" panose="020B0604020202020204" pitchFamily="34" charset="0"/>
                <a:cs typeface="Arial" panose="020B0604020202020204" pitchFamily="34" charset="0"/>
              </a:rPr>
              <a:t>de îndrumare </a:t>
            </a:r>
            <a:r>
              <a:rPr lang="ro-RO">
                <a:latin typeface="Arial" panose="020B0604020202020204" pitchFamily="34" charset="0"/>
                <a:cs typeface="Arial" panose="020B0604020202020204" pitchFamily="34" charset="0"/>
              </a:rPr>
              <a:t>şi de control prin diferite programe şi forme de organizare a formării continue </a:t>
            </a:r>
            <a:r>
              <a:rPr lang="ro-RO" smtClean="0">
                <a:latin typeface="Arial" panose="020B0604020202020204" pitchFamily="34" charset="0"/>
                <a:cs typeface="Arial" panose="020B0604020202020204" pitchFamily="34" charset="0"/>
              </a:rPr>
              <a:t>se realizează </a:t>
            </a:r>
            <a:r>
              <a:rPr lang="ro-RO">
                <a:latin typeface="Arial" panose="020B0604020202020204" pitchFamily="34" charset="0"/>
                <a:cs typeface="Arial" panose="020B0604020202020204" pitchFamily="34" charset="0"/>
              </a:rPr>
              <a:t>pe baza sistemului de acumulare, recunoaştere şi echivalare a creditelor </a:t>
            </a:r>
            <a:r>
              <a:rPr lang="ro-RO" smtClean="0">
                <a:latin typeface="Arial" panose="020B0604020202020204" pitchFamily="34" charset="0"/>
                <a:cs typeface="Arial" panose="020B0604020202020204" pitchFamily="34" charset="0"/>
              </a:rPr>
              <a:t>profesionale transferabile</a:t>
            </a:r>
            <a:r>
              <a:rPr lang="ro-RO">
                <a:latin typeface="Arial" panose="020B0604020202020204" pitchFamily="34" charset="0"/>
                <a:cs typeface="Arial" panose="020B0604020202020204" pitchFamily="34" charset="0"/>
              </a:rPr>
              <a:t>, elaborat de Ministerul Educaţiei, Cercetării, Tineretului şi Sportului şi aprobat </a:t>
            </a:r>
            <a:r>
              <a:rPr lang="ro-RO" smtClean="0">
                <a:latin typeface="Arial" panose="020B0604020202020204" pitchFamily="34" charset="0"/>
                <a:cs typeface="Arial" panose="020B0604020202020204" pitchFamily="34" charset="0"/>
              </a:rPr>
              <a:t>prin ordin </a:t>
            </a:r>
            <a:r>
              <a:rPr lang="ro-RO">
                <a:latin typeface="Arial" panose="020B0604020202020204" pitchFamily="34" charset="0"/>
                <a:cs typeface="Arial" panose="020B0604020202020204" pitchFamily="34" charset="0"/>
              </a:rPr>
              <a:t>al ministrului educaţiei, cercetării, tineretului şi sportului.</a:t>
            </a:r>
          </a:p>
        </p:txBody>
      </p:sp>
    </p:spTree>
    <p:extLst>
      <p:ext uri="{BB962C8B-B14F-4D97-AF65-F5344CB8AC3E}">
        <p14:creationId xmlns="" xmlns:p14="http://schemas.microsoft.com/office/powerpoint/2010/main" val="1078307147"/>
      </p:ext>
    </p:extLst>
  </p:cSld>
  <p:clrMapOvr>
    <a:masterClrMapping/>
  </p:clrMapOvr>
  <p:transition spd="slow">
    <p:rand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82942"/>
            <a:ext cx="8064896" cy="6586418"/>
          </a:xfrm>
          <a:prstGeom prst="rect">
            <a:avLst/>
          </a:prstGeom>
        </p:spPr>
        <p:txBody>
          <a:bodyPr wrap="square">
            <a:spAutoFit/>
          </a:bodyPr>
          <a:lstStyle/>
          <a:p>
            <a:endParaRPr lang="ro-RO" smtClean="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LEGISLAȚIE ȘCOLARĂ ÎN DOMENIUL FORMĂRII </a:t>
            </a:r>
            <a:r>
              <a:rPr lang="ro-RO" sz="2400" b="1" smtClean="0">
                <a:latin typeface="Arial" panose="020B0604020202020204" pitchFamily="34" charset="0"/>
                <a:cs typeface="Arial" panose="020B0604020202020204" pitchFamily="34" charset="0"/>
              </a:rPr>
              <a:t>CONTINUE</a:t>
            </a:r>
          </a:p>
          <a:p>
            <a:pPr algn="ctr"/>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OMECTS nr. 5561 privind </a:t>
            </a:r>
            <a:r>
              <a:rPr lang="ro-RO" b="1" smtClean="0">
                <a:latin typeface="Arial" panose="020B0604020202020204" pitchFamily="34" charset="0"/>
                <a:cs typeface="Arial" panose="020B0604020202020204" pitchFamily="34" charset="0"/>
              </a:rPr>
              <a:t>METODOLOGIA </a:t>
            </a:r>
            <a:r>
              <a:rPr lang="ro-RO" b="1">
                <a:latin typeface="Arial" panose="020B0604020202020204" pitchFamily="34" charset="0"/>
                <a:cs typeface="Arial" panose="020B0604020202020204" pitchFamily="34" charset="0"/>
              </a:rPr>
              <a:t>DE FORMARE CONTINUĂ A </a:t>
            </a:r>
            <a:r>
              <a:rPr lang="vi-VN" b="1">
                <a:latin typeface="Arial" panose="020B0604020202020204" pitchFamily="34" charset="0"/>
                <a:cs typeface="Arial" panose="020B0604020202020204" pitchFamily="34" charset="0"/>
              </a:rPr>
              <a:t>P</a:t>
            </a:r>
            <a:r>
              <a:rPr lang="ro-RO" b="1">
                <a:latin typeface="Arial" panose="020B0604020202020204" pitchFamily="34" charset="0"/>
                <a:cs typeface="Arial" panose="020B0604020202020204" pitchFamily="34" charset="0"/>
              </a:rPr>
              <a:t>ERSONALULUI DIN ÎNVĂȚĂMÂNTUL </a:t>
            </a:r>
            <a:r>
              <a:rPr lang="ro-RO" b="1" smtClean="0">
                <a:latin typeface="Arial" panose="020B0604020202020204" pitchFamily="34" charset="0"/>
                <a:cs typeface="Arial" panose="020B0604020202020204" pitchFamily="34" charset="0"/>
              </a:rPr>
              <a:t>PREUNIVERSITAR</a:t>
            </a:r>
            <a:endParaRPr lang="ro-RO" b="1">
              <a:latin typeface="Arial" panose="020B0604020202020204" pitchFamily="34" charset="0"/>
              <a:cs typeface="Arial" panose="020B0604020202020204" pitchFamily="34" charset="0"/>
            </a:endParaRPr>
          </a:p>
          <a:p>
            <a:endParaRPr lang="ro-RO" smtClean="0">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Art</a:t>
            </a:r>
            <a:r>
              <a:rPr lang="ro-RO">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4</a:t>
            </a:r>
          </a:p>
          <a:p>
            <a:endParaRPr lang="ro-RO">
              <a:latin typeface="Arial" panose="020B0604020202020204" pitchFamily="34" charset="0"/>
              <a:cs typeface="Arial" panose="020B0604020202020204" pitchFamily="34" charset="0"/>
            </a:endParaRPr>
          </a:p>
          <a:p>
            <a:r>
              <a:rPr lang="vi-VN">
                <a:latin typeface="Arial" panose="020B0604020202020204" pitchFamily="34" charset="0"/>
                <a:cs typeface="Arial" panose="020B0604020202020204" pitchFamily="34" charset="0"/>
              </a:rPr>
              <a:t>(1</a:t>
            </a:r>
            <a:r>
              <a:rPr lang="vi-VN" smtClean="0">
                <a:latin typeface="Arial" panose="020B0604020202020204" pitchFamily="34" charset="0"/>
                <a:cs typeface="Arial" panose="020B0604020202020204" pitchFamily="34" charset="0"/>
              </a:rPr>
              <a:t>)</a:t>
            </a:r>
            <a:r>
              <a:rPr lang="ro-RO" smtClean="0">
                <a:latin typeface="Arial" panose="020B0604020202020204" pitchFamily="34" charset="0"/>
                <a:cs typeface="Arial" panose="020B0604020202020204" pitchFamily="34" charset="0"/>
              </a:rPr>
              <a:t> </a:t>
            </a:r>
            <a:r>
              <a:rPr lang="vi-VN" smtClean="0">
                <a:latin typeface="Arial" panose="020B0604020202020204" pitchFamily="34" charset="0"/>
                <a:cs typeface="Arial" panose="020B0604020202020204" pitchFamily="34" charset="0"/>
              </a:rPr>
              <a:t>Formarea </a:t>
            </a:r>
            <a:r>
              <a:rPr lang="vi-VN">
                <a:latin typeface="Arial" panose="020B0604020202020204" pitchFamily="34" charset="0"/>
                <a:cs typeface="Arial" panose="020B0604020202020204" pitchFamily="34" charset="0"/>
              </a:rPr>
              <a:t>continuă se realizează în principal prin:</a:t>
            </a:r>
          </a:p>
          <a:p>
            <a:r>
              <a:rPr lang="pt-BR">
                <a:latin typeface="Arial" panose="020B0604020202020204" pitchFamily="34" charset="0"/>
                <a:cs typeface="Arial" panose="020B0604020202020204" pitchFamily="34" charset="0"/>
              </a:rPr>
              <a:t>a)programe şi activităţi de perfecţionare a pregătirii ştiinţifice, psihopedagogice şi didactice</a:t>
            </a:r>
          </a:p>
          <a:p>
            <a:r>
              <a:rPr lang="vi-VN">
                <a:latin typeface="Arial" panose="020B0604020202020204" pitchFamily="34" charset="0"/>
                <a:cs typeface="Arial" panose="020B0604020202020204" pitchFamily="34" charset="0"/>
              </a:rPr>
              <a:t>b)programe de formare în domeniile conducerii, îndrumării şi evaluării învăţământului;</a:t>
            </a:r>
          </a:p>
          <a:p>
            <a:r>
              <a:rPr lang="vi-VN">
                <a:latin typeface="Arial" panose="020B0604020202020204" pitchFamily="34" charset="0"/>
                <a:cs typeface="Arial" panose="020B0604020202020204" pitchFamily="34" charset="0"/>
              </a:rPr>
              <a:t>c)cursuri de pregătire şi susţinerea examenelor de obţinere a gradelor didactice II şi I;</a:t>
            </a:r>
          </a:p>
          <a:p>
            <a:r>
              <a:rPr lang="vi-VN">
                <a:latin typeface="Arial" panose="020B0604020202020204" pitchFamily="34" charset="0"/>
                <a:cs typeface="Arial" panose="020B0604020202020204" pitchFamily="34" charset="0"/>
              </a:rPr>
              <a:t>d)programe de conversie profesională;</a:t>
            </a:r>
          </a:p>
          <a:p>
            <a:r>
              <a:rPr lang="vi-VN">
                <a:latin typeface="Arial" panose="020B0604020202020204" pitchFamily="34" charset="0"/>
                <a:cs typeface="Arial" panose="020B0604020202020204" pitchFamily="34" charset="0"/>
              </a:rPr>
              <a:t>e)studii corespunzătoare unei specializări din alt domeniu de licenţă</a:t>
            </a:r>
            <a:r>
              <a:rPr lang="vi-VN" smtClean="0">
                <a:latin typeface="Arial" panose="020B0604020202020204" pitchFamily="34" charset="0"/>
                <a:cs typeface="Arial" panose="020B0604020202020204" pitchFamily="34" charset="0"/>
              </a:rPr>
              <a:t>.</a:t>
            </a:r>
            <a:endParaRPr lang="ro-RO" smtClean="0">
              <a:latin typeface="Arial" panose="020B0604020202020204" pitchFamily="34" charset="0"/>
              <a:cs typeface="Arial" panose="020B0604020202020204" pitchFamily="34" charset="0"/>
            </a:endParaRPr>
          </a:p>
          <a:p>
            <a:endParaRPr lang="ro-RO" smtClean="0">
              <a:latin typeface="Arial" panose="020B0604020202020204" pitchFamily="34" charset="0"/>
              <a:cs typeface="Arial" panose="020B0604020202020204" pitchFamily="34" charset="0"/>
            </a:endParaRPr>
          </a:p>
          <a:p>
            <a:r>
              <a:rPr lang="it-IT" smtClean="0">
                <a:latin typeface="Arial" panose="020B0604020202020204" pitchFamily="34" charset="0"/>
                <a:cs typeface="Arial" panose="020B0604020202020204" pitchFamily="34" charset="0"/>
              </a:rPr>
              <a:t>(</a:t>
            </a:r>
            <a:r>
              <a:rPr lang="it-IT">
                <a:latin typeface="Arial" panose="020B0604020202020204" pitchFamily="34" charset="0"/>
                <a:cs typeface="Arial" panose="020B0604020202020204" pitchFamily="34" charset="0"/>
              </a:rPr>
              <a:t>2)Formarea continuă şi formarea iniţială sunt concepute ca procese interdependente, între care </a:t>
            </a:r>
            <a:r>
              <a:rPr lang="it-IT" smtClean="0">
                <a:latin typeface="Arial" panose="020B0604020202020204" pitchFamily="34" charset="0"/>
                <a:cs typeface="Arial" panose="020B0604020202020204" pitchFamily="34" charset="0"/>
              </a:rPr>
              <a:t>se</a:t>
            </a:r>
            <a:r>
              <a:rPr lang="ro-RO" smtClean="0">
                <a:latin typeface="Arial" panose="020B0604020202020204" pitchFamily="34" charset="0"/>
                <a:cs typeface="Arial" panose="020B0604020202020204" pitchFamily="34" charset="0"/>
              </a:rPr>
              <a:t> </a:t>
            </a:r>
            <a:r>
              <a:rPr lang="vi-VN" smtClean="0">
                <a:latin typeface="Arial" panose="020B0604020202020204" pitchFamily="34" charset="0"/>
                <a:cs typeface="Arial" panose="020B0604020202020204" pitchFamily="34" charset="0"/>
              </a:rPr>
              <a:t>stabilesc </a:t>
            </a:r>
            <a:r>
              <a:rPr lang="vi-VN">
                <a:latin typeface="Arial" panose="020B0604020202020204" pitchFamily="34" charset="0"/>
                <a:cs typeface="Arial" panose="020B0604020202020204" pitchFamily="34" charset="0"/>
              </a:rPr>
              <a:t>interacţiuni şi pârghii de autoreglare menite să adapteze permanent formarea </a:t>
            </a:r>
            <a:r>
              <a:rPr lang="vi-VN" smtClean="0">
                <a:latin typeface="Arial" panose="020B0604020202020204" pitchFamily="34" charset="0"/>
                <a:cs typeface="Arial" panose="020B0604020202020204" pitchFamily="34" charset="0"/>
              </a:rPr>
              <a:t>personalului</a:t>
            </a:r>
            <a:r>
              <a:rPr lang="ro-RO" smtClean="0">
                <a:latin typeface="Arial" panose="020B0604020202020204" pitchFamily="34" charset="0"/>
                <a:cs typeface="Arial" panose="020B0604020202020204" pitchFamily="34" charset="0"/>
              </a:rPr>
              <a:t> didactic </a:t>
            </a:r>
            <a:r>
              <a:rPr lang="ro-RO">
                <a:latin typeface="Arial" panose="020B0604020202020204" pitchFamily="34" charset="0"/>
                <a:cs typeface="Arial" panose="020B0604020202020204" pitchFamily="34" charset="0"/>
              </a:rPr>
              <a:t>la dinamica proceselor şi sistemelor de educaţie.</a:t>
            </a:r>
          </a:p>
        </p:txBody>
      </p:sp>
    </p:spTree>
    <p:extLst>
      <p:ext uri="{BB962C8B-B14F-4D97-AF65-F5344CB8AC3E}">
        <p14:creationId xmlns="" xmlns:p14="http://schemas.microsoft.com/office/powerpoint/2010/main" val="2792352619"/>
      </p:ext>
    </p:extLst>
  </p:cSld>
  <p:clrMapOvr>
    <a:masterClrMapping/>
  </p:clrMapOvr>
  <p:transition spd="slow">
    <p:rand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5539978"/>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LEGISLAȚIE </a:t>
            </a:r>
            <a:r>
              <a:rPr lang="ro-RO" sz="2400" b="1">
                <a:latin typeface="Arial" panose="020B0604020202020204" pitchFamily="34" charset="0"/>
                <a:cs typeface="Arial" panose="020B0604020202020204" pitchFamily="34" charset="0"/>
              </a:rPr>
              <a:t>ȘCOLARĂ ÎN DOMENIUL FORMĂRII </a:t>
            </a:r>
            <a:r>
              <a:rPr lang="ro-RO" sz="2400" b="1" smtClean="0">
                <a:latin typeface="Arial" panose="020B0604020202020204" pitchFamily="34" charset="0"/>
                <a:cs typeface="Arial" panose="020B0604020202020204" pitchFamily="34" charset="0"/>
              </a:rPr>
              <a:t>CONTINUE</a:t>
            </a:r>
          </a:p>
          <a:p>
            <a:pPr algn="ctr"/>
            <a:endParaRPr lang="ro-RO">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OMECTS nr. 5561 privind </a:t>
            </a:r>
            <a:r>
              <a:rPr lang="ro-RO" b="1" smtClean="0">
                <a:latin typeface="Arial" panose="020B0604020202020204" pitchFamily="34" charset="0"/>
                <a:cs typeface="Arial" panose="020B0604020202020204" pitchFamily="34" charset="0"/>
              </a:rPr>
              <a:t>METODOLOGIA </a:t>
            </a:r>
            <a:r>
              <a:rPr lang="ro-RO" b="1">
                <a:latin typeface="Arial" panose="020B0604020202020204" pitchFamily="34" charset="0"/>
                <a:cs typeface="Arial" panose="020B0604020202020204" pitchFamily="34" charset="0"/>
              </a:rPr>
              <a:t>DE FORMARE CONTINUĂ A </a:t>
            </a:r>
            <a:r>
              <a:rPr lang="vi-VN" b="1">
                <a:latin typeface="Arial" panose="020B0604020202020204" pitchFamily="34" charset="0"/>
                <a:cs typeface="Arial" panose="020B0604020202020204" pitchFamily="34" charset="0"/>
              </a:rPr>
              <a:t>P</a:t>
            </a:r>
            <a:r>
              <a:rPr lang="ro-RO" b="1">
                <a:latin typeface="Arial" panose="020B0604020202020204" pitchFamily="34" charset="0"/>
                <a:cs typeface="Arial" panose="020B0604020202020204" pitchFamily="34" charset="0"/>
              </a:rPr>
              <a:t>ERSONALULUI DIN ÎNVĂȚĂMÂNTUL </a:t>
            </a:r>
            <a:r>
              <a:rPr lang="ro-RO" b="1" smtClean="0">
                <a:latin typeface="Arial" panose="020B0604020202020204" pitchFamily="34" charset="0"/>
                <a:cs typeface="Arial" panose="020B0604020202020204" pitchFamily="34" charset="0"/>
              </a:rPr>
              <a:t>PREUNIVERSITAR</a:t>
            </a:r>
          </a:p>
          <a:p>
            <a:pPr algn="ct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Formarea continuă vizează formarea de competențe. </a:t>
            </a:r>
          </a:p>
          <a:p>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Sistemul de competențe este compatibilizat cu </a:t>
            </a:r>
            <a:r>
              <a:rPr lang="vi-VN" smtClean="0">
                <a:latin typeface="Arial" panose="020B0604020202020204" pitchFamily="34" charset="0"/>
                <a:cs typeface="Arial" panose="020B0604020202020204" pitchFamily="34" charset="0"/>
              </a:rPr>
              <a:t>Cadrul </a:t>
            </a:r>
            <a:r>
              <a:rPr lang="vi-VN">
                <a:latin typeface="Arial" panose="020B0604020202020204" pitchFamily="34" charset="0"/>
                <a:cs typeface="Arial" panose="020B0604020202020204" pitchFamily="34" charset="0"/>
              </a:rPr>
              <a:t>European al Calificărilor (CEC), Cadrul Naţional al Calificărilor </a:t>
            </a:r>
            <a:r>
              <a:rPr lang="vi-VN" smtClean="0">
                <a:latin typeface="Arial" panose="020B0604020202020204" pitchFamily="34" charset="0"/>
                <a:cs typeface="Arial" panose="020B0604020202020204" pitchFamily="34" charset="0"/>
              </a:rPr>
              <a:t>din</a:t>
            </a:r>
            <a:r>
              <a:rPr lang="ro-RO" smtClean="0">
                <a:latin typeface="Arial" panose="020B0604020202020204" pitchFamily="34" charset="0"/>
                <a:cs typeface="Arial" panose="020B0604020202020204" pitchFamily="34" charset="0"/>
              </a:rPr>
              <a:t> </a:t>
            </a:r>
            <a:r>
              <a:rPr lang="vi-VN" smtClean="0">
                <a:latin typeface="Arial" panose="020B0604020202020204" pitchFamily="34" charset="0"/>
                <a:cs typeface="Arial" panose="020B0604020202020204" pitchFamily="34" charset="0"/>
              </a:rPr>
              <a:t>Învăţământul </a:t>
            </a:r>
            <a:r>
              <a:rPr lang="vi-VN">
                <a:latin typeface="Arial" panose="020B0604020202020204" pitchFamily="34" charset="0"/>
                <a:cs typeface="Arial" panose="020B0604020202020204" pitchFamily="34" charset="0"/>
              </a:rPr>
              <a:t>Superior (CNCIS) şi Cadrul European al </a:t>
            </a:r>
            <a:r>
              <a:rPr lang="vi-VN" smtClean="0">
                <a:latin typeface="Arial" panose="020B0604020202020204" pitchFamily="34" charset="0"/>
                <a:cs typeface="Arial" panose="020B0604020202020204" pitchFamily="34" charset="0"/>
              </a:rPr>
              <a:t>Competenţelor</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Art. </a:t>
            </a:r>
            <a:r>
              <a:rPr lang="ro-RO" smtClean="0">
                <a:latin typeface="Arial" panose="020B0604020202020204" pitchFamily="34" charset="0"/>
                <a:cs typeface="Arial" panose="020B0604020202020204" pitchFamily="34" charset="0"/>
              </a:rPr>
              <a:t>91)</a:t>
            </a:r>
            <a:r>
              <a:rPr lang="vi-VN" smtClean="0">
                <a:latin typeface="Arial" panose="020B0604020202020204" pitchFamily="34" charset="0"/>
                <a:cs typeface="Arial" panose="020B0604020202020204" pitchFamily="34" charset="0"/>
              </a:rPr>
              <a:t>.</a:t>
            </a:r>
            <a:endParaRPr lang="ro-RO" smtClean="0">
              <a:latin typeface="Arial" panose="020B0604020202020204" pitchFamily="34" charset="0"/>
              <a:cs typeface="Arial" panose="020B0604020202020204" pitchFamily="34" charset="0"/>
            </a:endParaRPr>
          </a:p>
          <a:p>
            <a:endParaRPr lang="ro-RO" smtClean="0">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Sistemul </a:t>
            </a:r>
            <a:r>
              <a:rPr lang="ro-RO">
                <a:latin typeface="Arial" panose="020B0604020202020204" pitchFamily="34" charset="0"/>
                <a:cs typeface="Arial" panose="020B0604020202020204" pitchFamily="34" charset="0"/>
              </a:rPr>
              <a:t>de competenţe cuprinde cinci categorii </a:t>
            </a:r>
            <a:r>
              <a:rPr lang="ro-RO" smtClean="0">
                <a:latin typeface="Arial" panose="020B0604020202020204" pitchFamily="34" charset="0"/>
                <a:cs typeface="Arial" panose="020B0604020202020204" pitchFamily="34" charset="0"/>
              </a:rPr>
              <a:t>fundamentale (</a:t>
            </a:r>
            <a:r>
              <a:rPr lang="ro-RO">
                <a:latin typeface="Arial" panose="020B0604020202020204" pitchFamily="34" charset="0"/>
                <a:cs typeface="Arial" panose="020B0604020202020204" pitchFamily="34" charset="0"/>
              </a:rPr>
              <a:t>Art. </a:t>
            </a:r>
            <a:r>
              <a:rPr lang="ro-RO" smtClean="0">
                <a:latin typeface="Arial" panose="020B0604020202020204" pitchFamily="34" charset="0"/>
                <a:cs typeface="Arial" panose="020B0604020202020204" pitchFamily="34" charset="0"/>
              </a:rPr>
              <a:t>92):</a:t>
            </a:r>
            <a:endParaRPr lang="ro-RO">
              <a:latin typeface="Arial" panose="020B0604020202020204" pitchFamily="34" charset="0"/>
              <a:cs typeface="Arial" panose="020B0604020202020204" pitchFamily="34" charset="0"/>
            </a:endParaRPr>
          </a:p>
          <a:p>
            <a:pPr marL="285750" indent="-285750">
              <a:buFont typeface="Wingdings" pitchFamily="2" charset="2"/>
              <a:buChar char="Ø"/>
            </a:pPr>
            <a:r>
              <a:rPr lang="it-IT" smtClean="0">
                <a:latin typeface="Arial" panose="020B0604020202020204" pitchFamily="34" charset="0"/>
                <a:cs typeface="Arial" panose="020B0604020202020204" pitchFamily="34" charset="0"/>
              </a:rPr>
              <a:t>competenţe profesionale;</a:t>
            </a:r>
            <a:endParaRPr lang="ro-RO" smtClean="0">
              <a:latin typeface="Arial" panose="020B0604020202020204" pitchFamily="34" charset="0"/>
              <a:cs typeface="Arial" panose="020B0604020202020204" pitchFamily="34" charset="0"/>
            </a:endParaRPr>
          </a:p>
          <a:p>
            <a:pPr marL="285750" indent="-285750">
              <a:buFont typeface="Wingdings" pitchFamily="2" charset="2"/>
              <a:buChar char="Ø"/>
            </a:pPr>
            <a:r>
              <a:rPr lang="it-IT" smtClean="0">
                <a:latin typeface="Arial" panose="020B0604020202020204" pitchFamily="34" charset="0"/>
                <a:cs typeface="Arial" panose="020B0604020202020204" pitchFamily="34" charset="0"/>
              </a:rPr>
              <a:t>competenţe complementare;</a:t>
            </a:r>
            <a:endParaRPr lang="ro-RO" smtClean="0">
              <a:latin typeface="Arial" panose="020B0604020202020204" pitchFamily="34" charset="0"/>
              <a:cs typeface="Arial" panose="020B0604020202020204" pitchFamily="34" charset="0"/>
            </a:endParaRPr>
          </a:p>
          <a:p>
            <a:pPr marL="285750" indent="-285750">
              <a:buFont typeface="Wingdings" pitchFamily="2" charset="2"/>
              <a:buChar char="Ø"/>
            </a:pPr>
            <a:r>
              <a:rPr lang="vi-VN" smtClean="0">
                <a:latin typeface="Arial" panose="020B0604020202020204" pitchFamily="34" charset="0"/>
                <a:cs typeface="Arial" panose="020B0604020202020204" pitchFamily="34" charset="0"/>
              </a:rPr>
              <a:t>competenţe transversale;</a:t>
            </a:r>
            <a:endParaRPr lang="ro-RO">
              <a:latin typeface="Arial" panose="020B0604020202020204" pitchFamily="34" charset="0"/>
              <a:cs typeface="Arial" panose="020B0604020202020204" pitchFamily="34" charset="0"/>
            </a:endParaRPr>
          </a:p>
          <a:p>
            <a:pPr marL="285750" indent="-285750">
              <a:buFont typeface="Wingdings" pitchFamily="2" charset="2"/>
              <a:buChar char="Ø"/>
            </a:pPr>
            <a:r>
              <a:rPr lang="ro-RO" smtClean="0">
                <a:latin typeface="Arial" panose="020B0604020202020204" pitchFamily="34" charset="0"/>
                <a:cs typeface="Arial" panose="020B0604020202020204" pitchFamily="34" charset="0"/>
              </a:rPr>
              <a:t>competenţe </a:t>
            </a:r>
            <a:r>
              <a:rPr lang="ro-RO">
                <a:latin typeface="Arial" panose="020B0604020202020204" pitchFamily="34" charset="0"/>
                <a:cs typeface="Arial" panose="020B0604020202020204" pitchFamily="34" charset="0"/>
              </a:rPr>
              <a:t>de conducere, de îndrumare şi de </a:t>
            </a:r>
            <a:r>
              <a:rPr lang="ro-RO" smtClean="0">
                <a:latin typeface="Arial" panose="020B0604020202020204" pitchFamily="34" charset="0"/>
                <a:cs typeface="Arial" panose="020B0604020202020204" pitchFamily="34" charset="0"/>
              </a:rPr>
              <a:t>control;</a:t>
            </a:r>
          </a:p>
          <a:p>
            <a:pPr marL="285750" indent="-285750">
              <a:buFont typeface="Wingdings" pitchFamily="2" charset="2"/>
              <a:buChar char="Ø"/>
            </a:pPr>
            <a:r>
              <a:rPr lang="it-IT" smtClean="0">
                <a:latin typeface="Arial" panose="020B0604020202020204" pitchFamily="34" charset="0"/>
                <a:cs typeface="Arial" panose="020B0604020202020204" pitchFamily="34" charset="0"/>
              </a:rPr>
              <a:t>competenţe </a:t>
            </a:r>
            <a:r>
              <a:rPr lang="it-IT">
                <a:latin typeface="Arial" panose="020B0604020202020204" pitchFamily="34" charset="0"/>
                <a:cs typeface="Arial" panose="020B0604020202020204" pitchFamily="34" charset="0"/>
              </a:rPr>
              <a:t>dobândite prin programe de conversie profesională</a:t>
            </a:r>
            <a:r>
              <a:rPr lang="it-IT"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349593275"/>
      </p:ext>
    </p:extLst>
  </p:cSld>
  <p:clrMapOvr>
    <a:masterClrMapping/>
  </p:clrMapOvr>
  <p:transition spd="slow">
    <p:rand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3608" y="116632"/>
            <a:ext cx="8064896" cy="3693319"/>
          </a:xfrm>
          <a:prstGeom prst="rect">
            <a:avLst/>
          </a:prstGeom>
          <a:noFill/>
        </p:spPr>
        <p:txBody>
          <a:bodyPr wrap="square" rtlCol="0">
            <a:spAutoFit/>
          </a:bodyPr>
          <a:lstStyle/>
          <a:p>
            <a:pPr algn="ctr"/>
            <a:endParaRPr lang="ro-RO" sz="2400"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OFERTA DE PROGRAME A CCD HUNEDOARA</a:t>
            </a:r>
          </a:p>
          <a:p>
            <a:pPr algn="ctr"/>
            <a:r>
              <a:rPr lang="ro-RO" sz="2400" b="1" smtClean="0">
                <a:latin typeface="Arial" panose="020B0604020202020204" pitchFamily="34" charset="0"/>
                <a:cs typeface="Arial" panose="020B0604020202020204" pitchFamily="34" charset="0"/>
              </a:rPr>
              <a:t>2013 / 2014</a:t>
            </a:r>
          </a:p>
          <a:p>
            <a:pPr algn="ctr"/>
            <a:endParaRPr lang="ro-RO" b="1" smtClean="0">
              <a:latin typeface="Arial" panose="020B0604020202020204" pitchFamily="34" charset="0"/>
              <a:cs typeface="Arial" panose="020B0604020202020204" pitchFamily="34" charset="0"/>
            </a:endParaRPr>
          </a:p>
          <a:p>
            <a:pPr algn="ctr"/>
            <a:endParaRPr lang="ro-RO" b="1">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A fost postată pe site</a:t>
            </a:r>
            <a:r>
              <a:rPr lang="en-US" b="1" smtClean="0">
                <a:latin typeface="Arial" panose="020B0604020202020204" pitchFamily="34" charset="0"/>
                <a:cs typeface="Arial" panose="020B0604020202020204" pitchFamily="34" charset="0"/>
              </a:rPr>
              <a:t>-ul</a:t>
            </a:r>
            <a:r>
              <a:rPr lang="ro-RO" b="1" smtClean="0">
                <a:latin typeface="Arial" panose="020B0604020202020204" pitchFamily="34" charset="0"/>
                <a:cs typeface="Arial" panose="020B0604020202020204" pitchFamily="34" charset="0"/>
              </a:rPr>
              <a:t> CCD Hunedoara la adresa:</a:t>
            </a:r>
          </a:p>
          <a:p>
            <a:pPr algn="ctr"/>
            <a:r>
              <a:rPr lang="ro-RO" b="1" i="1" u="sng" smtClean="0">
                <a:latin typeface="Arial" panose="020B0604020202020204" pitchFamily="34" charset="0"/>
                <a:cs typeface="Arial" panose="020B0604020202020204" pitchFamily="34" charset="0"/>
                <a:hlinkClick r:id="rId2"/>
              </a:rPr>
              <a:t>www.isj.hd.edu.ro/ccd</a:t>
            </a:r>
            <a:endParaRPr lang="ro-RO" b="1" i="1" u="sng" smtClean="0">
              <a:latin typeface="Arial" panose="020B0604020202020204" pitchFamily="34" charset="0"/>
              <a:cs typeface="Arial" panose="020B0604020202020204" pitchFamily="34" charset="0"/>
            </a:endParaRPr>
          </a:p>
          <a:p>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Se pot accesa domeniile: - Știri (inclusiv Arhiva știrilor: 2013)</a:t>
            </a:r>
          </a:p>
          <a:p>
            <a:r>
              <a:rPr lang="ro-RO" b="1">
                <a:latin typeface="Arial" panose="020B0604020202020204" pitchFamily="34" charset="0"/>
                <a:cs typeface="Arial" panose="020B0604020202020204" pitchFamily="34" charset="0"/>
              </a:rPr>
              <a:t>	</a:t>
            </a:r>
            <a:r>
              <a:rPr lang="ro-RO" b="1" smtClean="0">
                <a:latin typeface="Arial" panose="020B0604020202020204" pitchFamily="34" charset="0"/>
                <a:cs typeface="Arial" panose="020B0604020202020204" pitchFamily="34" charset="0"/>
              </a:rPr>
              <a:t>		 - Cursuri/ Noutăți</a:t>
            </a:r>
          </a:p>
          <a:p>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Detalii privind fiecare program: </a:t>
            </a:r>
            <a:r>
              <a:rPr lang="vi-VN">
                <a:latin typeface="Arial" panose="020B0604020202020204" pitchFamily="34" charset="0"/>
                <a:cs typeface="Arial" panose="020B0604020202020204" pitchFamily="34" charset="0"/>
                <a:hlinkClick r:id="rId3" action="ppaction://hlinkfile" tooltip="Prima pagină"/>
              </a:rPr>
              <a:t>Prima pagină</a:t>
            </a:r>
            <a:r>
              <a:rPr lang="vi-VN">
                <a:latin typeface="Arial" panose="020B0604020202020204" pitchFamily="34" charset="0"/>
                <a:cs typeface="Arial" panose="020B0604020202020204" pitchFamily="34" charset="0"/>
              </a:rPr>
              <a:t> → </a:t>
            </a:r>
            <a:r>
              <a:rPr lang="vi-VN">
                <a:latin typeface="Arial" panose="020B0604020202020204" pitchFamily="34" charset="0"/>
                <a:cs typeface="Arial" panose="020B0604020202020204" pitchFamily="34" charset="0"/>
                <a:hlinkClick r:id="rId4" action="ppaction://hlinkfile" tooltip="Cursuri de formare continuă"/>
              </a:rPr>
              <a:t>Cursuri</a:t>
            </a:r>
            <a:r>
              <a:rPr lang="vi-VN">
                <a:latin typeface="Arial" panose="020B0604020202020204" pitchFamily="34" charset="0"/>
                <a:cs typeface="Arial" panose="020B0604020202020204" pitchFamily="34" charset="0"/>
              </a:rPr>
              <a:t> → </a:t>
            </a:r>
            <a:r>
              <a:rPr lang="vi-VN" smtClean="0">
                <a:latin typeface="Arial" panose="020B0604020202020204" pitchFamily="34" charset="0"/>
                <a:cs typeface="Arial" panose="020B0604020202020204" pitchFamily="34" charset="0"/>
                <a:hlinkClick r:id="rId5" action="ppaction://hlinkfile" tooltip="Cursuri - Lista cursurilor"/>
              </a:rPr>
              <a:t>Lista</a:t>
            </a:r>
            <a:endParaRPr lang="ro-RO" b="1">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3834794258"/>
      </p:ext>
    </p:extLst>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6463308"/>
          </a:xfrm>
          <a:prstGeom prst="rect">
            <a:avLst/>
          </a:prstGeom>
        </p:spPr>
        <p:txBody>
          <a:bodyPr wrap="square">
            <a:spAutoFit/>
          </a:bodyPr>
          <a:lstStyle/>
          <a:p>
            <a:pPr algn="ctr"/>
            <a:endParaRPr lang="ro-RO" sz="2400"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OFERTA </a:t>
            </a:r>
            <a:r>
              <a:rPr lang="ro-RO" sz="2400" b="1">
                <a:latin typeface="Arial" panose="020B0604020202020204" pitchFamily="34" charset="0"/>
                <a:cs typeface="Arial" panose="020B0604020202020204" pitchFamily="34" charset="0"/>
              </a:rPr>
              <a:t>DE PROGRAME A CCD </a:t>
            </a:r>
            <a:r>
              <a:rPr lang="ro-RO" sz="2400" b="1" smtClean="0">
                <a:latin typeface="Arial" panose="020B0604020202020204" pitchFamily="34" charset="0"/>
                <a:cs typeface="Arial" panose="020B0604020202020204" pitchFamily="34" charset="0"/>
              </a:rPr>
              <a:t>HUNEDOARA</a:t>
            </a:r>
            <a:endParaRPr lang="ro-RO" sz="2400" b="1">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2013 / 2014</a:t>
            </a:r>
            <a:endParaRPr lang="ro-RO" sz="2400" b="1">
              <a:latin typeface="Arial" panose="020B0604020202020204" pitchFamily="34" charset="0"/>
              <a:cs typeface="Arial" panose="020B0604020202020204" pitchFamily="34" charset="0"/>
            </a:endParaRPr>
          </a:p>
          <a:p>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CATEGORII </a:t>
            </a:r>
            <a:r>
              <a:rPr lang="ro-RO" b="1">
                <a:latin typeface="Arial" panose="020B0604020202020204" pitchFamily="34" charset="0"/>
                <a:cs typeface="Arial" panose="020B0604020202020204" pitchFamily="34" charset="0"/>
              </a:rPr>
              <a:t>DE PROGRAME:</a:t>
            </a:r>
          </a:p>
          <a:p>
            <a:pPr marL="285750" lvl="0" indent="-285750">
              <a:buFont typeface="Wingdings" pitchFamily="2" charset="2"/>
              <a:buChar char="Ø"/>
            </a:pPr>
            <a:r>
              <a:rPr lang="en-US" b="1" err="1">
                <a:latin typeface="Arial" panose="020B0604020202020204" pitchFamily="34" charset="0"/>
                <a:cs typeface="Arial" panose="020B0604020202020204" pitchFamily="34" charset="0"/>
              </a:rPr>
              <a:t>programe</a:t>
            </a:r>
            <a:r>
              <a:rPr lang="en-US" b="1">
                <a:latin typeface="Arial" panose="020B0604020202020204" pitchFamily="34" charset="0"/>
                <a:cs typeface="Arial" panose="020B0604020202020204" pitchFamily="34" charset="0"/>
              </a:rPr>
              <a:t> de </a:t>
            </a:r>
            <a:r>
              <a:rPr lang="en-US" b="1" err="1">
                <a:latin typeface="Arial" panose="020B0604020202020204" pitchFamily="34" charset="0"/>
                <a:cs typeface="Arial" panose="020B0604020202020204" pitchFamily="34" charset="0"/>
              </a:rPr>
              <a:t>formare</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continuă</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avizate</a:t>
            </a:r>
            <a:r>
              <a:rPr lang="en-US" b="1">
                <a:latin typeface="Arial" panose="020B0604020202020204" pitchFamily="34" charset="0"/>
                <a:cs typeface="Arial" panose="020B0604020202020204" pitchFamily="34" charset="0"/>
              </a:rPr>
              <a:t> de ME</a:t>
            </a:r>
            <a:r>
              <a:rPr lang="ro-RO" b="1" smtClean="0">
                <a:latin typeface="Arial" panose="020B0604020202020204" pitchFamily="34" charset="0"/>
                <a:cs typeface="Arial" panose="020B0604020202020204" pitchFamily="34" charset="0"/>
              </a:rPr>
              <a:t>N;</a:t>
            </a:r>
            <a:endParaRPr lang="ro-RO" b="1">
              <a:latin typeface="Arial" panose="020B0604020202020204" pitchFamily="34" charset="0"/>
              <a:cs typeface="Arial" panose="020B0604020202020204" pitchFamily="34" charset="0"/>
            </a:endParaRPr>
          </a:p>
          <a:p>
            <a:pPr marL="285750" lvl="0" indent="-285750">
              <a:buFont typeface="Wingdings" pitchFamily="2" charset="2"/>
              <a:buChar char="Ø"/>
            </a:pPr>
            <a:r>
              <a:rPr lang="en-US" b="1" err="1">
                <a:latin typeface="Arial" panose="020B0604020202020204" pitchFamily="34" charset="0"/>
                <a:cs typeface="Arial" panose="020B0604020202020204" pitchFamily="34" charset="0"/>
              </a:rPr>
              <a:t>programe</a:t>
            </a:r>
            <a:r>
              <a:rPr lang="en-US" b="1">
                <a:latin typeface="Arial" panose="020B0604020202020204" pitchFamily="34" charset="0"/>
                <a:cs typeface="Arial" panose="020B0604020202020204" pitchFamily="34" charset="0"/>
              </a:rPr>
              <a:t> de </a:t>
            </a:r>
            <a:r>
              <a:rPr lang="en-US" b="1" err="1">
                <a:latin typeface="Arial" panose="020B0604020202020204" pitchFamily="34" charset="0"/>
                <a:cs typeface="Arial" panose="020B0604020202020204" pitchFamily="34" charset="0"/>
              </a:rPr>
              <a:t>formare</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continuă</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purtătoare</a:t>
            </a:r>
            <a:r>
              <a:rPr lang="en-US" b="1">
                <a:latin typeface="Arial" panose="020B0604020202020204" pitchFamily="34" charset="0"/>
                <a:cs typeface="Arial" panose="020B0604020202020204" pitchFamily="34" charset="0"/>
              </a:rPr>
              <a:t> de </a:t>
            </a:r>
            <a:r>
              <a:rPr lang="en-US" b="1" err="1">
                <a:latin typeface="Arial" panose="020B0604020202020204" pitchFamily="34" charset="0"/>
                <a:cs typeface="Arial" panose="020B0604020202020204" pitchFamily="34" charset="0"/>
              </a:rPr>
              <a:t>puncte</a:t>
            </a:r>
            <a:r>
              <a:rPr lang="en-US" b="1">
                <a:latin typeface="Arial" panose="020B0604020202020204" pitchFamily="34" charset="0"/>
                <a:cs typeface="Arial" panose="020B0604020202020204" pitchFamily="34" charset="0"/>
              </a:rPr>
              <a:t> de credit</a:t>
            </a:r>
            <a:endParaRPr lang="ro-RO" b="1">
              <a:latin typeface="Arial" panose="020B0604020202020204" pitchFamily="34" charset="0"/>
              <a:cs typeface="Arial" panose="020B0604020202020204" pitchFamily="34" charset="0"/>
            </a:endParaRPr>
          </a:p>
          <a:p>
            <a:pPr marL="285750" lvl="0" indent="-285750">
              <a:buFont typeface="Wingdings" pitchFamily="2" charset="2"/>
              <a:buChar char="Ø"/>
            </a:pPr>
            <a:r>
              <a:rPr lang="en-US" b="1" err="1">
                <a:latin typeface="Arial" panose="020B0604020202020204" pitchFamily="34" charset="0"/>
                <a:cs typeface="Arial" panose="020B0604020202020204" pitchFamily="34" charset="0"/>
              </a:rPr>
              <a:t>cursuri</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autorizate</a:t>
            </a:r>
            <a:r>
              <a:rPr lang="en-US" b="1">
                <a:latin typeface="Arial" panose="020B0604020202020204" pitchFamily="34" charset="0"/>
                <a:cs typeface="Arial" panose="020B0604020202020204" pitchFamily="34" charset="0"/>
              </a:rPr>
              <a:t> ANC (CNFPA</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a:t>
            </a:r>
            <a:endParaRPr lang="ro-RO" b="1">
              <a:latin typeface="Arial" panose="020B0604020202020204" pitchFamily="34" charset="0"/>
              <a:cs typeface="Arial" panose="020B0604020202020204" pitchFamily="34" charset="0"/>
            </a:endParaRPr>
          </a:p>
          <a:p>
            <a:pPr marL="285750" lvl="0" indent="-285750">
              <a:buFont typeface="Wingdings" pitchFamily="2" charset="2"/>
              <a:buChar char="Ø"/>
            </a:pPr>
            <a:r>
              <a:rPr lang="en-US" b="1" err="1">
                <a:latin typeface="Arial" panose="020B0604020202020204" pitchFamily="34" charset="0"/>
                <a:cs typeface="Arial" panose="020B0604020202020204" pitchFamily="34" charset="0"/>
              </a:rPr>
              <a:t>programe</a:t>
            </a:r>
            <a:r>
              <a:rPr lang="en-US" b="1">
                <a:latin typeface="Arial" panose="020B0604020202020204" pitchFamily="34" charset="0"/>
                <a:cs typeface="Arial" panose="020B0604020202020204" pitchFamily="34" charset="0"/>
              </a:rPr>
              <a:t> de </a:t>
            </a:r>
            <a:r>
              <a:rPr lang="en-US" b="1" err="1">
                <a:latin typeface="Arial" panose="020B0604020202020204" pitchFamily="34" charset="0"/>
                <a:cs typeface="Arial" panose="020B0604020202020204" pitchFamily="34" charset="0"/>
              </a:rPr>
              <a:t>formare</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continuă</a:t>
            </a:r>
            <a:r>
              <a:rPr lang="en-US" b="1">
                <a:latin typeface="Arial" panose="020B0604020202020204" pitchFamily="34" charset="0"/>
                <a:cs typeface="Arial" panose="020B0604020202020204" pitchFamily="34" charset="0"/>
              </a:rPr>
              <a:t> </a:t>
            </a:r>
            <a:r>
              <a:rPr lang="en-US" b="1" err="1">
                <a:latin typeface="Arial" panose="020B0604020202020204" pitchFamily="34" charset="0"/>
                <a:cs typeface="Arial" panose="020B0604020202020204" pitchFamily="34" charset="0"/>
              </a:rPr>
              <a:t>în</a:t>
            </a:r>
            <a:r>
              <a:rPr lang="en-US" b="1">
                <a:latin typeface="Arial" panose="020B0604020202020204" pitchFamily="34" charset="0"/>
                <a:cs typeface="Arial" panose="020B0604020202020204" pitchFamily="34" charset="0"/>
              </a:rPr>
              <a:t> curs de </a:t>
            </a:r>
            <a:r>
              <a:rPr lang="en-US" b="1" err="1">
                <a:latin typeface="Arial" panose="020B0604020202020204" pitchFamily="34" charset="0"/>
                <a:cs typeface="Arial" panose="020B0604020202020204" pitchFamily="34" charset="0"/>
              </a:rPr>
              <a:t>acreditare</a:t>
            </a:r>
            <a:r>
              <a:rPr lang="en-US" b="1">
                <a:latin typeface="Arial" panose="020B0604020202020204" pitchFamily="34" charset="0"/>
                <a:cs typeface="Arial" panose="020B0604020202020204" pitchFamily="34" charset="0"/>
              </a:rPr>
              <a:t> D.F.C.P.Î.P. – ME</a:t>
            </a:r>
            <a:r>
              <a:rPr lang="ro-RO" b="1" smtClean="0">
                <a:latin typeface="Arial" panose="020B0604020202020204" pitchFamily="34" charset="0"/>
                <a:cs typeface="Arial" panose="020B0604020202020204" pitchFamily="34" charset="0"/>
              </a:rPr>
              <a:t>N.</a:t>
            </a:r>
            <a:endParaRPr lang="ro-RO">
              <a:latin typeface="Arial" panose="020B0604020202020204" pitchFamily="34" charset="0"/>
              <a:cs typeface="Arial" panose="020B0604020202020204" pitchFamily="34" charset="0"/>
            </a:endParaRPr>
          </a:p>
          <a:p>
            <a:endParaRPr lang="en-US" smtClean="0">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en-US" smtClean="0">
              <a:latin typeface="Arial" panose="020B0604020202020204" pitchFamily="34" charset="0"/>
              <a:cs typeface="Arial" panose="020B0604020202020204" pitchFamily="34" charset="0"/>
            </a:endParaRPr>
          </a:p>
          <a:p>
            <a:endParaRPr lang="en-US">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r>
              <a:rPr lang="ro-RO" sz="1400" b="1">
                <a:latin typeface="Arial" panose="020B0604020202020204" pitchFamily="34" charset="0"/>
                <a:cs typeface="Arial" panose="020B0604020202020204" pitchFamily="34" charset="0"/>
              </a:rPr>
              <a:t>Notă: </a:t>
            </a:r>
          </a:p>
          <a:p>
            <a:r>
              <a:rPr lang="ro-RO" sz="1400" b="1">
                <a:latin typeface="Arial" panose="020B0604020202020204" pitchFamily="34" charset="0"/>
                <a:cs typeface="Arial" panose="020B0604020202020204" pitchFamily="34" charset="0"/>
              </a:rPr>
              <a:t>Având în vedere dificultățile de finanțare de la buget a programelor propuse și pentru a oferi șanse de participare la formare unui număr cât mai mare de beneficiari, cursurile se vor desfășura prin coparticipare la finanțarea activităților de către cursanți, costurile fiind precizate mai jos, pentru fiecare program (vezi: Oferta de programe – CCD </a:t>
            </a:r>
            <a:r>
              <a:rPr lang="ro-RO" sz="1400" b="1" smtClean="0">
                <a:latin typeface="Arial" panose="020B0604020202020204" pitchFamily="34" charset="0"/>
                <a:cs typeface="Arial" panose="020B0604020202020204" pitchFamily="34" charset="0"/>
              </a:rPr>
              <a:t>Hunedoara </a:t>
            </a:r>
            <a:r>
              <a:rPr lang="ro-RO" sz="1400" b="1">
                <a:latin typeface="Arial" panose="020B0604020202020204" pitchFamily="34" charset="0"/>
                <a:cs typeface="Arial" panose="020B0604020202020204" pitchFamily="34" charset="0"/>
              </a:rPr>
              <a:t>– </a:t>
            </a:r>
            <a:r>
              <a:rPr lang="ro-RO" sz="1400" b="1" smtClean="0">
                <a:latin typeface="Arial" panose="020B0604020202020204" pitchFamily="34" charset="0"/>
                <a:cs typeface="Arial" panose="020B0604020202020204" pitchFamily="34" charset="0"/>
              </a:rPr>
              <a:t>2013/ 2014).</a:t>
            </a:r>
          </a:p>
          <a:p>
            <a:r>
              <a:rPr lang="ro-RO" sz="1400" b="1" smtClean="0">
                <a:latin typeface="Arial" panose="020B0604020202020204" pitchFamily="34" charset="0"/>
                <a:cs typeface="Arial" panose="020B0604020202020204" pitchFamily="34" charset="0"/>
              </a:rPr>
              <a:t>Cursanții </a:t>
            </a:r>
            <a:r>
              <a:rPr lang="ro-RO" sz="1400" b="1">
                <a:latin typeface="Arial" panose="020B0604020202020204" pitchFamily="34" charset="0"/>
                <a:cs typeface="Arial" panose="020B0604020202020204" pitchFamily="34" charset="0"/>
              </a:rPr>
              <a:t>își vor exprima acordul privind suportarea taxei de cofinanțare în fișa de înscriere individuală la curs, plata urmând a se  efectua cu ocazia prezentării la prima sesiune de curs.</a:t>
            </a:r>
            <a:endParaRPr lang="ro-RO" sz="140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326640038"/>
      </p:ext>
    </p:extLst>
  </p:cSld>
  <p:clrMapOvr>
    <a:masterClrMapping/>
  </p:clrMapOvr>
  <p:transition spd="slow">
    <p:rand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43608" y="116632"/>
            <a:ext cx="7992888" cy="5539978"/>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OFERTA </a:t>
            </a:r>
            <a:r>
              <a:rPr lang="ro-RO" sz="2400" b="1">
                <a:latin typeface="Arial" panose="020B0604020202020204" pitchFamily="34" charset="0"/>
                <a:cs typeface="Arial" panose="020B0604020202020204" pitchFamily="34" charset="0"/>
              </a:rPr>
              <a:t>DE PROGRAME A CCD </a:t>
            </a:r>
            <a:r>
              <a:rPr lang="ro-RO" sz="2400" b="1" smtClean="0">
                <a:latin typeface="Arial" panose="020B0604020202020204" pitchFamily="34" charset="0"/>
                <a:cs typeface="Arial" panose="020B0604020202020204" pitchFamily="34" charset="0"/>
              </a:rPr>
              <a:t>HUNEDOARA</a:t>
            </a:r>
            <a:endParaRPr lang="ro-RO" sz="2400" b="1">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2013 / 2014</a:t>
            </a:r>
            <a:endParaRPr lang="ro-RO" sz="2400" b="1">
              <a:latin typeface="Arial" panose="020B0604020202020204" pitchFamily="34" charset="0"/>
              <a:cs typeface="Arial" panose="020B0604020202020204" pitchFamily="34" charset="0"/>
            </a:endParaRPr>
          </a:p>
          <a:p>
            <a:endParaRPr lang="ro-RO">
              <a:latin typeface="Arial" panose="020B0604020202020204" pitchFamily="34" charset="0"/>
              <a:cs typeface="Arial" panose="020B0604020202020204" pitchFamily="34" charset="0"/>
            </a:endParaRPr>
          </a:p>
          <a:p>
            <a:endParaRPr lang="ro-RO" smtClean="0">
              <a:latin typeface="Arial" panose="020B0604020202020204" pitchFamily="34" charset="0"/>
              <a:cs typeface="Arial" panose="020B0604020202020204" pitchFamily="34" charset="0"/>
            </a:endParaRPr>
          </a:p>
          <a:p>
            <a:pPr marL="285750" indent="-285750">
              <a:buFont typeface="Wingdings" pitchFamily="2" charset="2"/>
              <a:buChar char="Ø"/>
            </a:pPr>
            <a:r>
              <a:rPr lang="ro-RO" smtClean="0">
                <a:latin typeface="Arial" panose="020B0604020202020204" pitchFamily="34" charset="0"/>
                <a:cs typeface="Arial" panose="020B0604020202020204" pitchFamily="34" charset="0"/>
              </a:rPr>
              <a:t>Modul psihopedagogic, nivelul I, II – colaborare cu UEM Reșița </a:t>
            </a:r>
          </a:p>
          <a:p>
            <a:pPr marL="285750" indent="-285750">
              <a:buFont typeface="Arial" pitchFamily="34" charset="0"/>
              <a:buChar char="•"/>
            </a:pPr>
            <a:r>
              <a:rPr lang="en-US" smtClean="0">
                <a:latin typeface="Arial" panose="020B0604020202020204" pitchFamily="34" charset="0"/>
                <a:cs typeface="Arial" panose="020B0604020202020204" pitchFamily="34" charset="0"/>
              </a:rPr>
              <a:t>Cursu</a:t>
            </a:r>
            <a:r>
              <a:rPr lang="ro-RO" smtClean="0">
                <a:latin typeface="Arial" panose="020B0604020202020204" pitchFamily="34" charset="0"/>
                <a:cs typeface="Arial" panose="020B0604020202020204" pitchFamily="34" charset="0"/>
              </a:rPr>
              <a:t>rile</a:t>
            </a:r>
            <a:r>
              <a:rPr lang="en-US" smtClean="0">
                <a:latin typeface="Arial" panose="020B0604020202020204" pitchFamily="34" charset="0"/>
                <a:cs typeface="Arial" panose="020B0604020202020204" pitchFamily="34" charset="0"/>
              </a:rPr>
              <a:t> </a:t>
            </a:r>
            <a:r>
              <a:rPr lang="en-US">
                <a:latin typeface="Arial" panose="020B0604020202020204" pitchFamily="34" charset="0"/>
                <a:cs typeface="Arial" panose="020B0604020202020204" pitchFamily="34" charset="0"/>
              </a:rPr>
              <a:t>se </a:t>
            </a:r>
            <a:r>
              <a:rPr lang="en-US" err="1">
                <a:latin typeface="Arial" panose="020B0604020202020204" pitchFamily="34" charset="0"/>
                <a:cs typeface="Arial" panose="020B0604020202020204" pitchFamily="34" charset="0"/>
              </a:rPr>
              <a:t>adresează</a:t>
            </a:r>
            <a:r>
              <a:rPr lang="en-US">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absolvenţilor de studii universitare de </a:t>
            </a:r>
            <a:r>
              <a:rPr lang="ro-RO" smtClean="0">
                <a:latin typeface="Arial" panose="020B0604020202020204" pitchFamily="34" charset="0"/>
                <a:cs typeface="Arial" panose="020B0604020202020204" pitchFamily="34" charset="0"/>
              </a:rPr>
              <a:t>licenţă/masterat </a:t>
            </a:r>
            <a:r>
              <a:rPr lang="ro-RO">
                <a:latin typeface="Arial" panose="020B0604020202020204" pitchFamily="34" charset="0"/>
                <a:cs typeface="Arial" panose="020B0604020202020204" pitchFamily="34" charset="0"/>
              </a:rPr>
              <a:t>care nu au urmat Programul de Formare Psihopedagogică pe parcursul </a:t>
            </a:r>
            <a:r>
              <a:rPr lang="ro-RO" smtClean="0">
                <a:latin typeface="Arial" panose="020B0604020202020204" pitchFamily="34" charset="0"/>
                <a:cs typeface="Arial" panose="020B0604020202020204" pitchFamily="34" charset="0"/>
              </a:rPr>
              <a:t>studiilor </a:t>
            </a:r>
            <a:r>
              <a:rPr lang="ro-RO">
                <a:latin typeface="Arial" panose="020B0604020202020204" pitchFamily="34" charset="0"/>
                <a:cs typeface="Arial" panose="020B0604020202020204" pitchFamily="34" charset="0"/>
              </a:rPr>
              <a:t>universitare</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indiferent de profilul sau instituţia de învăţământ superior şi anul în care au obţinut </a:t>
            </a:r>
            <a:r>
              <a:rPr lang="ro-RO" smtClean="0">
                <a:latin typeface="Arial" panose="020B0604020202020204" pitchFamily="34" charset="0"/>
                <a:cs typeface="Arial" panose="020B0604020202020204" pitchFamily="34" charset="0"/>
              </a:rPr>
              <a:t>diplomele respective.</a:t>
            </a:r>
          </a:p>
          <a:p>
            <a:pPr marL="285750" indent="-285750">
              <a:buFont typeface="Arial" pitchFamily="34" charset="0"/>
              <a:buChar char="•"/>
            </a:pPr>
            <a:r>
              <a:rPr lang="ro-RO" smtClean="0">
                <a:latin typeface="Arial" panose="020B0604020202020204" pitchFamily="34" charset="0"/>
                <a:cs typeface="Arial" panose="020B0604020202020204" pitchFamily="34" charset="0"/>
              </a:rPr>
              <a:t>Cursurile pot </a:t>
            </a:r>
            <a:r>
              <a:rPr lang="ro-RO">
                <a:latin typeface="Arial" panose="020B0604020202020204" pitchFamily="34" charset="0"/>
                <a:cs typeface="Arial" panose="020B0604020202020204" pitchFamily="34" charset="0"/>
              </a:rPr>
              <a:t>fi </a:t>
            </a:r>
            <a:r>
              <a:rPr lang="ro-RO" smtClean="0">
                <a:latin typeface="Arial" panose="020B0604020202020204" pitchFamily="34" charset="0"/>
                <a:cs typeface="Arial" panose="020B0604020202020204" pitchFamily="34" charset="0"/>
              </a:rPr>
              <a:t>parcurse </a:t>
            </a:r>
            <a:r>
              <a:rPr lang="ro-RO">
                <a:latin typeface="Arial" panose="020B0604020202020204" pitchFamily="34" charset="0"/>
                <a:cs typeface="Arial" panose="020B0604020202020204" pitchFamily="34" charset="0"/>
              </a:rPr>
              <a:t>în regimul cursurilor postuniversitare</a:t>
            </a:r>
            <a:r>
              <a:rPr lang="ro-RO" smtClean="0">
                <a:latin typeface="Arial" panose="020B0604020202020204" pitchFamily="34" charset="0"/>
                <a:cs typeface="Arial" panose="020B0604020202020204" pitchFamily="34" charset="0"/>
              </a:rPr>
              <a:t>.</a:t>
            </a:r>
          </a:p>
          <a:p>
            <a:pPr marL="285750" indent="-285750">
              <a:buFont typeface="Arial" pitchFamily="34" charset="0"/>
              <a:buChar char="•"/>
            </a:pPr>
            <a:r>
              <a:rPr lang="ro-RO" smtClean="0">
                <a:latin typeface="Arial" panose="020B0604020202020204" pitchFamily="34" charset="0"/>
                <a:cs typeface="Arial" panose="020B0604020202020204" pitchFamily="34" charset="0"/>
              </a:rPr>
              <a:t>Perioada </a:t>
            </a:r>
            <a:r>
              <a:rPr lang="ro-RO">
                <a:latin typeface="Arial" panose="020B0604020202020204" pitchFamily="34" charset="0"/>
                <a:cs typeface="Arial" panose="020B0604020202020204" pitchFamily="34" charset="0"/>
              </a:rPr>
              <a:t>de desfăşurare a </a:t>
            </a:r>
            <a:r>
              <a:rPr lang="ro-RO" smtClean="0">
                <a:latin typeface="Arial" panose="020B0604020202020204" pitchFamily="34" charset="0"/>
                <a:cs typeface="Arial" panose="020B0604020202020204" pitchFamily="34" charset="0"/>
              </a:rPr>
              <a:t>acestor programe </a:t>
            </a:r>
            <a:r>
              <a:rPr lang="ro-RO">
                <a:latin typeface="Arial" panose="020B0604020202020204" pitchFamily="34" charset="0"/>
                <a:cs typeface="Arial" panose="020B0604020202020204" pitchFamily="34" charset="0"/>
              </a:rPr>
              <a:t>este de 6 luni, </a:t>
            </a:r>
            <a:r>
              <a:rPr lang="ro-RO" smtClean="0">
                <a:latin typeface="Arial" panose="020B0604020202020204" pitchFamily="34" charset="0"/>
                <a:cs typeface="Arial" panose="020B0604020202020204" pitchFamily="34" charset="0"/>
              </a:rPr>
              <a:t>fiind urmată de </a:t>
            </a:r>
            <a:r>
              <a:rPr lang="ro-RO">
                <a:latin typeface="Arial" panose="020B0604020202020204" pitchFamily="34" charset="0"/>
                <a:cs typeface="Arial" panose="020B0604020202020204" pitchFamily="34" charset="0"/>
              </a:rPr>
              <a:t>o sesiune de examene</a:t>
            </a:r>
            <a:r>
              <a:rPr lang="ro-RO" smtClean="0">
                <a:latin typeface="Arial" panose="020B0604020202020204" pitchFamily="34" charset="0"/>
                <a:cs typeface="Arial" panose="020B0604020202020204" pitchFamily="34" charset="0"/>
              </a:rPr>
              <a:t>. </a:t>
            </a:r>
          </a:p>
          <a:p>
            <a:pPr marL="285750" indent="-285750">
              <a:buFont typeface="Arial" pitchFamily="34" charset="0"/>
              <a:buChar char="•"/>
            </a:pPr>
            <a:r>
              <a:rPr lang="ro-RO" smtClean="0">
                <a:latin typeface="Arial" panose="020B0604020202020204" pitchFamily="34" charset="0"/>
                <a:cs typeface="Arial" panose="020B0604020202020204" pitchFamily="34" charset="0"/>
              </a:rPr>
              <a:t>Taxă: 1.350/1.300 </a:t>
            </a:r>
            <a:r>
              <a:rPr lang="ro-RO">
                <a:latin typeface="Arial" panose="020B0604020202020204" pitchFamily="34" charset="0"/>
                <a:cs typeface="Arial" panose="020B0604020202020204" pitchFamily="34" charset="0"/>
              </a:rPr>
              <a:t>de lei - se pot achita în 2 rate, prima rata fiind de 500 de lei</a:t>
            </a:r>
            <a:r>
              <a:rPr lang="ro-RO" smtClean="0">
                <a:latin typeface="Arial" panose="020B0604020202020204" pitchFamily="34" charset="0"/>
                <a:cs typeface="Arial" panose="020B0604020202020204" pitchFamily="34" charset="0"/>
              </a:rPr>
              <a:t>.</a:t>
            </a:r>
          </a:p>
          <a:p>
            <a:pPr marL="285750" indent="-285750">
              <a:buFont typeface="Arial" pitchFamily="34" charset="0"/>
              <a:buChar char="•"/>
            </a:pPr>
            <a:r>
              <a:rPr lang="ro-RO">
                <a:latin typeface="Arial" panose="020B0604020202020204" pitchFamily="34" charset="0"/>
                <a:cs typeface="Arial" panose="020B0604020202020204" pitchFamily="34" charset="0"/>
              </a:rPr>
              <a:t>Certificat de absolvire a Programului de Formare Psihopedagogică, Nivel </a:t>
            </a:r>
            <a:r>
              <a:rPr lang="ro-RO" smtClean="0">
                <a:latin typeface="Arial" panose="020B0604020202020204" pitchFamily="34" charset="0"/>
                <a:cs typeface="Arial" panose="020B0604020202020204" pitchFamily="34" charset="0"/>
              </a:rPr>
              <a:t>I,</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II </a:t>
            </a:r>
            <a:r>
              <a:rPr lang="ro-RO">
                <a:latin typeface="Arial" panose="020B0604020202020204" pitchFamily="34" charset="0"/>
                <a:cs typeface="Arial" panose="020B0604020202020204" pitchFamily="34" charset="0"/>
              </a:rPr>
              <a:t>care le conferă dreptul de a preda în învăţământul preşcolar, primar </a:t>
            </a:r>
            <a:r>
              <a:rPr lang="ro-RO" smtClean="0">
                <a:latin typeface="Arial" panose="020B0604020202020204" pitchFamily="34" charset="0"/>
                <a:cs typeface="Arial" panose="020B0604020202020204" pitchFamily="34" charset="0"/>
              </a:rPr>
              <a:t>şi gimnazial, respectiv liceal, postliceal şi universitar.</a:t>
            </a:r>
          </a:p>
        </p:txBody>
      </p:sp>
    </p:spTree>
    <p:extLst>
      <p:ext uri="{BB962C8B-B14F-4D97-AF65-F5344CB8AC3E}">
        <p14:creationId xmlns="" xmlns:p14="http://schemas.microsoft.com/office/powerpoint/2010/main" val="2407531199"/>
      </p:ext>
    </p:extLst>
  </p:cSld>
  <p:clrMapOvr>
    <a:masterClrMapping/>
  </p:clrMapOvr>
  <p:transition spd="slow">
    <p:rand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36737" y="116632"/>
            <a:ext cx="7992888" cy="6093976"/>
          </a:xfrm>
          <a:prstGeom prst="rect">
            <a:avLst/>
          </a:prstGeom>
        </p:spPr>
        <p:txBody>
          <a:bodyPr wrap="square">
            <a:spAutoFit/>
          </a:bodyPr>
          <a:lstStyle/>
          <a:p>
            <a:pPr marL="285750" indent="-285750">
              <a:buFont typeface="Wingdings" pitchFamily="2" charset="2"/>
              <a:buChar char="Ø"/>
            </a:pPr>
            <a:endParaRPr lang="ro-RO" b="1" smtClean="0">
              <a:latin typeface="Arial" panose="020B0604020202020204" pitchFamily="34" charset="0"/>
              <a:cs typeface="Arial" panose="020B0604020202020204" pitchFamily="34" charset="0"/>
            </a:endParaRPr>
          </a:p>
          <a:p>
            <a:pPr algn="ctr"/>
            <a:r>
              <a:rPr lang="ro-RO" sz="2400" b="1">
                <a:latin typeface="Arial" panose="020B0604020202020204" pitchFamily="34" charset="0"/>
                <a:cs typeface="Arial" panose="020B0604020202020204" pitchFamily="34" charset="0"/>
              </a:rPr>
              <a:t>OFERTA DE PROGRAME A CCD </a:t>
            </a:r>
            <a:r>
              <a:rPr lang="ro-RO" sz="2400" b="1" smtClean="0">
                <a:latin typeface="Arial" panose="020B0604020202020204" pitchFamily="34" charset="0"/>
                <a:cs typeface="Arial" panose="020B0604020202020204" pitchFamily="34" charset="0"/>
              </a:rPr>
              <a:t>HUNEDOARA</a:t>
            </a:r>
            <a:endParaRPr lang="ro-RO" sz="2400" b="1">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2013 / 2014</a:t>
            </a:r>
          </a:p>
          <a:p>
            <a:pPr algn="ctr"/>
            <a:endParaRPr lang="ro-RO">
              <a:latin typeface="Arial" panose="020B0604020202020204" pitchFamily="34" charset="0"/>
              <a:cs typeface="Arial" panose="020B0604020202020204" pitchFamily="34" charset="0"/>
            </a:endParaRPr>
          </a:p>
          <a:p>
            <a:pPr algn="ctr"/>
            <a:endParaRPr lang="ro-RO" b="1" smtClean="0">
              <a:latin typeface="Arial" panose="020B0604020202020204" pitchFamily="34" charset="0"/>
              <a:cs typeface="Arial" panose="020B0604020202020204" pitchFamily="34" charset="0"/>
            </a:endParaRPr>
          </a:p>
          <a:p>
            <a:pPr algn="ctr"/>
            <a:r>
              <a:rPr lang="ro-RO" b="1">
                <a:latin typeface="Arial" panose="020B0604020202020204" pitchFamily="34" charset="0"/>
                <a:cs typeface="Arial" panose="020B0604020202020204" pitchFamily="34" charset="0"/>
              </a:rPr>
              <a:t>Formator – Cod COR </a:t>
            </a:r>
            <a:r>
              <a:rPr lang="ro-RO" smtClean="0">
                <a:latin typeface="Arial" panose="020B0604020202020204" pitchFamily="34" charset="0"/>
                <a:cs typeface="Arial" panose="020B0604020202020204" pitchFamily="34" charset="0"/>
              </a:rPr>
              <a:t>242401</a:t>
            </a:r>
          </a:p>
          <a:p>
            <a:pPr algn="ctr"/>
            <a:endParaRPr lang="en-US" smtClean="0">
              <a:latin typeface="Arial" panose="020B0604020202020204" pitchFamily="34" charset="0"/>
              <a:cs typeface="Arial" panose="020B0604020202020204" pitchFamily="34" charset="0"/>
            </a:endParaRPr>
          </a:p>
          <a:p>
            <a:pPr algn="ctr"/>
            <a:endParaRPr lang="ro-RO" smtClean="0">
              <a:latin typeface="Arial" panose="020B0604020202020204" pitchFamily="34" charset="0"/>
              <a:cs typeface="Arial" panose="020B0604020202020204" pitchFamily="34" charset="0"/>
            </a:endParaRPr>
          </a:p>
          <a:p>
            <a:r>
              <a:rPr lang="ro-RO">
                <a:latin typeface="Arial" panose="020B0604020202020204" pitchFamily="34" charset="0"/>
                <a:cs typeface="Arial" panose="020B0604020202020204" pitchFamily="34" charset="0"/>
              </a:rPr>
              <a:t>DURATA: </a:t>
            </a:r>
            <a:r>
              <a:rPr lang="en-US" smtClean="0">
                <a:latin typeface="Arial" panose="020B0604020202020204" pitchFamily="34" charset="0"/>
                <a:cs typeface="Arial" panose="020B0604020202020204" pitchFamily="34" charset="0"/>
              </a:rPr>
              <a:t>6</a:t>
            </a:r>
            <a:r>
              <a:rPr lang="ro-RO" smtClean="0">
                <a:latin typeface="Arial" panose="020B0604020202020204" pitchFamily="34" charset="0"/>
                <a:cs typeface="Arial" panose="020B0604020202020204" pitchFamily="34" charset="0"/>
              </a:rPr>
              <a:t>0 </a:t>
            </a:r>
            <a:r>
              <a:rPr lang="ro-RO">
                <a:latin typeface="Arial" panose="020B0604020202020204" pitchFamily="34" charset="0"/>
                <a:cs typeface="Arial" panose="020B0604020202020204" pitchFamily="34" charset="0"/>
              </a:rPr>
              <a:t>ore (module teoretice și practice);</a:t>
            </a:r>
          </a:p>
          <a:p>
            <a:r>
              <a:rPr lang="ro-RO">
                <a:latin typeface="Arial" panose="020B0604020202020204" pitchFamily="34" charset="0"/>
                <a:cs typeface="Arial" panose="020B0604020202020204" pitchFamily="34" charset="0"/>
              </a:rPr>
              <a:t>Programul se adresează tuturor categoriilor de personal care doresc să dobândească pregătirea și competențele cheie și specifice calificării de formator în educația </a:t>
            </a:r>
            <a:r>
              <a:rPr lang="ro-RO" smtClean="0">
                <a:latin typeface="Arial" panose="020B0604020202020204" pitchFamily="34" charset="0"/>
                <a:cs typeface="Arial" panose="020B0604020202020204" pitchFamily="34" charset="0"/>
              </a:rPr>
              <a:t>adulților, </a:t>
            </a:r>
            <a:r>
              <a:rPr lang="ro-RO">
                <a:latin typeface="Arial" panose="020B0604020202020204" pitchFamily="34" charset="0"/>
                <a:cs typeface="Arial" panose="020B0604020202020204" pitchFamily="34" charset="0"/>
              </a:rPr>
              <a:t>în conformitate cu O.G. 129/200; H.G. 522/2003</a:t>
            </a:r>
            <a:r>
              <a:rPr lang="ro-RO" smtClean="0">
                <a:latin typeface="Arial" panose="020B0604020202020204" pitchFamily="34" charset="0"/>
                <a:cs typeface="Arial" panose="020B0604020202020204" pitchFamily="34" charset="0"/>
              </a:rPr>
              <a:t>;</a:t>
            </a:r>
            <a:r>
              <a:rPr lang="ro-RO">
                <a:latin typeface="Arial" panose="020B0604020202020204" pitchFamily="34" charset="0"/>
                <a:cs typeface="Arial" panose="020B0604020202020204" pitchFamily="34" charset="0"/>
              </a:rPr>
              <a:t> </a:t>
            </a:r>
          </a:p>
          <a:p>
            <a:pPr lvl="0"/>
            <a:r>
              <a:rPr lang="ro-RO">
                <a:latin typeface="Arial" panose="020B0604020202020204" pitchFamily="34" charset="0"/>
                <a:cs typeface="Arial" panose="020B0604020202020204" pitchFamily="34" charset="0"/>
              </a:rPr>
              <a:t>Finalizat prin Certificat de absolvire recunoscut MMFPS și MECTS;</a:t>
            </a:r>
          </a:p>
          <a:p>
            <a:pPr lvl="0"/>
            <a:r>
              <a:rPr lang="ro-RO" smtClean="0">
                <a:latin typeface="Arial" panose="020B0604020202020204" pitchFamily="34" charset="0"/>
                <a:cs typeface="Arial" panose="020B0604020202020204" pitchFamily="34" charset="0"/>
              </a:rPr>
              <a:t>Perioada </a:t>
            </a:r>
            <a:r>
              <a:rPr lang="ro-RO">
                <a:latin typeface="Arial" panose="020B0604020202020204" pitchFamily="34" charset="0"/>
                <a:cs typeface="Arial" panose="020B0604020202020204" pitchFamily="34" charset="0"/>
              </a:rPr>
              <a:t>propusă pentru formare: </a:t>
            </a:r>
            <a:r>
              <a:rPr lang="ro-RO" smtClean="0">
                <a:latin typeface="Arial" panose="020B0604020202020204" pitchFamily="34" charset="0"/>
                <a:cs typeface="Arial" panose="020B0604020202020204" pitchFamily="34" charset="0"/>
              </a:rPr>
              <a:t>semestrul </a:t>
            </a:r>
            <a:r>
              <a:rPr lang="en-US" smtClean="0">
                <a:latin typeface="Arial" panose="020B0604020202020204" pitchFamily="34" charset="0"/>
                <a:cs typeface="Arial" panose="020B0604020202020204" pitchFamily="34" charset="0"/>
              </a:rPr>
              <a:t>I si </a:t>
            </a:r>
            <a:r>
              <a:rPr lang="ro-RO" smtClean="0">
                <a:latin typeface="Arial" panose="020B0604020202020204" pitchFamily="34" charset="0"/>
                <a:cs typeface="Arial" panose="020B0604020202020204" pitchFamily="34" charset="0"/>
              </a:rPr>
              <a:t>II</a:t>
            </a:r>
            <a:r>
              <a:rPr lang="en-US" smtClean="0">
                <a:latin typeface="Arial" panose="020B0604020202020204" pitchFamily="34" charset="0"/>
                <a:cs typeface="Arial" panose="020B0604020202020204" pitchFamily="34" charset="0"/>
              </a:rPr>
              <a:t>,</a:t>
            </a:r>
            <a:r>
              <a:rPr lang="ro-RO" smtClean="0">
                <a:latin typeface="Arial" panose="020B0604020202020204" pitchFamily="34" charset="0"/>
                <a:cs typeface="Arial" panose="020B0604020202020204" pitchFamily="34" charset="0"/>
              </a:rPr>
              <a:t> 201</a:t>
            </a:r>
            <a:r>
              <a:rPr lang="en-US" smtClean="0">
                <a:latin typeface="Arial" panose="020B0604020202020204" pitchFamily="34" charset="0"/>
                <a:cs typeface="Arial" panose="020B0604020202020204" pitchFamily="34" charset="0"/>
              </a:rPr>
              <a:t>3-</a:t>
            </a:r>
            <a:r>
              <a:rPr lang="ro-RO" smtClean="0">
                <a:latin typeface="Arial" panose="020B0604020202020204" pitchFamily="34" charset="0"/>
                <a:cs typeface="Arial" panose="020B0604020202020204" pitchFamily="34" charset="0"/>
              </a:rPr>
              <a:t>201</a:t>
            </a:r>
            <a:r>
              <a:rPr lang="en-US" smtClean="0">
                <a:latin typeface="Arial" panose="020B0604020202020204" pitchFamily="34" charset="0"/>
                <a:cs typeface="Arial" panose="020B0604020202020204" pitchFamily="34" charset="0"/>
              </a:rPr>
              <a:t>4</a:t>
            </a:r>
            <a:endParaRPr lang="ro-RO">
              <a:latin typeface="Arial" panose="020B0604020202020204" pitchFamily="34" charset="0"/>
              <a:cs typeface="Arial" panose="020B0604020202020204" pitchFamily="34" charset="0"/>
            </a:endParaRPr>
          </a:p>
          <a:p>
            <a:pPr lvl="0"/>
            <a:r>
              <a:rPr lang="ro-RO">
                <a:latin typeface="Arial" panose="020B0604020202020204" pitchFamily="34" charset="0"/>
                <a:cs typeface="Arial" panose="020B0604020202020204" pitchFamily="34" charset="0"/>
              </a:rPr>
              <a:t>Cost/ cursant: </a:t>
            </a:r>
            <a:r>
              <a:rPr lang="en-US" smtClean="0">
                <a:latin typeface="Arial" panose="020B0604020202020204" pitchFamily="34" charset="0"/>
                <a:cs typeface="Arial" panose="020B0604020202020204" pitchFamily="34" charset="0"/>
              </a:rPr>
              <a:t>30</a:t>
            </a:r>
            <a:r>
              <a:rPr lang="ro-RO" smtClean="0">
                <a:latin typeface="Arial" panose="020B0604020202020204" pitchFamily="34" charset="0"/>
                <a:cs typeface="Arial" panose="020B0604020202020204" pitchFamily="34" charset="0"/>
              </a:rPr>
              <a:t>0 </a:t>
            </a:r>
            <a:r>
              <a:rPr lang="ro-RO">
                <a:latin typeface="Arial" panose="020B0604020202020204" pitchFamily="34" charset="0"/>
                <a:cs typeface="Arial" panose="020B0604020202020204" pitchFamily="34" charset="0"/>
              </a:rPr>
              <a:t>lei</a:t>
            </a:r>
          </a:p>
          <a:p>
            <a:pPr lvl="0"/>
            <a:r>
              <a:rPr lang="ro-RO">
                <a:latin typeface="Arial" panose="020B0604020202020204" pitchFamily="34" charset="0"/>
                <a:cs typeface="Arial" panose="020B0604020202020204" pitchFamily="34" charset="0"/>
              </a:rPr>
              <a:t>Informații suplimentare – pagina web CCD </a:t>
            </a:r>
            <a:r>
              <a:rPr lang="ro-RO" smtClean="0">
                <a:latin typeface="Arial" panose="020B0604020202020204" pitchFamily="34" charset="0"/>
                <a:cs typeface="Arial" panose="020B0604020202020204" pitchFamily="34" charset="0"/>
              </a:rPr>
              <a:t>Hunedoara: </a:t>
            </a:r>
            <a:r>
              <a:rPr lang="ro-RO" u="sng">
                <a:latin typeface="Arial" panose="020B0604020202020204" pitchFamily="34" charset="0"/>
                <a:cs typeface="Arial" panose="020B0604020202020204" pitchFamily="34" charset="0"/>
              </a:rPr>
              <a:t>http://</a:t>
            </a:r>
            <a:r>
              <a:rPr lang="ro-RO" u="sng" smtClean="0">
                <a:latin typeface="Arial" panose="020B0604020202020204" pitchFamily="34" charset="0"/>
                <a:cs typeface="Arial" panose="020B0604020202020204" pitchFamily="34" charset="0"/>
              </a:rPr>
              <a:t>www.isj.hd.edu.ro/ccd</a:t>
            </a:r>
            <a:r>
              <a:rPr lang="ro-RO" smtClean="0">
                <a:latin typeface="Arial" panose="020B0604020202020204" pitchFamily="34" charset="0"/>
                <a:cs typeface="Arial" panose="020B0604020202020204" pitchFamily="34" charset="0"/>
              </a:rPr>
              <a:t>; </a:t>
            </a:r>
            <a:endParaRPr lang="ro-RO">
              <a:latin typeface="Arial" panose="020B0604020202020204" pitchFamily="34" charset="0"/>
              <a:cs typeface="Arial" panose="020B0604020202020204" pitchFamily="34" charset="0"/>
            </a:endParaRPr>
          </a:p>
          <a:p>
            <a:r>
              <a:rPr lang="ro-RO" smtClean="0">
                <a:latin typeface="Arial" panose="020B0604020202020204" pitchFamily="34" charset="0"/>
                <a:cs typeface="Arial" panose="020B0604020202020204" pitchFamily="34" charset="0"/>
              </a:rPr>
              <a:t>tel 0254/232.</a:t>
            </a:r>
            <a:r>
              <a:rPr lang="en-US" smtClean="0">
                <a:latin typeface="Arial" panose="020B0604020202020204" pitchFamily="34" charset="0"/>
                <a:cs typeface="Arial" panose="020B0604020202020204" pitchFamily="34" charset="0"/>
              </a:rPr>
              <a:t>45</a:t>
            </a:r>
            <a:r>
              <a:rPr lang="ro-RO" smtClean="0">
                <a:latin typeface="Arial" panose="020B0604020202020204" pitchFamily="34" charset="0"/>
                <a:cs typeface="Arial" panose="020B0604020202020204" pitchFamily="34" charset="0"/>
              </a:rPr>
              <a:t>2</a:t>
            </a:r>
          </a:p>
          <a:p>
            <a:pPr marL="285750" indent="-285750">
              <a:buFont typeface="Wingdings" pitchFamily="2" charset="2"/>
              <a:buChar char="Ø"/>
            </a:pPr>
            <a:r>
              <a:rPr lang="ro-RO" smtClean="0">
                <a:latin typeface="Arial" panose="020B0604020202020204" pitchFamily="34" charset="0"/>
                <a:cs typeface="Arial" panose="020B0604020202020204" pitchFamily="34" charset="0"/>
              </a:rPr>
              <a:t>Cost</a:t>
            </a:r>
            <a:r>
              <a:rPr lang="ro-RO">
                <a:latin typeface="Arial" panose="020B0604020202020204" pitchFamily="34" charset="0"/>
                <a:cs typeface="Arial" panose="020B0604020202020204" pitchFamily="34" charset="0"/>
              </a:rPr>
              <a:t>/ cursant: </a:t>
            </a:r>
            <a:r>
              <a:rPr lang="en-US" smtClean="0">
                <a:latin typeface="Arial" panose="020B0604020202020204" pitchFamily="34" charset="0"/>
                <a:cs typeface="Arial" panose="020B0604020202020204" pitchFamily="34" charset="0"/>
              </a:rPr>
              <a:t>30</a:t>
            </a:r>
            <a:r>
              <a:rPr lang="ro-RO" smtClean="0">
                <a:latin typeface="Arial" panose="020B0604020202020204" pitchFamily="34" charset="0"/>
                <a:cs typeface="Arial" panose="020B0604020202020204" pitchFamily="34" charset="0"/>
              </a:rPr>
              <a:t>0 </a:t>
            </a:r>
            <a:r>
              <a:rPr lang="ro-RO">
                <a:latin typeface="Arial" panose="020B0604020202020204" pitchFamily="34" charset="0"/>
                <a:cs typeface="Arial" panose="020B0604020202020204" pitchFamily="34" charset="0"/>
              </a:rPr>
              <a:t>lei (suma se poate plăti și în 3 rate: prima rată de 100 lei se achită cu ocazia prezentării la prima sesiune de formare</a:t>
            </a:r>
            <a:r>
              <a:rPr lang="ro-RO" smtClean="0">
                <a:latin typeface="Arial" panose="020B0604020202020204" pitchFamily="34" charset="0"/>
                <a:cs typeface="Arial" panose="020B0604020202020204" pitchFamily="34" charset="0"/>
              </a:rPr>
              <a:t>)</a:t>
            </a:r>
            <a:r>
              <a:rPr lang="en-US" smtClean="0">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532360415"/>
      </p:ext>
    </p:extLst>
  </p:cSld>
  <p:clrMapOvr>
    <a:masterClrMapping/>
  </p:clrMapOvr>
  <p:transition spd="slow">
    <p:random/>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64171" y="116632"/>
            <a:ext cx="7992888" cy="6093976"/>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CASA CORPULUI DIDACTIC HUNEDOARA</a:t>
            </a:r>
            <a:endParaRPr lang="ro-RO" sz="2400" b="1">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2013 / 2014</a:t>
            </a:r>
          </a:p>
          <a:p>
            <a:pPr algn="ctr"/>
            <a:endParaRPr lang="ro-RO">
              <a:latin typeface="Arial" panose="020B0604020202020204" pitchFamily="34" charset="0"/>
              <a:cs typeface="Arial" panose="020B0604020202020204" pitchFamily="34" charset="0"/>
            </a:endParaRPr>
          </a:p>
          <a:p>
            <a:pPr algn="ctr"/>
            <a:endParaRPr lang="ro-RO" b="1">
              <a:latin typeface="Arial" panose="020B0604020202020204" pitchFamily="34" charset="0"/>
              <a:cs typeface="Arial" panose="020B0604020202020204" pitchFamily="34" charset="0"/>
            </a:endParaRPr>
          </a:p>
          <a:p>
            <a:pPr marL="285750" indent="-285750">
              <a:buFont typeface="Wingdings" pitchFamily="2" charset="2"/>
              <a:buChar char="Ø"/>
            </a:pPr>
            <a:r>
              <a:rPr lang="ro-RO" b="1" smtClean="0">
                <a:latin typeface="Arial" panose="020B0604020202020204" pitchFamily="34" charset="0"/>
                <a:cs typeface="Arial" panose="020B0604020202020204" pitchFamily="34" charset="0"/>
              </a:rPr>
              <a:t>REVISTA </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ȘCOALA HUNEDOREANĂ</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 2013</a:t>
            </a:r>
            <a:r>
              <a:rPr lang="en-US" b="1" smtClean="0">
                <a:latin typeface="Arial" panose="020B0604020202020204" pitchFamily="34" charset="0"/>
                <a:cs typeface="Arial" panose="020B0604020202020204" pitchFamily="34" charset="0"/>
              </a:rPr>
              <a:t>-</a:t>
            </a:r>
            <a:r>
              <a:rPr lang="ro-RO" b="1" smtClean="0">
                <a:latin typeface="Arial" panose="020B0604020202020204" pitchFamily="34" charset="0"/>
                <a:cs typeface="Arial" panose="020B0604020202020204" pitchFamily="34" charset="0"/>
              </a:rPr>
              <a:t>2014</a:t>
            </a:r>
          </a:p>
          <a:p>
            <a:pPr marL="285750" indent="-285750">
              <a:buFont typeface="Arial" pitchFamily="34" charset="0"/>
              <a:buChar char="•"/>
            </a:pPr>
            <a:r>
              <a:rPr lang="ro-RO" smtClean="0">
                <a:latin typeface="Arial" panose="020B0604020202020204" pitchFamily="34" charset="0"/>
                <a:cs typeface="Arial" panose="020B0604020202020204" pitchFamily="34" charset="0"/>
              </a:rPr>
              <a:t>există adresă în școli; se primesc articole pe adresa </a:t>
            </a:r>
            <a:r>
              <a:rPr lang="it-IT" u="sng" smtClean="0">
                <a:latin typeface="Arial" panose="020B0604020202020204" pitchFamily="34" charset="0"/>
                <a:cs typeface="Arial" panose="020B0604020202020204" pitchFamily="34" charset="0"/>
                <a:hlinkClick r:id="rId2"/>
              </a:rPr>
              <a:t>ccd_deva@yahoo.com</a:t>
            </a:r>
            <a:r>
              <a:rPr lang="it-IT">
                <a:latin typeface="Arial" panose="020B0604020202020204" pitchFamily="34" charset="0"/>
                <a:cs typeface="Arial" panose="020B0604020202020204" pitchFamily="34" charset="0"/>
              </a:rPr>
              <a:t>.</a:t>
            </a:r>
            <a:endParaRPr lang="ro-RO">
              <a:latin typeface="Arial" panose="020B0604020202020204" pitchFamily="34" charset="0"/>
              <a:cs typeface="Arial" panose="020B0604020202020204" pitchFamily="34" charset="0"/>
            </a:endParaRPr>
          </a:p>
          <a:p>
            <a:pPr marL="285750" indent="-285750">
              <a:buFont typeface="Arial" pitchFamily="34" charset="0"/>
              <a:buChar char="•"/>
            </a:pPr>
            <a:r>
              <a:rPr lang="it-IT">
                <a:latin typeface="Arial" panose="020B0604020202020204" pitchFamily="34" charset="0"/>
                <a:cs typeface="Arial" panose="020B0604020202020204" pitchFamily="34" charset="0"/>
              </a:rPr>
              <a:t>Contribuțiile colaboratorilor revistei pot fi: articole științifice și prezentări de specialitate, studii cu tematică metodică și didactică, sinteze, comunicări de rezultate ale unor experiențe și proiecte derulate, exemple de bună practică, rezultate ale cercetării și inovației în domeniul propriu de activitate, opinii, eseuri etc</a:t>
            </a:r>
            <a:r>
              <a:rPr lang="it-IT" smtClean="0">
                <a:latin typeface="Arial" panose="020B0604020202020204" pitchFamily="34" charset="0"/>
                <a:cs typeface="Arial" panose="020B0604020202020204" pitchFamily="34" charset="0"/>
              </a:rPr>
              <a:t>.</a:t>
            </a:r>
            <a:endParaRPr lang="ro-RO" smtClean="0">
              <a:latin typeface="Arial" panose="020B0604020202020204" pitchFamily="34" charset="0"/>
              <a:cs typeface="Arial" panose="020B0604020202020204" pitchFamily="34" charset="0"/>
            </a:endParaRPr>
          </a:p>
          <a:p>
            <a:pPr marL="285750" indent="-285750">
              <a:buFont typeface="Arial" pitchFamily="34" charset="0"/>
              <a:buChar char="•"/>
            </a:pPr>
            <a:r>
              <a:rPr lang="ro-RO">
                <a:latin typeface="Arial" panose="020B0604020202020204" pitchFamily="34" charset="0"/>
                <a:cs typeface="Arial" panose="020B0604020202020204" pitchFamily="34" charset="0"/>
              </a:rPr>
              <a:t>Este preferabil ca fiecare contribuție să fie însoțită de 1-2 imagini foto sau, după caz, de alte elemente ilustrative</a:t>
            </a:r>
            <a:r>
              <a:rPr lang="ro-RO" smtClean="0">
                <a:latin typeface="Arial" panose="020B0604020202020204" pitchFamily="34" charset="0"/>
                <a:cs typeface="Arial" panose="020B0604020202020204" pitchFamily="34" charset="0"/>
              </a:rPr>
              <a:t>;</a:t>
            </a:r>
          </a:p>
          <a:p>
            <a:pPr marL="285750" indent="-285750">
              <a:buFont typeface="Arial" pitchFamily="34" charset="0"/>
              <a:buChar char="•"/>
            </a:pPr>
            <a:r>
              <a:rPr lang="ro-RO">
                <a:latin typeface="Arial" panose="020B0604020202020204" pitchFamily="34" charset="0"/>
                <a:cs typeface="Arial" panose="020B0604020202020204" pitchFamily="34" charset="0"/>
              </a:rPr>
              <a:t>P</a:t>
            </a:r>
            <a:r>
              <a:rPr lang="ro-RO" smtClean="0">
                <a:latin typeface="Arial" panose="020B0604020202020204" pitchFamily="34" charset="0"/>
                <a:cs typeface="Arial" panose="020B0604020202020204" pitchFamily="34" charset="0"/>
              </a:rPr>
              <a:t>ropunere </a:t>
            </a:r>
            <a:r>
              <a:rPr lang="ro-RO">
                <a:latin typeface="Arial" panose="020B0604020202020204" pitchFamily="34" charset="0"/>
                <a:cs typeface="Arial" panose="020B0604020202020204" pitchFamily="34" charset="0"/>
              </a:rPr>
              <a:t>de </a:t>
            </a:r>
            <a:r>
              <a:rPr lang="ro-RO" smtClean="0">
                <a:latin typeface="Arial" panose="020B0604020202020204" pitchFamily="34" charset="0"/>
                <a:cs typeface="Arial" panose="020B0604020202020204" pitchFamily="34" charset="0"/>
              </a:rPr>
              <a:t>structură</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rubrici permanente ale revistei</a:t>
            </a:r>
            <a:r>
              <a:rPr lang="ro-RO" smtClean="0">
                <a:latin typeface="Arial" panose="020B0604020202020204" pitchFamily="34" charset="0"/>
                <a:cs typeface="Arial" panose="020B0604020202020204" pitchFamily="34" charset="0"/>
              </a:rPr>
              <a:t>: Editorial: </a:t>
            </a:r>
            <a:r>
              <a:rPr lang="ro-RO">
                <a:latin typeface="Arial" panose="020B0604020202020204" pitchFamily="34" charset="0"/>
                <a:cs typeface="Arial" panose="020B0604020202020204" pitchFamily="34" charset="0"/>
              </a:rPr>
              <a:t>Via </a:t>
            </a:r>
            <a:r>
              <a:rPr lang="ro-RO" smtClean="0">
                <a:latin typeface="Arial" panose="020B0604020202020204" pitchFamily="34" charset="0"/>
                <a:cs typeface="Arial" panose="020B0604020202020204" pitchFamily="34" charset="0"/>
              </a:rPr>
              <a:t>Europae</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Dimensiunea europeană a educației</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Realități </a:t>
            </a:r>
            <a:r>
              <a:rPr lang="ro-RO" smtClean="0">
                <a:latin typeface="Arial" panose="020B0604020202020204" pitchFamily="34" charset="0"/>
                <a:cs typeface="Arial" panose="020B0604020202020204" pitchFamily="34" charset="0"/>
              </a:rPr>
              <a:t>educaționale</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Priorități ale educației, azi</a:t>
            </a:r>
            <a:r>
              <a:rPr lang="ro-RO" smtClean="0">
                <a:latin typeface="Arial" panose="020B0604020202020204" pitchFamily="34" charset="0"/>
                <a:cs typeface="Arial" panose="020B0604020202020204" pitchFamily="34" charset="0"/>
              </a:rPr>
              <a:t>; Pragmatica</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Didactica nova</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Propuneri </a:t>
            </a:r>
            <a:r>
              <a:rPr lang="ro-RO" smtClean="0">
                <a:latin typeface="Arial" panose="020B0604020202020204" pitchFamily="34" charset="0"/>
                <a:cs typeface="Arial" panose="020B0604020202020204" pitchFamily="34" charset="0"/>
              </a:rPr>
              <a:t>metodologice</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Pedagog de școală nouă</a:t>
            </a:r>
            <a:r>
              <a:rPr lang="ro-RO" smtClean="0">
                <a:latin typeface="Arial" panose="020B0604020202020204" pitchFamily="34" charset="0"/>
                <a:cs typeface="Arial" panose="020B0604020202020204" pitchFamily="34" charset="0"/>
              </a:rPr>
              <a:t>; Eseu</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Symposion/ Idei în dialog</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Note de </a:t>
            </a:r>
            <a:r>
              <a:rPr lang="ro-RO" smtClean="0">
                <a:latin typeface="Arial" panose="020B0604020202020204" pitchFamily="34" charset="0"/>
                <a:cs typeface="Arial" panose="020B0604020202020204" pitchFamily="34" charset="0"/>
              </a:rPr>
              <a:t>lectură</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a:t>
            </a:r>
            <a:r>
              <a:rPr lang="ro-RO">
                <a:latin typeface="Arial" panose="020B0604020202020204" pitchFamily="34" charset="0"/>
                <a:cs typeface="Arial" panose="020B0604020202020204" pitchFamily="34" charset="0"/>
              </a:rPr>
              <a:t>Cartea noastră cea de toate zilele</a:t>
            </a:r>
            <a:r>
              <a:rPr lang="ro-RO" smtClean="0">
                <a:latin typeface="Arial" panose="020B0604020202020204" pitchFamily="34" charset="0"/>
                <a:cs typeface="Arial" panose="020B0604020202020204" pitchFamily="34" charset="0"/>
              </a:rPr>
              <a:t>; Consemnări</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Eveniment</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Miscelanea</a:t>
            </a:r>
            <a:r>
              <a:rPr lang="en-US" smtClean="0">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Mozaic</a:t>
            </a:r>
            <a:r>
              <a:rPr lang="en-US">
                <a:latin typeface="Arial" panose="020B0604020202020204" pitchFamily="34" charset="0"/>
                <a:cs typeface="Arial" panose="020B0604020202020204" pitchFamily="34" charset="0"/>
              </a:rPr>
              <a:t>.</a:t>
            </a:r>
            <a:endParaRPr lang="ro-RO" smtClean="0">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1411206160"/>
      </p:ext>
    </p:extLst>
  </p:cSld>
  <p:clrMapOvr>
    <a:masterClrMapping/>
  </p:clrMapOvr>
  <p:transition spd="slow">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70645" y="116632"/>
            <a:ext cx="7992888" cy="4708981"/>
          </a:xfrm>
          <a:prstGeom prst="rect">
            <a:avLst/>
          </a:prstGeom>
        </p:spPr>
        <p:txBody>
          <a:bodyPr wrap="square">
            <a:spAutoFit/>
          </a:bodyPr>
          <a:lstStyle/>
          <a:p>
            <a:pPr algn="ctr"/>
            <a:endParaRPr lang="ro-RO" b="1" smtClean="0">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CASA </a:t>
            </a:r>
            <a:r>
              <a:rPr lang="ro-RO" sz="2400" b="1">
                <a:latin typeface="Arial" panose="020B0604020202020204" pitchFamily="34" charset="0"/>
                <a:cs typeface="Arial" panose="020B0604020202020204" pitchFamily="34" charset="0"/>
              </a:rPr>
              <a:t>CORPULUI DIDACTIC </a:t>
            </a:r>
            <a:r>
              <a:rPr lang="ro-RO" sz="2400" b="1" smtClean="0">
                <a:latin typeface="Arial" panose="020B0604020202020204" pitchFamily="34" charset="0"/>
                <a:cs typeface="Arial" panose="020B0604020202020204" pitchFamily="34" charset="0"/>
              </a:rPr>
              <a:t>HUNEDOARA</a:t>
            </a:r>
            <a:endParaRPr lang="ro-RO" sz="2400" b="1">
              <a:latin typeface="Arial" panose="020B0604020202020204" pitchFamily="34" charset="0"/>
              <a:cs typeface="Arial" panose="020B0604020202020204" pitchFamily="34" charset="0"/>
            </a:endParaRPr>
          </a:p>
          <a:p>
            <a:pPr algn="ctr"/>
            <a:r>
              <a:rPr lang="ro-RO" sz="2400" b="1" smtClean="0">
                <a:latin typeface="Arial" panose="020B0604020202020204" pitchFamily="34" charset="0"/>
                <a:cs typeface="Arial" panose="020B0604020202020204" pitchFamily="34" charset="0"/>
              </a:rPr>
              <a:t>2013 / 2014</a:t>
            </a:r>
          </a:p>
          <a:p>
            <a:pPr algn="ctr"/>
            <a:endParaRPr lang="ro-RO">
              <a:latin typeface="Arial" panose="020B0604020202020204" pitchFamily="34" charset="0"/>
              <a:cs typeface="Arial" panose="020B0604020202020204" pitchFamily="34" charset="0"/>
            </a:endParaRPr>
          </a:p>
          <a:p>
            <a:pPr algn="ctr"/>
            <a:endParaRPr lang="ro-RO" b="1">
              <a:latin typeface="Arial" panose="020B0604020202020204" pitchFamily="34" charset="0"/>
              <a:cs typeface="Arial" panose="020B0604020202020204" pitchFamily="34" charset="0"/>
            </a:endParaRPr>
          </a:p>
          <a:p>
            <a:pPr marL="285750" indent="-285750" algn="ctr">
              <a:buFont typeface="Wingdings" pitchFamily="2" charset="2"/>
              <a:buChar char="Ø"/>
            </a:pPr>
            <a:r>
              <a:rPr lang="ro-RO" b="1" smtClean="0">
                <a:latin typeface="Arial" panose="020B0604020202020204" pitchFamily="34" charset="0"/>
                <a:cs typeface="Arial" panose="020B0604020202020204" pitchFamily="34" charset="0"/>
              </a:rPr>
              <a:t>PARTENERIATE EDUCAȚIONALE/ PROIECTE COMUNE CCD </a:t>
            </a:r>
            <a:r>
              <a:rPr lang="en-US" b="1" smtClean="0">
                <a:latin typeface="Arial" panose="020B0604020202020204" pitchFamily="34" charset="0"/>
                <a:cs typeface="Arial" panose="020B0604020202020204" pitchFamily="34" charset="0"/>
              </a:rPr>
              <a:t>HUNEDOARA</a:t>
            </a:r>
            <a:r>
              <a:rPr lang="ro-RO" b="1" smtClean="0">
                <a:latin typeface="Arial" panose="020B0604020202020204" pitchFamily="34" charset="0"/>
                <a:cs typeface="Arial" panose="020B0604020202020204" pitchFamily="34" charset="0"/>
              </a:rPr>
              <a:t> – UNITĂȚI DE ÎNVĂȚĂMÂNT </a:t>
            </a:r>
          </a:p>
          <a:p>
            <a:pPr marL="285750" indent="-285750">
              <a:buFont typeface="Arial" pitchFamily="34" charset="0"/>
              <a:buChar char="•"/>
            </a:pPr>
            <a:r>
              <a:rPr lang="ro-RO" b="1" smtClean="0">
                <a:latin typeface="Arial" panose="020B0604020202020204" pitchFamily="34" charset="0"/>
                <a:cs typeface="Arial" panose="020B0604020202020204" pitchFamily="34" charset="0"/>
              </a:rPr>
              <a:t>Se încheie protocol de colaborare cu CCD</a:t>
            </a:r>
            <a:r>
              <a:rPr lang="en-US"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pPr marL="285750" indent="-285750">
              <a:buFont typeface="Arial" pitchFamily="34" charset="0"/>
              <a:buChar char="•"/>
            </a:pPr>
            <a:r>
              <a:rPr lang="ro-RO" b="1" smtClean="0">
                <a:latin typeface="Arial" panose="020B0604020202020204" pitchFamily="34" charset="0"/>
                <a:cs typeface="Arial" panose="020B0604020202020204" pitchFamily="34" charset="0"/>
              </a:rPr>
              <a:t>Se finalizează cu atestate, diplome autentificate și de CCD </a:t>
            </a:r>
            <a:r>
              <a:rPr lang="en-US" b="1" smtClean="0">
                <a:latin typeface="Arial" panose="020B0604020202020204" pitchFamily="34" charset="0"/>
                <a:cs typeface="Arial" panose="020B0604020202020204" pitchFamily="34" charset="0"/>
              </a:rPr>
              <a:t>Hunedoara</a:t>
            </a:r>
            <a:r>
              <a:rPr lang="ro-RO" b="1" smtClean="0">
                <a:latin typeface="Arial" panose="020B0604020202020204" pitchFamily="34" charset="0"/>
                <a:cs typeface="Arial" panose="020B0604020202020204" pitchFamily="34" charset="0"/>
              </a:rPr>
              <a:t>, cu efect în punctarea activităților</a:t>
            </a:r>
            <a:r>
              <a:rPr lang="en-US"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pPr marL="285750" indent="-285750">
              <a:buFont typeface="Arial" pitchFamily="34" charset="0"/>
              <a:buChar char="•"/>
            </a:pPr>
            <a:endParaRPr lang="ro-RO" b="1">
              <a:latin typeface="Arial" panose="020B0604020202020204" pitchFamily="34" charset="0"/>
              <a:cs typeface="Arial" panose="020B0604020202020204" pitchFamily="34" charset="0"/>
            </a:endParaRPr>
          </a:p>
          <a:p>
            <a:pPr marL="285750" indent="-285750">
              <a:buFont typeface="Wingdings" pitchFamily="2" charset="2"/>
              <a:buChar char="Ø"/>
            </a:pPr>
            <a:r>
              <a:rPr lang="ro-RO" b="1" smtClean="0">
                <a:latin typeface="Arial" panose="020B0604020202020204" pitchFamily="34" charset="0"/>
                <a:cs typeface="Arial" panose="020B0604020202020204" pitchFamily="34" charset="0"/>
              </a:rPr>
              <a:t>PUBLICAREA ACTIVITĂȚILOR METODICE, ȘTIINȚIFICE, CULTURALE ALE ȘCOLILOR PE SITE-UL CCD </a:t>
            </a:r>
            <a:r>
              <a:rPr lang="en-US" b="1" smtClean="0">
                <a:latin typeface="Arial" panose="020B0604020202020204" pitchFamily="34" charset="0"/>
                <a:cs typeface="Arial" panose="020B0604020202020204" pitchFamily="34" charset="0"/>
              </a:rPr>
              <a:t>HUNEDOARA</a:t>
            </a: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 se trimit note scurte, știri cuprinzând scurte prezentări, știri etc.</a:t>
            </a:r>
            <a:r>
              <a:rPr lang="en-US"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 se însoțesc cu imagini (foto)</a:t>
            </a:r>
            <a:r>
              <a:rPr lang="en-US" b="1" smtClean="0">
                <a:latin typeface="Arial" panose="020B0604020202020204" pitchFamily="34" charset="0"/>
                <a:cs typeface="Arial" panose="020B0604020202020204" pitchFamily="34" charset="0"/>
              </a:rPr>
              <a:t>;</a:t>
            </a:r>
            <a:endParaRPr lang="ro-RO" b="1" smtClean="0">
              <a:latin typeface="Arial" panose="020B0604020202020204" pitchFamily="34" charset="0"/>
              <a:cs typeface="Arial" panose="020B0604020202020204" pitchFamily="34" charset="0"/>
            </a:endParaRPr>
          </a:p>
          <a:p>
            <a:r>
              <a:rPr lang="ro-RO" b="1" smtClean="0">
                <a:latin typeface="Arial" panose="020B0604020202020204" pitchFamily="34" charset="0"/>
                <a:cs typeface="Arial" panose="020B0604020202020204" pitchFamily="34" charset="0"/>
              </a:rPr>
              <a:t>- adresa: </a:t>
            </a:r>
            <a:r>
              <a:rPr lang="ro-RO" b="1" smtClean="0">
                <a:latin typeface="Arial" panose="020B0604020202020204" pitchFamily="34" charset="0"/>
                <a:cs typeface="Arial" panose="020B0604020202020204" pitchFamily="34" charset="0"/>
                <a:hlinkClick r:id="rId2"/>
              </a:rPr>
              <a:t>ccd_deva@yahoo.com</a:t>
            </a:r>
            <a:r>
              <a:rPr lang="ro-RO" b="1" smtClean="0">
                <a:latin typeface="Arial" panose="020B0604020202020204" pitchFamily="34" charset="0"/>
                <a:cs typeface="Arial" panose="020B0604020202020204" pitchFamily="34" charset="0"/>
              </a:rPr>
              <a:t> (cu mențiunea ”Pentru site”)</a:t>
            </a:r>
            <a:r>
              <a:rPr lang="en-US" b="1" smtClean="0">
                <a:latin typeface="Arial" panose="020B0604020202020204" pitchFamily="34" charset="0"/>
                <a:cs typeface="Arial" panose="020B0604020202020204" pitchFamily="34" charset="0"/>
              </a:rPr>
              <a:t>.</a:t>
            </a:r>
            <a:endParaRPr lang="ro-RO" b="1">
              <a:latin typeface="Arial" panose="020B0604020202020204" pitchFamily="34" charset="0"/>
              <a:cs typeface="Arial" panose="020B0604020202020204" pitchFamily="34" charset="0"/>
            </a:endParaRPr>
          </a:p>
        </p:txBody>
      </p:sp>
    </p:spTree>
    <p:extLst>
      <p:ext uri="{BB962C8B-B14F-4D97-AF65-F5344CB8AC3E}">
        <p14:creationId xmlns="" xmlns:p14="http://schemas.microsoft.com/office/powerpoint/2010/main" val="2500704703"/>
      </p:ext>
    </p:extLst>
  </p:cSld>
  <p:clrMapOvr>
    <a:masterClrMapping/>
  </p:clrMapOvr>
  <p:transition spd="slow">
    <p:random/>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1043608" y="10353"/>
            <a:ext cx="7992888" cy="646330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lvl="0" algn="ctr" fontAlgn="base">
              <a:spcBef>
                <a:spcPct val="0"/>
              </a:spcBef>
              <a:spcAft>
                <a:spcPct val="0"/>
              </a:spcAft>
            </a:pPr>
            <a:endParaRPr lang="ro-RO" sz="2400" b="1" smtClean="0">
              <a:latin typeface="Arial" panose="020B0604020202020204" pitchFamily="34" charset="0"/>
              <a:cs typeface="Arial" panose="020B0604020202020204" pitchFamily="34" charset="0"/>
            </a:endParaRPr>
          </a:p>
          <a:p>
            <a:pPr lvl="0" algn="ctr" fontAlgn="base">
              <a:spcBef>
                <a:spcPct val="0"/>
              </a:spcBef>
              <a:spcAft>
                <a:spcPct val="0"/>
              </a:spcAft>
            </a:pPr>
            <a:r>
              <a:rPr lang="ro-RO" sz="2400" b="1" smtClean="0">
                <a:latin typeface="Arial" panose="020B0604020202020204" pitchFamily="34" charset="0"/>
                <a:cs typeface="Arial" panose="020B0604020202020204" pitchFamily="34" charset="0"/>
              </a:rPr>
              <a:t>CASA CORPULUI DIDACTIC HUNEDOARA</a:t>
            </a:r>
          </a:p>
          <a:p>
            <a:pPr lvl="0" algn="ctr" fontAlgn="base">
              <a:spcBef>
                <a:spcPct val="0"/>
              </a:spcBef>
              <a:spcAft>
                <a:spcPct val="0"/>
              </a:spcAft>
            </a:pPr>
            <a:endParaRPr lang="ro-RO" sz="2400" b="1" smtClean="0">
              <a:latin typeface="Arial" panose="020B0604020202020204" pitchFamily="34" charset="0"/>
              <a:cs typeface="Arial" panose="020B0604020202020204" pitchFamily="34" charset="0"/>
            </a:endParaRPr>
          </a:p>
          <a:p>
            <a:pPr lvl="0" algn="ctr" fontAlgn="base">
              <a:spcBef>
                <a:spcPct val="0"/>
              </a:spcBef>
              <a:spcAft>
                <a:spcPct val="0"/>
              </a:spcAft>
            </a:pPr>
            <a:r>
              <a:rPr lang="vi-VN" b="1" smtClean="0">
                <a:latin typeface="Arial" panose="020B0604020202020204" pitchFamily="34" charset="0"/>
                <a:cs typeface="Arial" panose="020B0604020202020204" pitchFamily="34" charset="0"/>
              </a:rPr>
              <a:t>Date de contact</a:t>
            </a:r>
            <a:endParaRPr lang="ro-RO" b="1" smtClean="0">
              <a:latin typeface="Arial" panose="020B0604020202020204" pitchFamily="34" charset="0"/>
              <a:cs typeface="Arial" panose="020B0604020202020204" pitchFamily="34" charset="0"/>
            </a:endParaRPr>
          </a:p>
          <a:p>
            <a:pPr lvl="0" fontAlgn="base">
              <a:spcBef>
                <a:spcPct val="0"/>
              </a:spcBef>
              <a:spcAft>
                <a:spcPct val="0"/>
              </a:spcAft>
            </a:pPr>
            <a:r>
              <a:rPr lang="vi-VN" smtClean="0">
                <a:latin typeface="Arial" panose="020B0604020202020204" pitchFamily="34" charset="0"/>
                <a:cs typeface="Arial" panose="020B0604020202020204" pitchFamily="34" charset="0"/>
              </a:rPr>
              <a:t/>
            </a:r>
            <a:br>
              <a:rPr lang="vi-VN" smtClean="0">
                <a:latin typeface="Arial" panose="020B0604020202020204" pitchFamily="34" charset="0"/>
                <a:cs typeface="Arial" panose="020B0604020202020204" pitchFamily="34" charset="0"/>
              </a:rPr>
            </a:br>
            <a:r>
              <a:rPr lang="vi-VN" smtClean="0">
                <a:latin typeface="Arial" panose="020B0604020202020204" pitchFamily="34" charset="0"/>
                <a:cs typeface="Arial" panose="020B0604020202020204" pitchFamily="34" charset="0"/>
              </a:rPr>
              <a:t>Adresa poştală:</a:t>
            </a: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vi-VN" smtClean="0">
                <a:latin typeface="Arial" panose="020B0604020202020204" pitchFamily="34" charset="0"/>
                <a:cs typeface="Arial" panose="020B0604020202020204" pitchFamily="34" charset="0"/>
              </a:rPr>
              <a:t>330065 - Deva, Str. George Bariţiu, Nr. 2, Judeţul Hunedoara, România</a:t>
            </a:r>
            <a:br>
              <a:rPr lang="vi-VN" smtClean="0">
                <a:latin typeface="Arial" panose="020B0604020202020204" pitchFamily="34" charset="0"/>
                <a:cs typeface="Arial" panose="020B0604020202020204" pitchFamily="34" charset="0"/>
              </a:rPr>
            </a:br>
            <a:r>
              <a:rPr lang="vi-VN" smtClean="0">
                <a:latin typeface="Arial" panose="020B0604020202020204" pitchFamily="34" charset="0"/>
                <a:cs typeface="Arial" panose="020B0604020202020204" pitchFamily="34" charset="0"/>
              </a:rPr>
              <a:t>Telefon:</a:t>
            </a: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vi-VN" smtClean="0">
                <a:latin typeface="Arial" panose="020B0604020202020204" pitchFamily="34" charset="0"/>
                <a:cs typeface="Arial" panose="020B0604020202020204" pitchFamily="34" charset="0"/>
              </a:rPr>
              <a:t>(+4) 0254/232.452;</a:t>
            </a:r>
            <a:r>
              <a:rPr lang="ro-RO" smtClean="0">
                <a:latin typeface="Arial" panose="020B0604020202020204" pitchFamily="34" charset="0"/>
                <a:cs typeface="Arial" panose="020B0604020202020204" pitchFamily="34" charset="0"/>
              </a:rPr>
              <a:t> </a:t>
            </a:r>
            <a:r>
              <a:rPr lang="vi-VN" smtClean="0">
                <a:latin typeface="Arial" panose="020B0604020202020204" pitchFamily="34" charset="0"/>
                <a:cs typeface="Arial" panose="020B0604020202020204" pitchFamily="34" charset="0"/>
              </a:rPr>
              <a:t>Fax:(+4) 0254/232.452</a:t>
            </a:r>
            <a:br>
              <a:rPr lang="vi-VN" smtClean="0">
                <a:latin typeface="Arial" panose="020B0604020202020204" pitchFamily="34" charset="0"/>
                <a:cs typeface="Arial" panose="020B0604020202020204" pitchFamily="34" charset="0"/>
              </a:rPr>
            </a:br>
            <a:r>
              <a:rPr lang="vi-VN" smtClean="0">
                <a:latin typeface="Arial" panose="020B0604020202020204" pitchFamily="34" charset="0"/>
                <a:cs typeface="Arial" panose="020B0604020202020204" pitchFamily="34" charset="0"/>
              </a:rPr>
              <a:t>Pagina Web:</a:t>
            </a: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vi-VN" smtClean="0">
                <a:latin typeface="Arial" panose="020B0604020202020204" pitchFamily="34" charset="0"/>
                <a:cs typeface="Arial" panose="020B0604020202020204" pitchFamily="34" charset="0"/>
              </a:rPr>
              <a:t>http://isj.hd.edu.ro/ccd  </a:t>
            </a:r>
            <a:br>
              <a:rPr lang="vi-VN" smtClean="0">
                <a:latin typeface="Arial" panose="020B0604020202020204" pitchFamily="34" charset="0"/>
                <a:cs typeface="Arial" panose="020B0604020202020204" pitchFamily="34" charset="0"/>
              </a:rPr>
            </a:br>
            <a:r>
              <a:rPr lang="vi-VN" smtClean="0">
                <a:latin typeface="Arial" panose="020B0604020202020204" pitchFamily="34" charset="0"/>
                <a:cs typeface="Arial" panose="020B0604020202020204" pitchFamily="34" charset="0"/>
              </a:rPr>
              <a:t>E-mail:</a:t>
            </a: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ro-RO">
                <a:latin typeface="Arial" panose="020B0604020202020204" pitchFamily="34" charset="0"/>
                <a:cs typeface="Arial" panose="020B0604020202020204" pitchFamily="34" charset="0"/>
              </a:rPr>
              <a:t>c</a:t>
            </a:r>
            <a:r>
              <a:rPr lang="vi-VN" smtClean="0">
                <a:latin typeface="Arial" panose="020B0604020202020204" pitchFamily="34" charset="0"/>
                <a:cs typeface="Arial" panose="020B0604020202020204" pitchFamily="34" charset="0"/>
              </a:rPr>
              <a:t>cd</a:t>
            </a:r>
            <a:r>
              <a:rPr lang="ro-RO" smtClean="0">
                <a:latin typeface="Arial" panose="020B0604020202020204" pitchFamily="34" charset="0"/>
                <a:cs typeface="Arial" panose="020B0604020202020204" pitchFamily="34" charset="0"/>
              </a:rPr>
              <a:t>_</a:t>
            </a:r>
            <a:r>
              <a:rPr lang="vi-VN" smtClean="0">
                <a:latin typeface="Arial" panose="020B0604020202020204" pitchFamily="34" charset="0"/>
                <a:cs typeface="Arial" panose="020B0604020202020204" pitchFamily="34" charset="0"/>
              </a:rPr>
              <a:t>deva</a:t>
            </a:r>
            <a:r>
              <a:rPr lang="ro-RO" smtClean="0">
                <a:latin typeface="Arial" panose="020B0604020202020204" pitchFamily="34" charset="0"/>
                <a:cs typeface="Arial" panose="020B0604020202020204" pitchFamily="34" charset="0"/>
              </a:rPr>
              <a:t>@</a:t>
            </a:r>
            <a:r>
              <a:rPr lang="vi-VN" smtClean="0">
                <a:latin typeface="Arial" panose="020B0604020202020204" pitchFamily="34" charset="0"/>
                <a:cs typeface="Arial" panose="020B0604020202020204" pitchFamily="34" charset="0"/>
              </a:rPr>
              <a:t>yaho</a:t>
            </a:r>
            <a:r>
              <a:rPr lang="ro-RO" smtClean="0">
                <a:latin typeface="Arial" panose="020B0604020202020204" pitchFamily="34" charset="0"/>
                <a:cs typeface="Arial" panose="020B0604020202020204" pitchFamily="34" charset="0"/>
              </a:rPr>
              <a:t>o.</a:t>
            </a:r>
            <a:r>
              <a:rPr lang="vi-VN" smtClean="0">
                <a:latin typeface="Arial" panose="020B0604020202020204" pitchFamily="34" charset="0"/>
                <a:cs typeface="Arial" panose="020B0604020202020204" pitchFamily="34" charset="0"/>
              </a:rPr>
              <a:t>com</a:t>
            </a:r>
            <a:br>
              <a:rPr lang="vi-VN" smtClean="0">
                <a:latin typeface="Arial" panose="020B0604020202020204" pitchFamily="34" charset="0"/>
                <a:cs typeface="Arial" panose="020B0604020202020204" pitchFamily="34" charset="0"/>
              </a:rPr>
            </a:br>
            <a:r>
              <a:rPr lang="vi-VN" smtClean="0">
                <a:latin typeface="Arial" panose="020B0604020202020204" pitchFamily="34" charset="0"/>
                <a:cs typeface="Arial" panose="020B0604020202020204" pitchFamily="34" charset="0"/>
              </a:rPr>
              <a:t>Forum:</a:t>
            </a: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vi-VN" smtClean="0">
                <a:latin typeface="Arial" panose="020B0604020202020204" pitchFamily="34" charset="0"/>
                <a:cs typeface="Arial" panose="020B0604020202020204" pitchFamily="34" charset="0"/>
                <a:hlinkClick r:id="rId2"/>
              </a:rPr>
              <a:t>http://isj.hd.edu.ro/forum</a:t>
            </a:r>
            <a:endParaRPr lang="ro-RO" smtClean="0">
              <a:latin typeface="Arial" panose="020B0604020202020204" pitchFamily="34" charset="0"/>
              <a:cs typeface="Arial" panose="020B0604020202020204" pitchFamily="34" charset="0"/>
            </a:endParaRPr>
          </a:p>
          <a:p>
            <a:pPr lvl="0" fontAlgn="base">
              <a:spcBef>
                <a:spcPct val="0"/>
              </a:spcBef>
              <a:spcAft>
                <a:spcPct val="0"/>
              </a:spcAft>
            </a:pPr>
            <a:endParaRPr lang="en-US" smtClean="0">
              <a:latin typeface="Arial" panose="020B0604020202020204" pitchFamily="34" charset="0"/>
              <a:cs typeface="Arial" panose="020B0604020202020204" pitchFamily="34" charset="0"/>
            </a:endParaRPr>
          </a:p>
          <a:p>
            <a:pPr lvl="0" fontAlgn="base">
              <a:spcBef>
                <a:spcPct val="0"/>
              </a:spcBef>
              <a:spcAft>
                <a:spcPct val="0"/>
              </a:spcAft>
            </a:pPr>
            <a:r>
              <a:rPr lang="en-US" smtClean="0">
                <a:latin typeface="Arial" panose="020B0604020202020204" pitchFamily="34" charset="0"/>
                <a:cs typeface="Arial" panose="020B0604020202020204" pitchFamily="34" charset="0"/>
              </a:rPr>
              <a:t>Director:                  Alm</a:t>
            </a:r>
            <a:r>
              <a:rPr lang="ro-RO" smtClean="0">
                <a:latin typeface="Arial" panose="020B0604020202020204" pitchFamily="34" charset="0"/>
                <a:cs typeface="Arial" panose="020B0604020202020204" pitchFamily="34" charset="0"/>
              </a:rPr>
              <a:t>ăş</a:t>
            </a:r>
            <a:r>
              <a:rPr lang="en-US" smtClean="0">
                <a:latin typeface="Arial" panose="020B0604020202020204" pitchFamily="34" charset="0"/>
                <a:cs typeface="Arial" panose="020B0604020202020204" pitchFamily="34" charset="0"/>
              </a:rPr>
              <a:t>an Adriana	0726/ 775.112</a:t>
            </a:r>
            <a:endParaRPr lang="ro-RO">
              <a:latin typeface="Arial" panose="020B0604020202020204" pitchFamily="34" charset="0"/>
              <a:cs typeface="Arial" panose="020B0604020202020204" pitchFamily="34" charset="0"/>
            </a:endParaRPr>
          </a:p>
          <a:p>
            <a:pPr lvl="0" fontAlgn="base">
              <a:spcBef>
                <a:spcPct val="0"/>
              </a:spcBef>
              <a:spcAft>
                <a:spcPct val="0"/>
              </a:spcAft>
            </a:pPr>
            <a:r>
              <a:rPr lang="ro-RO" smtClean="0">
                <a:latin typeface="Arial" panose="020B0604020202020204" pitchFamily="34" charset="0"/>
                <a:cs typeface="Arial" panose="020B0604020202020204" pitchFamily="34" charset="0"/>
              </a:rPr>
              <a:t>Profesori metodiști: Ramona Mihalache	0733/ 732.189</a:t>
            </a:r>
          </a:p>
          <a:p>
            <a:pPr lvl="0" fontAlgn="base">
              <a:spcBef>
                <a:spcPct val="0"/>
              </a:spcBef>
              <a:spcAft>
                <a:spcPct val="0"/>
              </a:spcAft>
            </a:pPr>
            <a:r>
              <a:rPr lang="ro-RO">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Laura Miclea          	0733/ 732.188</a:t>
            </a:r>
          </a:p>
          <a:p>
            <a:pPr lvl="0" fontAlgn="base">
              <a:spcBef>
                <a:spcPct val="0"/>
              </a:spcBef>
              <a:spcAft>
                <a:spcPct val="0"/>
              </a:spcAft>
            </a:pPr>
            <a:r>
              <a:rPr lang="ro-RO">
                <a:latin typeface="Arial" panose="020B0604020202020204" pitchFamily="34" charset="0"/>
                <a:cs typeface="Arial" panose="020B0604020202020204" pitchFamily="34" charset="0"/>
              </a:rPr>
              <a:t>	</a:t>
            </a:r>
            <a:r>
              <a:rPr lang="ro-RO" smtClean="0">
                <a:latin typeface="Arial" panose="020B0604020202020204" pitchFamily="34" charset="0"/>
                <a:cs typeface="Arial" panose="020B0604020202020204" pitchFamily="34" charset="0"/>
              </a:rPr>
              <a:t>	   Ioan Sterea            	0733/ 732.194</a:t>
            </a:r>
          </a:p>
          <a:p>
            <a:pPr lvl="0" fontAlgn="base">
              <a:spcBef>
                <a:spcPct val="0"/>
              </a:spcBef>
              <a:spcAft>
                <a:spcPct val="0"/>
              </a:spcAft>
            </a:pPr>
            <a:r>
              <a:rPr lang="ro-RO" smtClean="0">
                <a:latin typeface="Arial" panose="020B0604020202020204" pitchFamily="34" charset="0"/>
                <a:cs typeface="Arial" panose="020B0604020202020204" pitchFamily="34" charset="0"/>
              </a:rPr>
              <a:t>Bibliotec</a:t>
            </a:r>
            <a:r>
              <a:rPr lang="en-US" smtClean="0">
                <a:latin typeface="Arial" panose="020B0604020202020204" pitchFamily="34" charset="0"/>
                <a:cs typeface="Arial" panose="020B0604020202020204" pitchFamily="34" charset="0"/>
              </a:rPr>
              <a:t>ar</a:t>
            </a:r>
            <a:r>
              <a:rPr lang="ro-RO" smtClean="0">
                <a:latin typeface="Arial" panose="020B0604020202020204" pitchFamily="34" charset="0"/>
                <a:cs typeface="Arial" panose="020B0604020202020204" pitchFamily="34" charset="0"/>
              </a:rPr>
              <a:t>: 	   Liana Sturza 	     	0733/ 732.192</a:t>
            </a:r>
          </a:p>
          <a:p>
            <a:pPr lvl="0" fontAlgn="base">
              <a:spcBef>
                <a:spcPct val="0"/>
              </a:spcBef>
              <a:spcAft>
                <a:spcPct val="0"/>
              </a:spcAft>
            </a:pPr>
            <a:r>
              <a:rPr lang="ro-RO" smtClean="0">
                <a:latin typeface="Arial" panose="020B0604020202020204" pitchFamily="34" charset="0"/>
                <a:cs typeface="Arial" panose="020B0604020202020204" pitchFamily="34" charset="0"/>
              </a:rPr>
              <a:t>Informatician:	   Alexandru Lugojan 	0733/ 732.196</a:t>
            </a:r>
          </a:p>
        </p:txBody>
      </p:sp>
      <p:pic>
        <p:nvPicPr>
          <p:cNvPr id="1026" name="Picture 2" descr="Legătură externă">
            <a:hlinkClick r:id="rId3"/>
          </p:cNvPr>
          <p:cNvPicPr>
            <a:picLocks noChangeAspect="1" noChangeArrowheads="1"/>
          </p:cNvPicPr>
          <p:nvPr/>
        </p:nvPicPr>
        <p:blipFill>
          <a:blip r:embed="rId4" cstate="print"/>
          <a:srcRect/>
          <a:stretch>
            <a:fillRect/>
          </a:stretch>
        </p:blipFill>
        <p:spPr bwMode="auto">
          <a:xfrm>
            <a:off x="2390775" y="-274638"/>
            <a:ext cx="133350" cy="133350"/>
          </a:xfrm>
          <a:prstGeom prst="rect">
            <a:avLst/>
          </a:prstGeom>
          <a:noFill/>
        </p:spPr>
      </p:pic>
    </p:spTree>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il_fi" descr="carte-1"/>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372764" y="2623875"/>
            <a:ext cx="4647508" cy="3613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 name="TextBox 1"/>
          <p:cNvSpPr txBox="1"/>
          <p:nvPr/>
        </p:nvSpPr>
        <p:spPr>
          <a:xfrm>
            <a:off x="1043608" y="404664"/>
            <a:ext cx="7992888" cy="1200329"/>
          </a:xfrm>
          <a:prstGeom prst="rect">
            <a:avLst/>
          </a:prstGeom>
          <a:noFill/>
        </p:spPr>
        <p:txBody>
          <a:bodyPr wrap="square" rtlCol="0">
            <a:spAutoFit/>
          </a:bodyPr>
          <a:lstStyle/>
          <a:p>
            <a:pPr algn="ctr"/>
            <a:r>
              <a:rPr lang="ro-RO" sz="3600" b="1" smtClean="0">
                <a:latin typeface="Arial" panose="020B0604020202020204" pitchFamily="34" charset="0"/>
                <a:cs typeface="Arial" panose="020B0604020202020204" pitchFamily="34" charset="0"/>
              </a:rPr>
              <a:t>Vă mulțumim și vă dorim</a:t>
            </a:r>
          </a:p>
          <a:p>
            <a:pPr algn="ctr"/>
            <a:r>
              <a:rPr lang="ro-RO" sz="3600" b="1" smtClean="0">
                <a:latin typeface="Arial" panose="020B0604020202020204" pitchFamily="34" charset="0"/>
                <a:cs typeface="Arial" panose="020B0604020202020204" pitchFamily="34" charset="0"/>
              </a:rPr>
              <a:t>succes în activitatea Dvs!</a:t>
            </a:r>
            <a:endParaRPr lang="ro-RO" sz="3600" b="1">
              <a:latin typeface="Arial" panose="020B0604020202020204" pitchFamily="34" charset="0"/>
              <a:cs typeface="Arial" panose="020B0604020202020204" pitchFamily="34" charset="0"/>
            </a:endParaRPr>
          </a:p>
        </p:txBody>
      </p:sp>
    </p:spTree>
  </p:cSld>
  <p:clrMapOvr>
    <a:masterClrMapping/>
  </p:clrMapOvr>
  <p:transition spd="slow">
    <p:rand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956</TotalTime>
  <Words>2878</Words>
  <Application>Microsoft Office PowerPoint</Application>
  <PresentationFormat>On-screen Show (4:3)</PresentationFormat>
  <Paragraphs>355</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Solstice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ccd</dc:creator>
  <cp:lastModifiedBy>lugojan</cp:lastModifiedBy>
  <cp:revision>86</cp:revision>
  <dcterms:created xsi:type="dcterms:W3CDTF">2013-01-23T11:40:58Z</dcterms:created>
  <dcterms:modified xsi:type="dcterms:W3CDTF">2013-11-05T07:11:46Z</dcterms:modified>
</cp:coreProperties>
</file>