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62" r:id="rId3"/>
    <p:sldId id="264" r:id="rId4"/>
    <p:sldId id="303" r:id="rId5"/>
    <p:sldId id="305" r:id="rId6"/>
    <p:sldId id="306" r:id="rId7"/>
    <p:sldId id="307" r:id="rId8"/>
    <p:sldId id="308" r:id="rId9"/>
    <p:sldId id="310" r:id="rId10"/>
    <p:sldId id="311" r:id="rId11"/>
    <p:sldId id="312" r:id="rId12"/>
    <p:sldId id="313" r:id="rId13"/>
    <p:sldId id="314" r:id="rId14"/>
    <p:sldId id="324" r:id="rId15"/>
    <p:sldId id="33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B42BE7-61AC-4220-82AA-FC4544EDBF3A}"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13070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B42BE7-61AC-4220-82AA-FC4544EDBF3A}"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1123925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B42BE7-61AC-4220-82AA-FC4544EDBF3A}"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3385094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B42BE7-61AC-4220-82AA-FC4544EDBF3A}"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3265788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B42BE7-61AC-4220-82AA-FC4544EDBF3A}" type="datetimeFigureOut">
              <a:rPr lang="en-US" smtClean="0"/>
              <a:t>9/23/2024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3446122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B42BE7-61AC-4220-82AA-FC4544EDBF3A}" type="datetimeFigureOut">
              <a:rPr lang="en-US" smtClean="0"/>
              <a:t>9/23/2024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2673514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B42BE7-61AC-4220-82AA-FC4544EDBF3A}" type="datetimeFigureOut">
              <a:rPr lang="en-US" smtClean="0"/>
              <a:t>9/23/2024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970561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B42BE7-61AC-4220-82AA-FC4544EDBF3A}" type="datetimeFigureOut">
              <a:rPr lang="en-US" smtClean="0"/>
              <a:t>9/23/2024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22725570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44A725-3F0A-4B8A-A126-E55C6FC413D8}" type="slidenum">
              <a:rPr lang="en-US" smtClean="0"/>
              <a:t>‹#›</a:t>
            </a:fld>
            <a:endParaRPr lang="en-US"/>
          </a:p>
        </p:txBody>
      </p:sp>
      <p:sp>
        <p:nvSpPr>
          <p:cNvPr id="5" name="Date Placeholder 4"/>
          <p:cNvSpPr>
            <a:spLocks noGrp="1"/>
          </p:cNvSpPr>
          <p:nvPr>
            <p:ph type="dt" sz="half" idx="10"/>
          </p:nvPr>
        </p:nvSpPr>
        <p:spPr/>
        <p:txBody>
          <a:bodyPr/>
          <a:lstStyle/>
          <a:p>
            <a:fld id="{8DB42BE7-61AC-4220-82AA-FC4544EDBF3A}" type="datetimeFigureOut">
              <a:rPr lang="en-US" smtClean="0"/>
              <a:t>9/23/2024</a:t>
            </a:fld>
            <a:endParaRPr lang="en-US"/>
          </a:p>
        </p:txBody>
      </p:sp>
    </p:spTree>
    <p:extLst>
      <p:ext uri="{BB962C8B-B14F-4D97-AF65-F5344CB8AC3E}">
        <p14:creationId xmlns:p14="http://schemas.microsoft.com/office/powerpoint/2010/main" val="292760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B42BE7-61AC-4220-82AA-FC4544EDBF3A}"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1411544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B42BE7-61AC-4220-82AA-FC4544EDBF3A}"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44A725-3F0A-4B8A-A126-E55C6FC413D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77076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B42BE7-61AC-4220-82AA-FC4544EDBF3A}"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28276051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B42BE7-61AC-4220-82AA-FC4544EDBF3A}"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44A725-3F0A-4B8A-A126-E55C6FC413D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23057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B42BE7-61AC-4220-82AA-FC4544EDBF3A}"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37096511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B42BE7-61AC-4220-82AA-FC4544EDBF3A}"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32573267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B42BE7-61AC-4220-82AA-FC4544EDBF3A}" type="datetimeFigureOut">
              <a:rPr lang="en-US" smtClean="0"/>
              <a:t>9/23/2024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44A725-3F0A-4B8A-A126-E55C6FC413D8}" type="slidenum">
              <a:rPr lang="en-US" smtClean="0"/>
              <a:t>‹#›</a:t>
            </a:fld>
            <a:endParaRPr lang="en-US"/>
          </a:p>
        </p:txBody>
      </p:sp>
    </p:spTree>
    <p:extLst>
      <p:ext uri="{BB962C8B-B14F-4D97-AF65-F5344CB8AC3E}">
        <p14:creationId xmlns:p14="http://schemas.microsoft.com/office/powerpoint/2010/main" val="2953438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DB42BE7-61AC-4220-82AA-FC4544EDBF3A}" type="datetimeFigureOut">
              <a:rPr lang="en-US" smtClean="0"/>
              <a:t>9/23/2024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444A725-3F0A-4B8A-A126-E55C6FC413D8}" type="slidenum">
              <a:rPr lang="en-US" smtClean="0"/>
              <a:t>‹#›</a:t>
            </a:fld>
            <a:endParaRPr lang="en-US"/>
          </a:p>
        </p:txBody>
      </p:sp>
    </p:spTree>
    <p:extLst>
      <p:ext uri="{BB962C8B-B14F-4D97-AF65-F5344CB8AC3E}">
        <p14:creationId xmlns:p14="http://schemas.microsoft.com/office/powerpoint/2010/main" val="329327729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B0366-7402-42C2-BFE0-98039C725861}"/>
              </a:ext>
            </a:extLst>
          </p:cNvPr>
          <p:cNvSpPr>
            <a:spLocks noGrp="1"/>
          </p:cNvSpPr>
          <p:nvPr>
            <p:ph type="ctrTitle"/>
          </p:nvPr>
        </p:nvSpPr>
        <p:spPr/>
        <p:txBody>
          <a:bodyPr>
            <a:normAutofit fontScale="90000"/>
          </a:bodyPr>
          <a:lstStyle/>
          <a:p>
            <a:br>
              <a:rPr lang="ro-RO" dirty="0">
                <a:ln w="12700">
                  <a:solidFill>
                    <a:schemeClr val="accent1"/>
                  </a:solidFill>
                  <a:prstDash val="solid"/>
                </a:ln>
                <a:solidFill>
                  <a:schemeClr val="bg1"/>
                </a:solidFill>
                <a:effectLst>
                  <a:outerShdw dist="38100" dir="2640000" algn="bl" rotWithShape="0">
                    <a:schemeClr val="accent1"/>
                  </a:outerShdw>
                </a:effectLst>
              </a:rPr>
            </a:br>
            <a:br>
              <a:rPr lang="ro-RO" dirty="0">
                <a:ln w="12700">
                  <a:solidFill>
                    <a:schemeClr val="accent1"/>
                  </a:solidFill>
                  <a:prstDash val="solid"/>
                </a:ln>
                <a:solidFill>
                  <a:schemeClr val="bg1"/>
                </a:solidFill>
                <a:effectLst>
                  <a:outerShdw dist="38100" dir="2640000" algn="bl" rotWithShape="0">
                    <a:schemeClr val="accent1"/>
                  </a:outerShdw>
                </a:effectLst>
              </a:rPr>
            </a:br>
            <a:br>
              <a:rPr lang="ro-RO" dirty="0">
                <a:ln w="12700">
                  <a:solidFill>
                    <a:schemeClr val="accent1"/>
                  </a:solidFill>
                  <a:prstDash val="solid"/>
                </a:ln>
                <a:solidFill>
                  <a:schemeClr val="bg1"/>
                </a:solidFill>
                <a:effectLst>
                  <a:outerShdw dist="38100" dir="2640000" algn="bl" rotWithShape="0">
                    <a:schemeClr val="accent1"/>
                  </a:outerShdw>
                </a:effectLst>
              </a:rPr>
            </a:br>
            <a:br>
              <a:rPr lang="ro-RO" dirty="0">
                <a:ln w="12700">
                  <a:solidFill>
                    <a:schemeClr val="accent1"/>
                  </a:solidFill>
                  <a:prstDash val="solid"/>
                </a:ln>
                <a:solidFill>
                  <a:schemeClr val="bg1"/>
                </a:solidFill>
                <a:effectLst>
                  <a:outerShdw dist="38100" dir="2640000" algn="bl" rotWithShape="0">
                    <a:schemeClr val="accent1"/>
                  </a:outerShdw>
                </a:effectLst>
              </a:rPr>
            </a:br>
            <a:endParaRPr lang="en-US" dirty="0"/>
          </a:p>
        </p:txBody>
      </p:sp>
      <p:sp>
        <p:nvSpPr>
          <p:cNvPr id="3" name="Subtitle 2">
            <a:extLst>
              <a:ext uri="{FF2B5EF4-FFF2-40B4-BE49-F238E27FC236}">
                <a16:creationId xmlns:a16="http://schemas.microsoft.com/office/drawing/2014/main" id="{89159B08-B50E-4B8D-AAAE-08DBA66E99D2}"/>
              </a:ext>
            </a:extLst>
          </p:cNvPr>
          <p:cNvSpPr>
            <a:spLocks noGrp="1"/>
          </p:cNvSpPr>
          <p:nvPr>
            <p:ph type="subTitle" idx="1"/>
          </p:nvPr>
        </p:nvSpPr>
        <p:spPr>
          <a:xfrm>
            <a:off x="1524000" y="1634067"/>
            <a:ext cx="9144000" cy="3623733"/>
          </a:xfrm>
        </p:spPr>
        <p:txBody>
          <a:bodyPr>
            <a:normAutofit/>
          </a:bodyPr>
          <a:lstStyle/>
          <a:p>
            <a:pPr algn="ctr"/>
            <a:r>
              <a:rPr lang="ro-RO" sz="4000" dirty="0">
                <a:ln w="12700">
                  <a:solidFill>
                    <a:schemeClr val="accent1"/>
                  </a:solidFill>
                  <a:prstDash val="solid"/>
                </a:ln>
                <a:solidFill>
                  <a:schemeClr val="tx1"/>
                </a:solidFill>
                <a:effectLst>
                  <a:outerShdw dist="38100" dir="2640000" algn="bl" rotWithShape="0">
                    <a:schemeClr val="accent1"/>
                  </a:outerShdw>
                </a:effectLst>
              </a:rPr>
              <a:t>ÎNTÂLNIREA DE LUCRU A</a:t>
            </a:r>
            <a:br>
              <a:rPr lang="en-US" sz="4000" dirty="0">
                <a:ln w="12700">
                  <a:solidFill>
                    <a:schemeClr val="accent1"/>
                  </a:solidFill>
                  <a:prstDash val="solid"/>
                </a:ln>
                <a:solidFill>
                  <a:schemeClr val="tx1"/>
                </a:solidFill>
                <a:effectLst>
                  <a:outerShdw dist="38100" dir="2640000" algn="bl" rotWithShape="0">
                    <a:schemeClr val="accent1"/>
                  </a:outerShdw>
                </a:effectLst>
              </a:rPr>
            </a:br>
            <a:r>
              <a:rPr lang="ro-RO" sz="4000" dirty="0">
                <a:ln w="12700">
                  <a:solidFill>
                    <a:schemeClr val="accent1"/>
                  </a:solidFill>
                  <a:prstDash val="solid"/>
                </a:ln>
                <a:solidFill>
                  <a:schemeClr val="tx1"/>
                </a:solidFill>
                <a:effectLst>
                  <a:outerShdw dist="38100" dir="2640000" algn="bl" rotWithShape="0">
                    <a:schemeClr val="accent1"/>
                  </a:outerShdw>
                </a:effectLst>
              </a:rPr>
              <a:t>CONSILIERILOR EDUCATIVI</a:t>
            </a:r>
            <a:br>
              <a:rPr lang="en-US" sz="4000" dirty="0">
                <a:ln w="12700">
                  <a:solidFill>
                    <a:schemeClr val="accent1"/>
                  </a:solidFill>
                  <a:prstDash val="solid"/>
                </a:ln>
                <a:solidFill>
                  <a:schemeClr val="tx1"/>
                </a:solidFill>
                <a:effectLst>
                  <a:outerShdw dist="38100" dir="2640000" algn="bl" rotWithShape="0">
                    <a:schemeClr val="accent1"/>
                  </a:outerShdw>
                </a:effectLst>
              </a:rPr>
            </a:br>
            <a:r>
              <a:rPr lang="ro-RO" sz="4000" dirty="0">
                <a:ln w="12700">
                  <a:solidFill>
                    <a:schemeClr val="accent1"/>
                  </a:solidFill>
                  <a:prstDash val="solid"/>
                </a:ln>
                <a:solidFill>
                  <a:schemeClr val="tx1"/>
                </a:solidFill>
                <a:effectLst>
                  <a:outerShdw dist="38100" dir="2640000" algn="bl" rotWithShape="0">
                    <a:schemeClr val="accent1"/>
                  </a:outerShdw>
                </a:effectLst>
              </a:rPr>
              <a:t>24.09.2024</a:t>
            </a:r>
          </a:p>
          <a:p>
            <a:pPr algn="ctr"/>
            <a:br>
              <a:rPr lang="en-US" dirty="0">
                <a:ln w="12700">
                  <a:solidFill>
                    <a:schemeClr val="accent1"/>
                  </a:solidFill>
                  <a:prstDash val="solid"/>
                </a:ln>
                <a:solidFill>
                  <a:schemeClr val="accent5">
                    <a:lumMod val="60000"/>
                    <a:lumOff val="40000"/>
                  </a:schemeClr>
                </a:solidFill>
                <a:effectLst>
                  <a:outerShdw dist="38100" dir="2640000" algn="bl" rotWithShape="0">
                    <a:schemeClr val="accent1"/>
                  </a:outerShdw>
                </a:effectLst>
              </a:rPr>
            </a:br>
            <a:endParaRPr lang="en-US" dirty="0"/>
          </a:p>
        </p:txBody>
      </p:sp>
    </p:spTree>
    <p:extLst>
      <p:ext uri="{BB962C8B-B14F-4D97-AF65-F5344CB8AC3E}">
        <p14:creationId xmlns:p14="http://schemas.microsoft.com/office/powerpoint/2010/main" val="1330502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45559-688C-47D6-B7B3-559A77C7B2BC}"/>
              </a:ext>
            </a:extLst>
          </p:cNvPr>
          <p:cNvSpPr>
            <a:spLocks noGrp="1"/>
          </p:cNvSpPr>
          <p:nvPr>
            <p:ph type="title"/>
          </p:nvPr>
        </p:nvSpPr>
        <p:spPr/>
        <p:txBody>
          <a:bodyPr>
            <a:normAutofit fontScale="90000"/>
          </a:bodyPr>
          <a:lstStyle/>
          <a:p>
            <a:pPr algn="ctr"/>
            <a:br>
              <a:rPr lang="en-US" altLang="en-US" sz="2400" b="1" dirty="0">
                <a:solidFill>
                  <a:schemeClr val="tx1"/>
                </a:solidFill>
                <a:latin typeface="Trebuchet MS" panose="020B0603020202020204" pitchFamily="34" charset="0"/>
                <a:cs typeface="Times New Roman" panose="02020603050405020304" pitchFamily="18" charset="0"/>
              </a:rPr>
            </a:br>
            <a:br>
              <a:rPr lang="en-US" altLang="en-US" sz="2400" b="1" dirty="0">
                <a:solidFill>
                  <a:schemeClr val="tx1"/>
                </a:solidFill>
                <a:latin typeface="Trebuchet MS" panose="020B0603020202020204" pitchFamily="34" charset="0"/>
                <a:cs typeface="Times New Roman" panose="02020603050405020304" pitchFamily="18" charset="0"/>
              </a:rPr>
            </a:br>
            <a:r>
              <a:rPr lang="en-US" altLang="en-US" sz="2400" b="1" dirty="0" err="1">
                <a:solidFill>
                  <a:schemeClr val="tx1"/>
                </a:solidFill>
                <a:latin typeface="Trebuchet MS" panose="020B0603020202020204" pitchFamily="34" charset="0"/>
                <a:cs typeface="Times New Roman" panose="02020603050405020304" pitchFamily="18" charset="0"/>
              </a:rPr>
              <a:t>Structura</a:t>
            </a:r>
            <a:r>
              <a:rPr lang="en-US" altLang="en-US" sz="2400" b="1" dirty="0">
                <a:solidFill>
                  <a:schemeClr val="tx1"/>
                </a:solidFill>
                <a:latin typeface="Trebuchet MS" panose="020B0603020202020204" pitchFamily="34" charset="0"/>
                <a:cs typeface="Times New Roman" panose="02020603050405020304" pitchFamily="18" charset="0"/>
              </a:rPr>
              <a:t> </a:t>
            </a:r>
            <a:r>
              <a:rPr lang="en-US" altLang="en-US" sz="2400" b="1" dirty="0" err="1">
                <a:solidFill>
                  <a:schemeClr val="tx1"/>
                </a:solidFill>
                <a:latin typeface="Trebuchet MS" panose="020B0603020202020204" pitchFamily="34" charset="0"/>
                <a:cs typeface="Times New Roman" panose="02020603050405020304" pitchFamily="18" charset="0"/>
              </a:rPr>
              <a:t>anului</a:t>
            </a:r>
            <a:r>
              <a:rPr lang="en-US" altLang="en-US" sz="2400" b="1" dirty="0">
                <a:solidFill>
                  <a:schemeClr val="tx1"/>
                </a:solidFill>
                <a:latin typeface="Trebuchet MS" panose="020B0603020202020204" pitchFamily="34" charset="0"/>
                <a:cs typeface="Times New Roman" panose="02020603050405020304" pitchFamily="18" charset="0"/>
              </a:rPr>
              <a:t> </a:t>
            </a:r>
            <a:r>
              <a:rPr lang="ro-RO" altLang="en-US" sz="2400" b="1" dirty="0" err="1">
                <a:solidFill>
                  <a:schemeClr val="tx1"/>
                </a:solidFill>
                <a:latin typeface="Trebuchet MS" panose="020B0603020202020204" pitchFamily="34" charset="0"/>
                <a:cs typeface="Times New Roman" panose="02020603050405020304" pitchFamily="18" charset="0"/>
              </a:rPr>
              <a:t>ş</a:t>
            </a:r>
            <a:r>
              <a:rPr lang="en-US" altLang="en-US" sz="2400" b="1" dirty="0" err="1">
                <a:solidFill>
                  <a:schemeClr val="tx1"/>
                </a:solidFill>
                <a:latin typeface="Trebuchet MS" panose="020B0603020202020204" pitchFamily="34" charset="0"/>
                <a:cs typeface="Times New Roman" panose="02020603050405020304" pitchFamily="18" charset="0"/>
              </a:rPr>
              <a:t>colar</a:t>
            </a:r>
            <a:r>
              <a:rPr lang="en-US" altLang="en-US" sz="2400" b="1" dirty="0">
                <a:solidFill>
                  <a:schemeClr val="tx1"/>
                </a:solidFill>
                <a:latin typeface="Trebuchet MS" panose="020B0603020202020204" pitchFamily="34" charset="0"/>
                <a:cs typeface="Times New Roman" panose="02020603050405020304" pitchFamily="18" charset="0"/>
              </a:rPr>
              <a:t> 202</a:t>
            </a:r>
            <a:r>
              <a:rPr lang="ro-RO" altLang="en-US" sz="2400" b="1" dirty="0">
                <a:solidFill>
                  <a:schemeClr val="tx1"/>
                </a:solidFill>
                <a:latin typeface="Trebuchet MS" panose="020B0603020202020204" pitchFamily="34" charset="0"/>
                <a:cs typeface="Times New Roman" panose="02020603050405020304" pitchFamily="18" charset="0"/>
              </a:rPr>
              <a:t>4-2</a:t>
            </a:r>
            <a:r>
              <a:rPr lang="en-US" altLang="en-US" sz="2400" b="1" dirty="0">
                <a:solidFill>
                  <a:schemeClr val="tx1"/>
                </a:solidFill>
                <a:latin typeface="Trebuchet MS" panose="020B0603020202020204" pitchFamily="34" charset="0"/>
                <a:cs typeface="Times New Roman" panose="02020603050405020304" pitchFamily="18" charset="0"/>
              </a:rPr>
              <a:t>02</a:t>
            </a:r>
            <a:r>
              <a:rPr lang="ro-RO" altLang="en-US" sz="2400" b="1" dirty="0">
                <a:solidFill>
                  <a:schemeClr val="tx1"/>
                </a:solidFill>
                <a:latin typeface="Trebuchet MS" panose="020B0603020202020204" pitchFamily="34" charset="0"/>
                <a:cs typeface="Times New Roman" panose="02020603050405020304" pitchFamily="18" charset="0"/>
              </a:rPr>
              <a:t>5 </a:t>
            </a:r>
            <a:br>
              <a:rPr lang="en-US" altLang="en-US" sz="2400" b="1" dirty="0">
                <a:solidFill>
                  <a:schemeClr val="tx1"/>
                </a:solidFill>
                <a:latin typeface="Trebuchet MS" panose="020B0603020202020204" pitchFamily="34" charset="0"/>
                <a:cs typeface="Times New Roman" panose="02020603050405020304" pitchFamily="18" charset="0"/>
              </a:rPr>
            </a:br>
            <a:br>
              <a:rPr lang="en-US" altLang="en-US" sz="2400" b="1" dirty="0">
                <a:solidFill>
                  <a:schemeClr val="tx1"/>
                </a:solidFill>
                <a:latin typeface="Trebuchet MS" panose="020B0603020202020204" pitchFamily="34" charset="0"/>
                <a:cs typeface="Times New Roman" panose="02020603050405020304" pitchFamily="18" charset="0"/>
              </a:rPr>
            </a:br>
            <a:endParaRPr lang="en-US" sz="2400" dirty="0"/>
          </a:p>
        </p:txBody>
      </p:sp>
      <p:sp>
        <p:nvSpPr>
          <p:cNvPr id="3" name="Content Placeholder 2">
            <a:extLst>
              <a:ext uri="{FF2B5EF4-FFF2-40B4-BE49-F238E27FC236}">
                <a16:creationId xmlns:a16="http://schemas.microsoft.com/office/drawing/2014/main" id="{75911034-83FD-4B83-8D33-BC32B131AEE8}"/>
              </a:ext>
            </a:extLst>
          </p:cNvPr>
          <p:cNvSpPr>
            <a:spLocks noGrp="1"/>
          </p:cNvSpPr>
          <p:nvPr>
            <p:ph idx="1"/>
          </p:nvPr>
        </p:nvSpPr>
        <p:spPr>
          <a:xfrm>
            <a:off x="838200" y="1303866"/>
            <a:ext cx="10515600" cy="5328753"/>
          </a:xfrm>
          <a:solidFill>
            <a:schemeClr val="accent4">
              <a:lumMod val="20000"/>
              <a:lumOff val="80000"/>
            </a:schemeClr>
          </a:solidFill>
        </p:spPr>
        <p:txBody>
          <a:bodyPr>
            <a:normAutofit fontScale="92500" lnSpcReduction="20000"/>
          </a:bodyPr>
          <a:lstStyle/>
          <a:p>
            <a:pPr marL="0" marR="0" indent="0" algn="ctr">
              <a:lnSpc>
                <a:spcPct val="107000"/>
              </a:lnSpc>
              <a:spcBef>
                <a:spcPts val="0"/>
              </a:spcBef>
              <a:spcAft>
                <a:spcPts val="0"/>
              </a:spcAft>
              <a:buNone/>
            </a:pPr>
            <a:r>
              <a:rPr lang="ro-RO" altLang="en-US" sz="2600" b="1" dirty="0">
                <a:solidFill>
                  <a:schemeClr val="tx1"/>
                </a:solidFill>
                <a:cs typeface="Times New Roman" panose="02020603050405020304" pitchFamily="18" charset="0"/>
              </a:rPr>
              <a:t>O</a:t>
            </a:r>
            <a:r>
              <a:rPr lang="en-US" altLang="en-US" sz="2600" b="1" dirty="0">
                <a:solidFill>
                  <a:schemeClr val="tx1"/>
                </a:solidFill>
                <a:cs typeface="Times New Roman" panose="02020603050405020304" pitchFamily="18" charset="0"/>
              </a:rPr>
              <a:t>ME </a:t>
            </a:r>
            <a:r>
              <a:rPr lang="ro-RO" altLang="en-US" sz="2600" b="1" dirty="0">
                <a:solidFill>
                  <a:schemeClr val="tx1"/>
                </a:solidFill>
                <a:cs typeface="Times New Roman" panose="02020603050405020304" pitchFamily="18" charset="0"/>
              </a:rPr>
              <a:t>nr. </a:t>
            </a:r>
            <a:r>
              <a:rPr lang="ro-RO" sz="2600" b="1" dirty="0">
                <a:effectLst/>
                <a:ea typeface="Calibri" panose="020F0502020204030204" pitchFamily="34" charset="0"/>
                <a:cs typeface="Times New Roman" panose="02020603050405020304" pitchFamily="18" charset="0"/>
              </a:rPr>
              <a:t>3694/2024 privind structura anului </a:t>
            </a:r>
            <a:r>
              <a:rPr lang="ro-RO" sz="2600" b="1" dirty="0" err="1">
                <a:effectLst/>
                <a:ea typeface="Calibri" panose="020F0502020204030204" pitchFamily="34" charset="0"/>
                <a:cs typeface="Times New Roman" panose="02020603050405020304" pitchFamily="18" charset="0"/>
              </a:rPr>
              <a:t>şcolar</a:t>
            </a:r>
            <a:r>
              <a:rPr lang="ro-RO" sz="2600" b="1" dirty="0">
                <a:effectLst/>
                <a:ea typeface="Calibri" panose="020F0502020204030204" pitchFamily="34" charset="0"/>
                <a:cs typeface="Times New Roman" panose="02020603050405020304" pitchFamily="18" charset="0"/>
              </a:rPr>
              <a:t> 2024-2025</a:t>
            </a:r>
          </a:p>
          <a:p>
            <a:pPr marL="0" marR="0" indent="0" algn="just">
              <a:lnSpc>
                <a:spcPct val="107000"/>
              </a:lnSpc>
              <a:spcBef>
                <a:spcPts val="0"/>
              </a:spcBef>
              <a:spcAft>
                <a:spcPts val="0"/>
              </a:spcAft>
              <a:buNone/>
            </a:pPr>
            <a:endParaRPr lang="ro-RO" sz="2600" b="1" dirty="0">
              <a:effectLst/>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0"/>
              </a:spcAft>
              <a:buNone/>
            </a:pPr>
            <a:endParaRPr lang="ro-RO" sz="1400" dirty="0"/>
          </a:p>
          <a:p>
            <a:pPr marL="0" marR="0" indent="0" algn="just">
              <a:lnSpc>
                <a:spcPct val="107000"/>
              </a:lnSpc>
              <a:spcBef>
                <a:spcPts val="0"/>
              </a:spcBef>
              <a:spcAft>
                <a:spcPts val="0"/>
              </a:spcAft>
              <a:buNone/>
            </a:pPr>
            <a:r>
              <a:rPr lang="en-US" sz="2000" dirty="0" err="1"/>
              <a:t>Anul</a:t>
            </a:r>
            <a:r>
              <a:rPr lang="en-US" sz="2000" dirty="0"/>
              <a:t> </a:t>
            </a:r>
            <a:r>
              <a:rPr lang="en-US" sz="2000" dirty="0" err="1"/>
              <a:t>școlar</a:t>
            </a:r>
            <a:r>
              <a:rPr lang="en-US" sz="2000" dirty="0"/>
              <a:t> 2024—2025 </a:t>
            </a:r>
            <a:r>
              <a:rPr lang="en-US" sz="2000" dirty="0" err="1"/>
              <a:t>începe</a:t>
            </a:r>
            <a:r>
              <a:rPr lang="en-US" sz="2000" dirty="0"/>
              <a:t> la data de 1 </a:t>
            </a:r>
            <a:r>
              <a:rPr lang="en-US" sz="2000" dirty="0" err="1"/>
              <a:t>septembrie</a:t>
            </a:r>
            <a:r>
              <a:rPr lang="en-US" sz="2000" dirty="0"/>
              <a:t> 2024, se </a:t>
            </a:r>
            <a:r>
              <a:rPr lang="en-US" sz="2000" dirty="0" err="1"/>
              <a:t>încheie</a:t>
            </a:r>
            <a:r>
              <a:rPr lang="en-US" sz="2000" dirty="0"/>
              <a:t> la data de 31 august 2025 </a:t>
            </a:r>
            <a:r>
              <a:rPr lang="en-US" sz="2000" dirty="0" err="1"/>
              <a:t>și</a:t>
            </a:r>
            <a:r>
              <a:rPr lang="en-US" sz="2000" dirty="0"/>
              <a:t> are o </a:t>
            </a:r>
            <a:r>
              <a:rPr lang="en-US" sz="2000" dirty="0" err="1"/>
              <a:t>durată</a:t>
            </a:r>
            <a:r>
              <a:rPr lang="en-US" sz="2000" dirty="0"/>
              <a:t> de 36 de </a:t>
            </a:r>
            <a:r>
              <a:rPr lang="en-US" sz="2000" dirty="0" err="1"/>
              <a:t>săptămâni</a:t>
            </a:r>
            <a:r>
              <a:rPr lang="en-US" sz="2000" dirty="0"/>
              <a:t> de </a:t>
            </a:r>
            <a:r>
              <a:rPr lang="en-US" sz="2000" dirty="0" err="1"/>
              <a:t>cursuri</a:t>
            </a:r>
            <a:r>
              <a:rPr lang="en-US" sz="2000" dirty="0"/>
              <a:t>. </a:t>
            </a:r>
            <a:r>
              <a:rPr lang="en-US" sz="2000" dirty="0" err="1"/>
              <a:t>Cursurile</a:t>
            </a:r>
            <a:r>
              <a:rPr lang="en-US" sz="2000" dirty="0"/>
              <a:t> </a:t>
            </a:r>
            <a:r>
              <a:rPr lang="en-US" sz="2000" dirty="0" err="1"/>
              <a:t>anului</a:t>
            </a:r>
            <a:r>
              <a:rPr lang="en-US" sz="2000" dirty="0"/>
              <a:t> </a:t>
            </a:r>
            <a:r>
              <a:rPr lang="en-US" sz="2000" dirty="0" err="1"/>
              <a:t>școlar</a:t>
            </a:r>
            <a:r>
              <a:rPr lang="en-US" sz="2000" dirty="0"/>
              <a:t> 2024—2025 </a:t>
            </a:r>
            <a:r>
              <a:rPr lang="en-US" sz="2000" dirty="0" err="1"/>
              <a:t>încep</a:t>
            </a:r>
            <a:r>
              <a:rPr lang="en-US" sz="2000" dirty="0"/>
              <a:t> la data de 9 </a:t>
            </a:r>
            <a:r>
              <a:rPr lang="en-US" sz="2000" dirty="0" err="1"/>
              <a:t>septembrie</a:t>
            </a:r>
            <a:r>
              <a:rPr lang="en-US" sz="2000" dirty="0"/>
              <a:t> 2024.</a:t>
            </a:r>
            <a:endParaRPr lang="ro-RO" sz="2000" dirty="0"/>
          </a:p>
          <a:p>
            <a:pPr marL="0" marR="0" indent="0" algn="just">
              <a:lnSpc>
                <a:spcPct val="107000"/>
              </a:lnSpc>
              <a:spcBef>
                <a:spcPts val="0"/>
              </a:spcBef>
              <a:spcAft>
                <a:spcPts val="0"/>
              </a:spcAft>
              <a:buNone/>
            </a:pPr>
            <a:endParaRPr lang="ro-RO" sz="2000" dirty="0"/>
          </a:p>
          <a:p>
            <a:pPr marL="0" marR="0" indent="0" algn="just">
              <a:lnSpc>
                <a:spcPct val="107000"/>
              </a:lnSpc>
              <a:spcBef>
                <a:spcPts val="0"/>
              </a:spcBef>
              <a:spcAft>
                <a:spcPts val="0"/>
              </a:spcAft>
              <a:buNone/>
            </a:pPr>
            <a:r>
              <a:rPr lang="en-US" sz="2000" dirty="0" err="1"/>
              <a:t>Programul</a:t>
            </a:r>
            <a:r>
              <a:rPr lang="en-US" sz="2000" dirty="0"/>
              <a:t> </a:t>
            </a:r>
            <a:r>
              <a:rPr lang="en-US" sz="2000" dirty="0" err="1"/>
              <a:t>național</a:t>
            </a:r>
            <a:r>
              <a:rPr lang="en-US" sz="2000" dirty="0"/>
              <a:t> </a:t>
            </a:r>
            <a:r>
              <a:rPr lang="en-US" sz="2000" b="1" dirty="0"/>
              <a:t>„</a:t>
            </a:r>
            <a:r>
              <a:rPr lang="en-US" sz="2000" b="1" dirty="0" err="1"/>
              <a:t>Școala</a:t>
            </a:r>
            <a:r>
              <a:rPr lang="en-US" sz="2000" b="1" dirty="0"/>
              <a:t> </a:t>
            </a:r>
            <a:r>
              <a:rPr lang="en-US" sz="2000" b="1" dirty="0" err="1"/>
              <a:t>altfel</a:t>
            </a:r>
            <a:r>
              <a:rPr lang="en-US" sz="2000" dirty="0"/>
              <a:t>” </a:t>
            </a:r>
            <a:r>
              <a:rPr lang="en-US" sz="2000" dirty="0" err="1"/>
              <a:t>și</a:t>
            </a:r>
            <a:r>
              <a:rPr lang="en-US" sz="2000" dirty="0"/>
              <a:t> </a:t>
            </a:r>
            <a:r>
              <a:rPr lang="en-US" sz="2000" dirty="0" err="1"/>
              <a:t>Programul</a:t>
            </a:r>
            <a:r>
              <a:rPr lang="en-US" sz="2000" dirty="0"/>
              <a:t> „</a:t>
            </a:r>
            <a:r>
              <a:rPr lang="en-US" sz="2000" b="1" dirty="0" err="1"/>
              <a:t>Săptămâna</a:t>
            </a:r>
            <a:r>
              <a:rPr lang="en-US" sz="2000" b="1" dirty="0"/>
              <a:t> </a:t>
            </a:r>
            <a:r>
              <a:rPr lang="en-US" sz="2000" b="1" dirty="0" err="1"/>
              <a:t>verde</a:t>
            </a:r>
            <a:r>
              <a:rPr lang="en-US" sz="2000" b="1" dirty="0"/>
              <a:t>” </a:t>
            </a:r>
            <a:r>
              <a:rPr lang="en-US" sz="2000" dirty="0"/>
              <a:t>se </a:t>
            </a:r>
            <a:r>
              <a:rPr lang="en-US" sz="2000" dirty="0" err="1"/>
              <a:t>desfășoară</a:t>
            </a:r>
            <a:r>
              <a:rPr lang="en-US" sz="2000" dirty="0"/>
              <a:t> </a:t>
            </a:r>
            <a:r>
              <a:rPr lang="en-US" sz="2000" dirty="0" err="1"/>
              <a:t>în</a:t>
            </a:r>
            <a:r>
              <a:rPr lang="en-US" sz="2000" dirty="0"/>
              <a:t> </a:t>
            </a:r>
            <a:r>
              <a:rPr lang="en-US" sz="2000" dirty="0" err="1"/>
              <a:t>perioada</a:t>
            </a:r>
            <a:r>
              <a:rPr lang="en-US" sz="2000" dirty="0"/>
              <a:t> 9 </a:t>
            </a:r>
            <a:r>
              <a:rPr lang="en-US" sz="2000" dirty="0" err="1"/>
              <a:t>septembrie</a:t>
            </a:r>
            <a:r>
              <a:rPr lang="en-US" sz="2000" dirty="0"/>
              <a:t> 2024—30 </a:t>
            </a:r>
            <a:r>
              <a:rPr lang="en-US" sz="2000" dirty="0" err="1"/>
              <a:t>mai</a:t>
            </a:r>
            <a:r>
              <a:rPr lang="en-US" sz="2000" dirty="0"/>
              <a:t> 2025, </a:t>
            </a:r>
            <a:r>
              <a:rPr lang="en-US" sz="2000" dirty="0" err="1"/>
              <a:t>în</a:t>
            </a:r>
            <a:r>
              <a:rPr lang="en-US" sz="2000" dirty="0"/>
              <a:t> </a:t>
            </a:r>
            <a:r>
              <a:rPr lang="en-US" sz="2000" dirty="0" err="1"/>
              <a:t>intervale</a:t>
            </a:r>
            <a:r>
              <a:rPr lang="en-US" sz="2000" dirty="0"/>
              <a:t> de </a:t>
            </a:r>
            <a:r>
              <a:rPr lang="en-US" sz="2000" dirty="0" err="1"/>
              <a:t>câte</a:t>
            </a:r>
            <a:r>
              <a:rPr lang="en-US" sz="2000" dirty="0"/>
              <a:t> 5 </a:t>
            </a:r>
            <a:r>
              <a:rPr lang="en-US" sz="2000" dirty="0" err="1"/>
              <a:t>zile</a:t>
            </a:r>
            <a:r>
              <a:rPr lang="en-US" sz="2000" dirty="0"/>
              <a:t> consecutive </a:t>
            </a:r>
            <a:r>
              <a:rPr lang="en-US" sz="2000" dirty="0" err="1"/>
              <a:t>lucrătoare</a:t>
            </a:r>
            <a:r>
              <a:rPr lang="en-US" sz="2000" dirty="0"/>
              <a:t>, a </a:t>
            </a:r>
            <a:r>
              <a:rPr lang="en-US" sz="2000" dirty="0" err="1"/>
              <a:t>căror</a:t>
            </a:r>
            <a:r>
              <a:rPr lang="en-US" sz="2000" dirty="0"/>
              <a:t> </a:t>
            </a:r>
            <a:r>
              <a:rPr lang="en-US" sz="2000" dirty="0" err="1"/>
              <a:t>planificare</a:t>
            </a:r>
            <a:r>
              <a:rPr lang="en-US" sz="2000" dirty="0"/>
              <a:t> se </a:t>
            </a:r>
            <a:r>
              <a:rPr lang="en-US" sz="2000" dirty="0" err="1"/>
              <a:t>află</a:t>
            </a:r>
            <a:r>
              <a:rPr lang="en-US" sz="2000" dirty="0"/>
              <a:t> la </a:t>
            </a:r>
            <a:r>
              <a:rPr lang="en-US" sz="2000" dirty="0" err="1"/>
              <a:t>decizia</a:t>
            </a:r>
            <a:r>
              <a:rPr lang="en-US" sz="2000" dirty="0"/>
              <a:t> </a:t>
            </a:r>
            <a:r>
              <a:rPr lang="en-US" sz="2000" dirty="0" err="1"/>
              <a:t>unității</a:t>
            </a:r>
            <a:r>
              <a:rPr lang="en-US" sz="2000" dirty="0"/>
              <a:t> de </a:t>
            </a:r>
            <a:r>
              <a:rPr lang="en-US" sz="2000" dirty="0" err="1"/>
              <a:t>învățământ</a:t>
            </a:r>
            <a:r>
              <a:rPr lang="en-US" sz="2000" dirty="0"/>
              <a:t>. </a:t>
            </a:r>
            <a:r>
              <a:rPr lang="en-US" sz="2000" dirty="0" err="1"/>
              <a:t>Derularea</a:t>
            </a:r>
            <a:r>
              <a:rPr lang="en-US" sz="2000" dirty="0"/>
              <a:t> </a:t>
            </a:r>
            <a:r>
              <a:rPr lang="en-US" sz="2000" dirty="0" err="1"/>
              <a:t>celor</a:t>
            </a:r>
            <a:r>
              <a:rPr lang="en-US" sz="2000" dirty="0"/>
              <a:t> </a:t>
            </a:r>
            <a:r>
              <a:rPr lang="en-US" sz="2000" dirty="0" err="1"/>
              <a:t>două</a:t>
            </a:r>
            <a:r>
              <a:rPr lang="en-US" sz="2000" dirty="0"/>
              <a:t> </a:t>
            </a:r>
            <a:r>
              <a:rPr lang="en-US" sz="2000" dirty="0" err="1"/>
              <a:t>programe</a:t>
            </a:r>
            <a:r>
              <a:rPr lang="en-US" sz="2000" dirty="0"/>
              <a:t> se </a:t>
            </a:r>
            <a:r>
              <a:rPr lang="en-US" sz="2000" dirty="0" err="1"/>
              <a:t>planifică</a:t>
            </a:r>
            <a:r>
              <a:rPr lang="en-US" sz="2000" dirty="0"/>
              <a:t> </a:t>
            </a:r>
            <a:r>
              <a:rPr lang="en-US" sz="2000" dirty="0" err="1"/>
              <a:t>în</a:t>
            </a:r>
            <a:r>
              <a:rPr lang="en-US" sz="2000" dirty="0"/>
              <a:t> </a:t>
            </a:r>
            <a:r>
              <a:rPr lang="en-US" sz="2000" dirty="0" err="1"/>
              <a:t>intervale</a:t>
            </a:r>
            <a:r>
              <a:rPr lang="en-US" sz="2000" dirty="0"/>
              <a:t> de </a:t>
            </a:r>
            <a:r>
              <a:rPr lang="en-US" sz="2000" dirty="0" err="1"/>
              <a:t>cursuri</a:t>
            </a:r>
            <a:r>
              <a:rPr lang="en-US" sz="2000" dirty="0"/>
              <a:t> </a:t>
            </a:r>
            <a:r>
              <a:rPr lang="en-US" sz="2000" dirty="0" err="1"/>
              <a:t>diferite</a:t>
            </a:r>
            <a:r>
              <a:rPr lang="en-US" sz="2000" dirty="0"/>
              <a:t>. </a:t>
            </a:r>
            <a:endParaRPr lang="ro-RO" sz="2000" dirty="0"/>
          </a:p>
          <a:p>
            <a:pPr marL="0" marR="0" indent="0" algn="just">
              <a:lnSpc>
                <a:spcPct val="107000"/>
              </a:lnSpc>
              <a:spcBef>
                <a:spcPts val="0"/>
              </a:spcBef>
              <a:spcAft>
                <a:spcPts val="0"/>
              </a:spcAft>
              <a:buNone/>
            </a:pPr>
            <a:endParaRPr lang="ro-RO" sz="2000" dirty="0"/>
          </a:p>
          <a:p>
            <a:pPr marL="0" marR="0" indent="0" algn="just">
              <a:lnSpc>
                <a:spcPct val="107000"/>
              </a:lnSpc>
              <a:spcBef>
                <a:spcPts val="0"/>
              </a:spcBef>
              <a:spcAft>
                <a:spcPts val="0"/>
              </a:spcAft>
              <a:buNone/>
            </a:pPr>
            <a:r>
              <a:rPr lang="en-US" sz="2000" dirty="0"/>
              <a:t>La </a:t>
            </a:r>
            <a:r>
              <a:rPr lang="en-US" sz="2000" dirty="0" err="1"/>
              <a:t>clasele</a:t>
            </a:r>
            <a:r>
              <a:rPr lang="en-US" sz="2000" dirty="0"/>
              <a:t> din </a:t>
            </a:r>
            <a:r>
              <a:rPr lang="en-US" sz="2000" dirty="0" err="1"/>
              <a:t>învățământul</a:t>
            </a:r>
            <a:r>
              <a:rPr lang="en-US" sz="2000" dirty="0"/>
              <a:t> </a:t>
            </a:r>
            <a:r>
              <a:rPr lang="en-US" sz="2000" dirty="0" err="1"/>
              <a:t>liceal</a:t>
            </a:r>
            <a:r>
              <a:rPr lang="en-US" sz="2000" dirty="0"/>
              <a:t> — </a:t>
            </a:r>
            <a:r>
              <a:rPr lang="en-US" sz="2000" dirty="0" err="1"/>
              <a:t>filiera</a:t>
            </a:r>
            <a:r>
              <a:rPr lang="en-US" sz="2000" dirty="0"/>
              <a:t> </a:t>
            </a:r>
            <a:r>
              <a:rPr lang="en-US" sz="2000" dirty="0" err="1"/>
              <a:t>tehnologică</a:t>
            </a:r>
            <a:r>
              <a:rPr lang="en-US" sz="2000" dirty="0"/>
              <a:t> </a:t>
            </a:r>
            <a:r>
              <a:rPr lang="en-US" sz="2000" dirty="0" err="1"/>
              <a:t>și</a:t>
            </a:r>
            <a:r>
              <a:rPr lang="en-US" sz="2000" dirty="0"/>
              <a:t> din </a:t>
            </a:r>
            <a:r>
              <a:rPr lang="en-US" sz="2000" dirty="0" err="1"/>
              <a:t>învățământul</a:t>
            </a:r>
            <a:r>
              <a:rPr lang="en-US" sz="2000" dirty="0"/>
              <a:t> </a:t>
            </a:r>
            <a:r>
              <a:rPr lang="en-US" sz="2000" dirty="0" err="1"/>
              <a:t>profesional</a:t>
            </a:r>
            <a:r>
              <a:rPr lang="en-US" sz="2000" dirty="0"/>
              <a:t>, </a:t>
            </a:r>
            <a:r>
              <a:rPr lang="en-US" sz="2000" dirty="0" err="1"/>
              <a:t>în</a:t>
            </a:r>
            <a:r>
              <a:rPr lang="en-US" sz="2000" dirty="0"/>
              <a:t> </a:t>
            </a:r>
            <a:r>
              <a:rPr lang="en-US" sz="2000" dirty="0" err="1"/>
              <a:t>perioadele</a:t>
            </a:r>
            <a:r>
              <a:rPr lang="en-US" sz="2000" dirty="0"/>
              <a:t> dedicate </a:t>
            </a:r>
            <a:r>
              <a:rPr lang="en-US" sz="2000" dirty="0" err="1"/>
              <a:t>programelor</a:t>
            </a:r>
            <a:r>
              <a:rPr lang="en-US" sz="2000" dirty="0"/>
              <a:t> „</a:t>
            </a:r>
            <a:r>
              <a:rPr lang="en-US" sz="2000" dirty="0" err="1"/>
              <a:t>Școala</a:t>
            </a:r>
            <a:r>
              <a:rPr lang="en-US" sz="2000" dirty="0"/>
              <a:t> </a:t>
            </a:r>
            <a:r>
              <a:rPr lang="en-US" sz="2000" dirty="0" err="1"/>
              <a:t>altfel</a:t>
            </a:r>
            <a:r>
              <a:rPr lang="en-US" sz="2000" dirty="0"/>
              <a:t>” </a:t>
            </a:r>
            <a:r>
              <a:rPr lang="en-US" sz="2000" dirty="0" err="1"/>
              <a:t>și</a:t>
            </a:r>
            <a:r>
              <a:rPr lang="en-US" sz="2000" dirty="0"/>
              <a:t> „</a:t>
            </a:r>
            <a:r>
              <a:rPr lang="en-US" sz="2000" dirty="0" err="1"/>
              <a:t>Săptămâna</a:t>
            </a:r>
            <a:r>
              <a:rPr lang="en-US" sz="2000" dirty="0"/>
              <a:t> </a:t>
            </a:r>
            <a:r>
              <a:rPr lang="en-US" sz="2000" dirty="0" err="1"/>
              <a:t>verde</a:t>
            </a:r>
            <a:r>
              <a:rPr lang="en-US" sz="2000" dirty="0"/>
              <a:t>” se </a:t>
            </a:r>
            <a:r>
              <a:rPr lang="en-US" sz="2000" dirty="0" err="1"/>
              <a:t>organizează</a:t>
            </a:r>
            <a:r>
              <a:rPr lang="en-US" sz="2000" dirty="0"/>
              <a:t> </a:t>
            </a:r>
            <a:r>
              <a:rPr lang="en-US" sz="2000" dirty="0" err="1"/>
              <a:t>activități</a:t>
            </a:r>
            <a:r>
              <a:rPr lang="en-US" sz="2000" dirty="0"/>
              <a:t> de </a:t>
            </a:r>
            <a:r>
              <a:rPr lang="en-US" sz="2000" dirty="0" err="1"/>
              <a:t>instruire</a:t>
            </a:r>
            <a:r>
              <a:rPr lang="en-US" sz="2000" dirty="0"/>
              <a:t> </a:t>
            </a:r>
            <a:r>
              <a:rPr lang="en-US" sz="2000" dirty="0" err="1"/>
              <a:t>practică</a:t>
            </a:r>
            <a:r>
              <a:rPr lang="en-US" sz="2000" dirty="0"/>
              <a:t>, </a:t>
            </a:r>
            <a:r>
              <a:rPr lang="en-US" sz="2000" dirty="0" err="1"/>
              <a:t>urmărind</a:t>
            </a:r>
            <a:r>
              <a:rPr lang="en-US" sz="2000" dirty="0"/>
              <a:t> </a:t>
            </a:r>
            <a:r>
              <a:rPr lang="en-US" sz="2000" dirty="0" err="1"/>
              <a:t>și</a:t>
            </a:r>
            <a:r>
              <a:rPr lang="en-US" sz="2000" dirty="0"/>
              <a:t> </a:t>
            </a:r>
            <a:r>
              <a:rPr lang="en-US" sz="2000" dirty="0" err="1"/>
              <a:t>scopul</a:t>
            </a:r>
            <a:r>
              <a:rPr lang="en-US" sz="2000" dirty="0"/>
              <a:t> </a:t>
            </a:r>
            <a:r>
              <a:rPr lang="en-US" sz="2000" dirty="0" err="1"/>
              <a:t>acestor</a:t>
            </a:r>
            <a:r>
              <a:rPr lang="en-US" sz="2000" dirty="0"/>
              <a:t> </a:t>
            </a:r>
            <a:r>
              <a:rPr lang="en-US" sz="2000" dirty="0" err="1"/>
              <a:t>programe</a:t>
            </a:r>
            <a:r>
              <a:rPr lang="en-US" sz="2000" dirty="0"/>
              <a:t>. </a:t>
            </a:r>
            <a:endParaRPr lang="ro-RO" sz="2000" dirty="0"/>
          </a:p>
          <a:p>
            <a:pPr marL="0" marR="0" indent="0" algn="just">
              <a:lnSpc>
                <a:spcPct val="107000"/>
              </a:lnSpc>
              <a:spcBef>
                <a:spcPts val="0"/>
              </a:spcBef>
              <a:spcAft>
                <a:spcPts val="0"/>
              </a:spcAft>
              <a:buNone/>
            </a:pPr>
            <a:endParaRPr lang="ro-RO" sz="2000" dirty="0"/>
          </a:p>
          <a:p>
            <a:pPr marL="0" marR="0" indent="0" algn="just">
              <a:lnSpc>
                <a:spcPct val="107000"/>
              </a:lnSpc>
              <a:spcBef>
                <a:spcPts val="0"/>
              </a:spcBef>
              <a:spcAft>
                <a:spcPts val="0"/>
              </a:spcAft>
              <a:buNone/>
            </a:pPr>
            <a:r>
              <a:rPr lang="en-US" sz="2000" dirty="0"/>
              <a:t> La clasele din </a:t>
            </a:r>
            <a:r>
              <a:rPr lang="en-US" sz="2000" dirty="0" err="1"/>
              <a:t>învățământul</a:t>
            </a:r>
            <a:r>
              <a:rPr lang="en-US" sz="2000" dirty="0"/>
              <a:t> </a:t>
            </a:r>
            <a:r>
              <a:rPr lang="en-US" sz="2000" dirty="0" err="1"/>
              <a:t>postliceal</a:t>
            </a:r>
            <a:r>
              <a:rPr lang="en-US" sz="2000" dirty="0"/>
              <a:t>, </a:t>
            </a:r>
            <a:r>
              <a:rPr lang="en-US" sz="2000" dirty="0" err="1"/>
              <a:t>în</a:t>
            </a:r>
            <a:r>
              <a:rPr lang="en-US" sz="2000" dirty="0"/>
              <a:t> </a:t>
            </a:r>
            <a:r>
              <a:rPr lang="en-US" sz="2000" dirty="0" err="1"/>
              <a:t>perioadele</a:t>
            </a:r>
            <a:r>
              <a:rPr lang="en-US" sz="2000" dirty="0"/>
              <a:t> dedicate </a:t>
            </a:r>
            <a:r>
              <a:rPr lang="en-US" sz="2000" dirty="0" err="1"/>
              <a:t>programelor</a:t>
            </a:r>
            <a:r>
              <a:rPr lang="en-US" sz="2000" dirty="0"/>
              <a:t> „</a:t>
            </a:r>
            <a:r>
              <a:rPr lang="en-US" sz="2000" dirty="0" err="1"/>
              <a:t>Școala</a:t>
            </a:r>
            <a:r>
              <a:rPr lang="en-US" sz="2000" dirty="0"/>
              <a:t> </a:t>
            </a:r>
            <a:r>
              <a:rPr lang="en-US" sz="2000" dirty="0" err="1"/>
              <a:t>altfel</a:t>
            </a:r>
            <a:r>
              <a:rPr lang="en-US" sz="2000" dirty="0"/>
              <a:t>” </a:t>
            </a:r>
            <a:r>
              <a:rPr lang="en-US" sz="2000" dirty="0" err="1"/>
              <a:t>și</a:t>
            </a:r>
            <a:r>
              <a:rPr lang="en-US" sz="2000" dirty="0"/>
              <a:t> „</a:t>
            </a:r>
            <a:r>
              <a:rPr lang="en-US" sz="2000" dirty="0" err="1"/>
              <a:t>Săptămâna</a:t>
            </a:r>
            <a:r>
              <a:rPr lang="en-US" sz="2000" dirty="0"/>
              <a:t> </a:t>
            </a:r>
            <a:r>
              <a:rPr lang="en-US" sz="2000" dirty="0" err="1"/>
              <a:t>verde</a:t>
            </a:r>
            <a:r>
              <a:rPr lang="en-US" sz="2000" dirty="0"/>
              <a:t>” se </a:t>
            </a:r>
            <a:r>
              <a:rPr lang="en-US" sz="2000" dirty="0" err="1"/>
              <a:t>organizează</a:t>
            </a:r>
            <a:r>
              <a:rPr lang="en-US" sz="2000" dirty="0"/>
              <a:t> </a:t>
            </a:r>
            <a:r>
              <a:rPr lang="en-US" sz="2000" dirty="0" err="1"/>
              <a:t>activități</a:t>
            </a:r>
            <a:r>
              <a:rPr lang="en-US" sz="2000" dirty="0"/>
              <a:t> de </a:t>
            </a:r>
            <a:r>
              <a:rPr lang="en-US" sz="2000" dirty="0" err="1"/>
              <a:t>instruire</a:t>
            </a:r>
            <a:r>
              <a:rPr lang="en-US" sz="2000" dirty="0"/>
              <a:t> </a:t>
            </a:r>
            <a:r>
              <a:rPr lang="en-US" sz="2000" dirty="0" err="1"/>
              <a:t>practic</a:t>
            </a:r>
            <a:r>
              <a:rPr lang="ro-RO" sz="2000" dirty="0"/>
              <a:t>ă.</a:t>
            </a:r>
            <a:endParaRPr lang="en-US" sz="2000" dirty="0">
              <a:effectLst/>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0"/>
              </a:spcAft>
              <a:buNone/>
            </a:pPr>
            <a:r>
              <a:rPr lang="ro-RO" sz="2000" dirty="0">
                <a:effectLst/>
                <a:ea typeface="Calibri" panose="020F0502020204030204" pitchFamily="34" charset="0"/>
                <a:cs typeface="Times New Roman" panose="02020603050405020304" pitchFamily="18" charset="0"/>
              </a:rPr>
              <a:t> </a:t>
            </a:r>
            <a:br>
              <a:rPr lang="en-US" sz="2000" dirty="0">
                <a:effectLst/>
                <a:ea typeface="Calibri" panose="020F0502020204030204" pitchFamily="34" charset="0"/>
                <a:cs typeface="Times New Roman" panose="02020603050405020304" pitchFamily="18" charset="0"/>
              </a:rPr>
            </a:b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Placeholder 5" descr="Photo of four cacti in pots">
            <a:extLst>
              <a:ext uri="{FF2B5EF4-FFF2-40B4-BE49-F238E27FC236}">
                <a16:creationId xmlns:a16="http://schemas.microsoft.com/office/drawing/2014/main" id="{53D43233-BA13-407E-9B2E-477DB651DBD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9558194" y="365125"/>
            <a:ext cx="1795606" cy="866110"/>
          </a:xfrm>
          <a:prstGeom prst="rect">
            <a:avLst/>
          </a:prstGeom>
        </p:spPr>
      </p:pic>
    </p:spTree>
    <p:extLst>
      <p:ext uri="{BB962C8B-B14F-4D97-AF65-F5344CB8AC3E}">
        <p14:creationId xmlns:p14="http://schemas.microsoft.com/office/powerpoint/2010/main" val="416434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BAD9E-9DC0-4934-A51E-2AAF393C85DC}"/>
              </a:ext>
            </a:extLst>
          </p:cNvPr>
          <p:cNvSpPr>
            <a:spLocks noGrp="1"/>
          </p:cNvSpPr>
          <p:nvPr>
            <p:ph type="title"/>
          </p:nvPr>
        </p:nvSpPr>
        <p:spPr>
          <a:xfrm>
            <a:off x="838200" y="365126"/>
            <a:ext cx="10515600" cy="1167342"/>
          </a:xfrm>
        </p:spPr>
        <p:txBody>
          <a:bodyPr>
            <a:normAutofit/>
          </a:bodyPr>
          <a:lstStyle/>
          <a:p>
            <a:pPr algn="ctr"/>
            <a:r>
              <a:rPr lang="en-US" sz="3200" b="1" dirty="0" err="1">
                <a:solidFill>
                  <a:schemeClr val="tx1"/>
                </a:solidFill>
              </a:rPr>
              <a:t>Examene</a:t>
            </a:r>
            <a:r>
              <a:rPr lang="en-US" sz="3200" b="1" dirty="0">
                <a:solidFill>
                  <a:schemeClr val="tx1"/>
                </a:solidFill>
              </a:rPr>
              <a:t> </a:t>
            </a:r>
            <a:r>
              <a:rPr lang="en-US" sz="3200" b="1" dirty="0" err="1">
                <a:solidFill>
                  <a:schemeClr val="tx1"/>
                </a:solidFill>
              </a:rPr>
              <a:t>na</a:t>
            </a:r>
            <a:r>
              <a:rPr lang="ro-RO" sz="3200" b="1" dirty="0" err="1">
                <a:solidFill>
                  <a:schemeClr val="tx1"/>
                </a:solidFill>
              </a:rPr>
              <a:t>ționale</a:t>
            </a:r>
            <a:r>
              <a:rPr lang="en-US" sz="3200" b="1" dirty="0">
                <a:solidFill>
                  <a:schemeClr val="tx1"/>
                </a:solidFill>
              </a:rPr>
              <a:t> 202</a:t>
            </a:r>
            <a:r>
              <a:rPr lang="ro-RO" sz="3200" b="1" dirty="0">
                <a:solidFill>
                  <a:schemeClr val="tx1"/>
                </a:solidFill>
              </a:rPr>
              <a:t>4</a:t>
            </a:r>
            <a:r>
              <a:rPr lang="en-US" sz="3200" b="1" dirty="0">
                <a:solidFill>
                  <a:schemeClr val="tx1"/>
                </a:solidFill>
              </a:rPr>
              <a:t>-202</a:t>
            </a:r>
            <a:r>
              <a:rPr lang="ro-RO" sz="3200" b="1" dirty="0">
                <a:solidFill>
                  <a:schemeClr val="tx1"/>
                </a:solidFill>
              </a:rPr>
              <a:t>5</a:t>
            </a:r>
            <a:br>
              <a:rPr lang="ro-RO" sz="3200" b="1" dirty="0">
                <a:solidFill>
                  <a:schemeClr val="tx1"/>
                </a:solidFill>
              </a:rPr>
            </a:br>
            <a:endParaRPr lang="en-US" sz="3200" b="1" dirty="0">
              <a:solidFill>
                <a:schemeClr val="tx1"/>
              </a:solidFill>
            </a:endParaRPr>
          </a:p>
        </p:txBody>
      </p:sp>
      <p:sp>
        <p:nvSpPr>
          <p:cNvPr id="3" name="Content Placeholder 2">
            <a:extLst>
              <a:ext uri="{FF2B5EF4-FFF2-40B4-BE49-F238E27FC236}">
                <a16:creationId xmlns:a16="http://schemas.microsoft.com/office/drawing/2014/main" id="{90FE4FD5-AAFD-4A6E-BBA3-04166566F642}"/>
              </a:ext>
            </a:extLst>
          </p:cNvPr>
          <p:cNvSpPr>
            <a:spLocks noGrp="1"/>
          </p:cNvSpPr>
          <p:nvPr>
            <p:ph idx="1"/>
          </p:nvPr>
        </p:nvSpPr>
        <p:spPr>
          <a:xfrm>
            <a:off x="838200" y="1109133"/>
            <a:ext cx="10515600" cy="5067830"/>
          </a:xfrm>
          <a:solidFill>
            <a:schemeClr val="accent4">
              <a:lumMod val="20000"/>
              <a:lumOff val="80000"/>
            </a:schemeClr>
          </a:solidFill>
        </p:spPr>
        <p:txBody>
          <a:bodyPr>
            <a:normAutofit fontScale="70000" lnSpcReduction="20000"/>
          </a:bodyPr>
          <a:lstStyle/>
          <a:p>
            <a:pPr marL="0" indent="0" algn="ctr">
              <a:buNone/>
            </a:pPr>
            <a:endParaRPr lang="ro-RO" b="1" dirty="0"/>
          </a:p>
          <a:p>
            <a:pPr marL="0" indent="0" algn="l" rtl="0" latinLnBrk="0">
              <a:spcBef>
                <a:spcPts val="1000"/>
              </a:spcBef>
              <a:spcAft>
                <a:spcPts val="0"/>
              </a:spcAft>
            </a:pPr>
            <a:r>
              <a:rPr lang="ro-RO" sz="1900" b="0" i="0" dirty="0">
                <a:solidFill>
                  <a:srgbClr val="222222"/>
                </a:solidFill>
                <a:effectLst/>
              </a:rPr>
              <a:t> </a:t>
            </a:r>
            <a:r>
              <a:rPr lang="ro-RO" sz="2300" b="0" i="0" dirty="0">
                <a:solidFill>
                  <a:srgbClr val="222222"/>
                </a:solidFill>
                <a:effectLst/>
              </a:rPr>
              <a:t>O</a:t>
            </a:r>
            <a:r>
              <a:rPr lang="en-US" sz="2300" b="0" i="0" dirty="0" err="1">
                <a:solidFill>
                  <a:srgbClr val="222222"/>
                </a:solidFill>
                <a:effectLst/>
              </a:rPr>
              <a:t>rganizarea</a:t>
            </a:r>
            <a:r>
              <a:rPr lang="en-US" sz="2300" b="0" i="0" dirty="0">
                <a:solidFill>
                  <a:srgbClr val="222222"/>
                </a:solidFill>
                <a:effectLst/>
              </a:rPr>
              <a:t> </a:t>
            </a:r>
            <a:r>
              <a:rPr lang="en-US" sz="2300" b="0" i="0" dirty="0" err="1">
                <a:solidFill>
                  <a:srgbClr val="222222"/>
                </a:solidFill>
                <a:effectLst/>
              </a:rPr>
              <a:t>și</a:t>
            </a:r>
            <a:r>
              <a:rPr lang="en-US" sz="2300" b="0" i="0" dirty="0">
                <a:solidFill>
                  <a:srgbClr val="222222"/>
                </a:solidFill>
                <a:effectLst/>
              </a:rPr>
              <a:t> </a:t>
            </a:r>
            <a:r>
              <a:rPr lang="en-US" sz="2300" b="0" i="0" dirty="0" err="1">
                <a:solidFill>
                  <a:srgbClr val="222222"/>
                </a:solidFill>
                <a:effectLst/>
              </a:rPr>
              <a:t>desfășurarea</a:t>
            </a:r>
            <a:r>
              <a:rPr lang="en-US" sz="2300" b="0" i="0" dirty="0">
                <a:solidFill>
                  <a:srgbClr val="222222"/>
                </a:solidFill>
                <a:effectLst/>
              </a:rPr>
              <a:t> </a:t>
            </a:r>
            <a:r>
              <a:rPr lang="en-US" sz="2300" b="0" i="0" dirty="0" err="1">
                <a:solidFill>
                  <a:srgbClr val="222222"/>
                </a:solidFill>
                <a:effectLst/>
              </a:rPr>
              <a:t>examenului</a:t>
            </a:r>
            <a:r>
              <a:rPr lang="en-US" sz="2300" b="0" i="0" dirty="0">
                <a:solidFill>
                  <a:srgbClr val="222222"/>
                </a:solidFill>
                <a:effectLst/>
              </a:rPr>
              <a:t> </a:t>
            </a:r>
            <a:r>
              <a:rPr lang="en-US" sz="2300" b="0" i="0" dirty="0" err="1">
                <a:solidFill>
                  <a:srgbClr val="222222"/>
                </a:solidFill>
                <a:effectLst/>
              </a:rPr>
              <a:t>național</a:t>
            </a:r>
            <a:r>
              <a:rPr lang="en-US" sz="2300" b="0" i="0" dirty="0">
                <a:solidFill>
                  <a:srgbClr val="222222"/>
                </a:solidFill>
                <a:effectLst/>
              </a:rPr>
              <a:t> de </a:t>
            </a:r>
            <a:r>
              <a:rPr lang="en-US" sz="2300" b="0" i="0" dirty="0" err="1">
                <a:solidFill>
                  <a:srgbClr val="222222"/>
                </a:solidFill>
                <a:effectLst/>
              </a:rPr>
              <a:t>bacalaureat</a:t>
            </a:r>
            <a:r>
              <a:rPr lang="ro-RO" sz="2300" b="0" i="0" dirty="0">
                <a:solidFill>
                  <a:srgbClr val="222222"/>
                </a:solidFill>
                <a:effectLst/>
              </a:rPr>
              <a:t> - 2025</a:t>
            </a:r>
            <a:endParaRPr lang="en-US" sz="2300" b="0" i="0" dirty="0">
              <a:solidFill>
                <a:srgbClr val="222222"/>
              </a:solidFill>
              <a:effectLst/>
            </a:endParaRPr>
          </a:p>
          <a:p>
            <a:pPr marL="0" indent="0" algn="l" rtl="0" latinLnBrk="0">
              <a:spcBef>
                <a:spcPts val="1000"/>
              </a:spcBef>
              <a:spcAft>
                <a:spcPts val="0"/>
              </a:spcAft>
            </a:pPr>
            <a:r>
              <a:rPr lang="ro-RO" sz="2300" b="0" i="0" dirty="0">
                <a:solidFill>
                  <a:srgbClr val="222222"/>
                </a:solidFill>
                <a:effectLst/>
              </a:rPr>
              <a:t> O</a:t>
            </a:r>
            <a:r>
              <a:rPr lang="en-US" sz="2300" b="0" i="0" dirty="0" err="1">
                <a:solidFill>
                  <a:srgbClr val="222222"/>
                </a:solidFill>
                <a:effectLst/>
              </a:rPr>
              <a:t>rganizarea</a:t>
            </a:r>
            <a:r>
              <a:rPr lang="en-US" sz="2300" b="0" i="0" dirty="0">
                <a:solidFill>
                  <a:srgbClr val="222222"/>
                </a:solidFill>
                <a:effectLst/>
              </a:rPr>
              <a:t> </a:t>
            </a:r>
            <a:r>
              <a:rPr lang="en-US" sz="2300" b="0" i="0" dirty="0" err="1">
                <a:solidFill>
                  <a:srgbClr val="222222"/>
                </a:solidFill>
                <a:effectLst/>
              </a:rPr>
              <a:t>și</a:t>
            </a:r>
            <a:r>
              <a:rPr lang="en-US" sz="2300" b="0" i="0" dirty="0">
                <a:solidFill>
                  <a:srgbClr val="222222"/>
                </a:solidFill>
                <a:effectLst/>
              </a:rPr>
              <a:t> </a:t>
            </a:r>
            <a:r>
              <a:rPr lang="en-US" sz="2300" b="0" i="0" dirty="0" err="1">
                <a:solidFill>
                  <a:srgbClr val="222222"/>
                </a:solidFill>
                <a:effectLst/>
              </a:rPr>
              <a:t>desfășurarea</a:t>
            </a:r>
            <a:r>
              <a:rPr lang="en-US" sz="2300" b="0" i="0" dirty="0">
                <a:solidFill>
                  <a:srgbClr val="222222"/>
                </a:solidFill>
                <a:effectLst/>
              </a:rPr>
              <a:t> </a:t>
            </a:r>
            <a:r>
              <a:rPr lang="en-US" sz="2300" b="0" i="0" dirty="0" err="1">
                <a:solidFill>
                  <a:srgbClr val="222222"/>
                </a:solidFill>
                <a:effectLst/>
              </a:rPr>
              <a:t>Evaluării</a:t>
            </a:r>
            <a:r>
              <a:rPr lang="en-US" sz="2300" b="0" i="0" dirty="0">
                <a:solidFill>
                  <a:srgbClr val="222222"/>
                </a:solidFill>
                <a:effectLst/>
              </a:rPr>
              <a:t> </a:t>
            </a:r>
            <a:r>
              <a:rPr lang="en-US" sz="2300" b="0" i="0" dirty="0" err="1">
                <a:solidFill>
                  <a:srgbClr val="222222"/>
                </a:solidFill>
                <a:effectLst/>
              </a:rPr>
              <a:t>Naționale</a:t>
            </a:r>
            <a:r>
              <a:rPr lang="en-US" sz="2300" b="0" i="0" dirty="0">
                <a:solidFill>
                  <a:srgbClr val="222222"/>
                </a:solidFill>
                <a:effectLst/>
              </a:rPr>
              <a:t> – 202</a:t>
            </a:r>
            <a:r>
              <a:rPr lang="ro-RO" sz="2300" b="0" i="0" dirty="0">
                <a:solidFill>
                  <a:srgbClr val="222222"/>
                </a:solidFill>
                <a:effectLst/>
              </a:rPr>
              <a:t>5</a:t>
            </a:r>
            <a:r>
              <a:rPr lang="en-US" sz="2300" b="0" i="0" dirty="0">
                <a:solidFill>
                  <a:srgbClr val="222222"/>
                </a:solidFill>
                <a:effectLst/>
              </a:rPr>
              <a:t>;</a:t>
            </a:r>
          </a:p>
          <a:p>
            <a:pPr marL="0" indent="0" algn="l" rtl="0" latinLnBrk="0">
              <a:spcBef>
                <a:spcPts val="1000"/>
              </a:spcBef>
              <a:spcAft>
                <a:spcPts val="0"/>
              </a:spcAft>
            </a:pPr>
            <a:r>
              <a:rPr lang="en-US" sz="2300" b="0" i="0" dirty="0">
                <a:solidFill>
                  <a:srgbClr val="222222"/>
                </a:solidFill>
                <a:effectLst/>
              </a:rPr>
              <a:t> </a:t>
            </a:r>
            <a:r>
              <a:rPr lang="ro-RO" sz="2300" b="1" dirty="0">
                <a:solidFill>
                  <a:srgbClr val="222222"/>
                </a:solidFill>
              </a:rPr>
              <a:t>O</a:t>
            </a:r>
            <a:r>
              <a:rPr lang="en-US" sz="2300" b="0" i="0" dirty="0" err="1">
                <a:solidFill>
                  <a:srgbClr val="222222"/>
                </a:solidFill>
                <a:effectLst/>
              </a:rPr>
              <a:t>rganizarea</a:t>
            </a:r>
            <a:r>
              <a:rPr lang="en-US" sz="2300" b="0" i="0" dirty="0">
                <a:solidFill>
                  <a:srgbClr val="222222"/>
                </a:solidFill>
                <a:effectLst/>
              </a:rPr>
              <a:t> </a:t>
            </a:r>
            <a:r>
              <a:rPr lang="en-US" sz="2300" b="0" i="0" dirty="0" err="1">
                <a:solidFill>
                  <a:srgbClr val="222222"/>
                </a:solidFill>
                <a:effectLst/>
              </a:rPr>
              <a:t>și</a:t>
            </a:r>
            <a:r>
              <a:rPr lang="en-US" sz="2300" b="0" i="0" dirty="0">
                <a:solidFill>
                  <a:srgbClr val="222222"/>
                </a:solidFill>
                <a:effectLst/>
              </a:rPr>
              <a:t> </a:t>
            </a:r>
            <a:r>
              <a:rPr lang="en-US" sz="2300" b="0" i="0" dirty="0" err="1">
                <a:solidFill>
                  <a:srgbClr val="222222"/>
                </a:solidFill>
                <a:effectLst/>
              </a:rPr>
              <a:t>desfășurarea</a:t>
            </a:r>
            <a:r>
              <a:rPr lang="en-US" sz="2300" b="0" i="0" dirty="0">
                <a:solidFill>
                  <a:srgbClr val="222222"/>
                </a:solidFill>
                <a:effectLst/>
              </a:rPr>
              <a:t> </a:t>
            </a:r>
            <a:r>
              <a:rPr lang="en-US" sz="2300" b="0" i="0" dirty="0" err="1">
                <a:solidFill>
                  <a:srgbClr val="222222"/>
                </a:solidFill>
                <a:effectLst/>
              </a:rPr>
              <a:t>admiterii</a:t>
            </a:r>
            <a:r>
              <a:rPr lang="en-US" sz="2300" b="0" i="0" dirty="0">
                <a:solidFill>
                  <a:srgbClr val="222222"/>
                </a:solidFill>
                <a:effectLst/>
              </a:rPr>
              <a:t> </a:t>
            </a:r>
            <a:r>
              <a:rPr lang="en-US" sz="2300" b="0" i="0" dirty="0" err="1">
                <a:solidFill>
                  <a:srgbClr val="222222"/>
                </a:solidFill>
                <a:effectLst/>
              </a:rPr>
              <a:t>în</a:t>
            </a:r>
            <a:r>
              <a:rPr lang="en-US" sz="2300" b="0" i="0" dirty="0">
                <a:solidFill>
                  <a:srgbClr val="222222"/>
                </a:solidFill>
                <a:effectLst/>
              </a:rPr>
              <a:t> </a:t>
            </a:r>
            <a:r>
              <a:rPr lang="en-US" sz="2300" b="0" i="0" dirty="0" err="1">
                <a:solidFill>
                  <a:srgbClr val="222222"/>
                </a:solidFill>
                <a:effectLst/>
              </a:rPr>
              <a:t>învățământul</a:t>
            </a:r>
            <a:r>
              <a:rPr lang="en-US" sz="2300" b="0" i="0" dirty="0">
                <a:solidFill>
                  <a:srgbClr val="222222"/>
                </a:solidFill>
                <a:effectLst/>
              </a:rPr>
              <a:t> </a:t>
            </a:r>
            <a:r>
              <a:rPr lang="en-US" sz="2300" b="0" i="0" dirty="0" err="1">
                <a:solidFill>
                  <a:srgbClr val="222222"/>
                </a:solidFill>
                <a:effectLst/>
              </a:rPr>
              <a:t>liceal</a:t>
            </a:r>
            <a:r>
              <a:rPr lang="en-US" sz="2300" b="0" i="0" dirty="0">
                <a:solidFill>
                  <a:srgbClr val="222222"/>
                </a:solidFill>
                <a:effectLst/>
              </a:rPr>
              <a:t> – 202</a:t>
            </a:r>
            <a:r>
              <a:rPr lang="ro-RO" sz="2300" b="0" i="0" dirty="0">
                <a:solidFill>
                  <a:srgbClr val="222222"/>
                </a:solidFill>
                <a:effectLst/>
              </a:rPr>
              <a:t>5</a:t>
            </a:r>
            <a:endParaRPr lang="en-US" sz="2300" b="0" i="0" dirty="0">
              <a:solidFill>
                <a:srgbClr val="222222"/>
              </a:solidFill>
              <a:effectLst/>
            </a:endParaRPr>
          </a:p>
          <a:p>
            <a:pPr marL="0" indent="0" algn="l" rtl="0" latinLnBrk="0">
              <a:spcBef>
                <a:spcPts val="1000"/>
              </a:spcBef>
              <a:spcAft>
                <a:spcPts val="0"/>
              </a:spcAft>
              <a:buNone/>
            </a:pPr>
            <a:r>
              <a:rPr lang="ro-RO" sz="2300" b="1" dirty="0">
                <a:solidFill>
                  <a:srgbClr val="222222"/>
                </a:solidFill>
              </a:rPr>
              <a:t>Noutăți:</a:t>
            </a:r>
          </a:p>
          <a:p>
            <a:pPr marL="0" indent="0" algn="l" rtl="0" latinLnBrk="0">
              <a:spcBef>
                <a:spcPts val="1000"/>
              </a:spcBef>
              <a:spcAft>
                <a:spcPts val="0"/>
              </a:spcAft>
              <a:buNone/>
            </a:pPr>
            <a:r>
              <a:rPr lang="ro-RO" sz="2300" b="1" dirty="0">
                <a:solidFill>
                  <a:srgbClr val="222222"/>
                </a:solidFill>
              </a:rPr>
              <a:t>Evaluare digitalizată EN și Bac</a:t>
            </a:r>
          </a:p>
          <a:p>
            <a:pPr marL="0" indent="0" algn="l" rtl="0" latinLnBrk="0">
              <a:spcBef>
                <a:spcPts val="1000"/>
              </a:spcBef>
              <a:spcAft>
                <a:spcPts val="0"/>
              </a:spcAft>
              <a:buNone/>
            </a:pPr>
            <a:r>
              <a:rPr lang="ro-RO" sz="2300" b="1" dirty="0">
                <a:solidFill>
                  <a:srgbClr val="222222"/>
                </a:solidFill>
              </a:rPr>
              <a:t>Vizualizarea lucrărilor după afișarea rezultatelor inițiale</a:t>
            </a:r>
          </a:p>
          <a:p>
            <a:pPr marL="0" indent="0" algn="l" rtl="0" latinLnBrk="0">
              <a:spcBef>
                <a:spcPts val="1000"/>
              </a:spcBef>
              <a:spcAft>
                <a:spcPts val="0"/>
              </a:spcAft>
              <a:buNone/>
            </a:pPr>
            <a:r>
              <a:rPr lang="ro-RO" sz="2300" b="1" dirty="0">
                <a:solidFill>
                  <a:srgbClr val="222222"/>
                </a:solidFill>
              </a:rPr>
              <a:t>Vizualizarea lucrărilor în paralel cu contestațiile</a:t>
            </a:r>
          </a:p>
          <a:p>
            <a:pPr marL="0" indent="0" algn="l" rtl="0" latinLnBrk="0">
              <a:spcBef>
                <a:spcPts val="1000"/>
              </a:spcBef>
              <a:spcAft>
                <a:spcPts val="0"/>
              </a:spcAft>
              <a:buNone/>
            </a:pPr>
            <a:r>
              <a:rPr lang="ro-RO" sz="2300" b="1" dirty="0">
                <a:solidFill>
                  <a:srgbClr val="222222"/>
                </a:solidFill>
              </a:rPr>
              <a:t>Zi liberă între probele scrise</a:t>
            </a:r>
          </a:p>
          <a:p>
            <a:pPr marL="0" indent="0" algn="l" rtl="0" latinLnBrk="0">
              <a:spcBef>
                <a:spcPts val="1000"/>
              </a:spcBef>
              <a:spcAft>
                <a:spcPts val="0"/>
              </a:spcAft>
              <a:buNone/>
            </a:pPr>
            <a:r>
              <a:rPr lang="ro-RO" sz="2300" b="1" dirty="0">
                <a:solidFill>
                  <a:srgbClr val="222222"/>
                </a:solidFill>
              </a:rPr>
              <a:t>Calendar simulări</a:t>
            </a:r>
          </a:p>
          <a:p>
            <a:pPr marL="0" indent="0" algn="l" rtl="0" latinLnBrk="0">
              <a:spcBef>
                <a:spcPts val="1000"/>
              </a:spcBef>
              <a:spcAft>
                <a:spcPts val="0"/>
              </a:spcAft>
              <a:buNone/>
            </a:pPr>
            <a:r>
              <a:rPr lang="ro-RO" sz="2300" b="1" dirty="0">
                <a:solidFill>
                  <a:srgbClr val="222222"/>
                </a:solidFill>
              </a:rPr>
              <a:t>Admitere</a:t>
            </a:r>
          </a:p>
          <a:p>
            <a:pPr marL="0" indent="0">
              <a:buNone/>
            </a:pPr>
            <a:r>
              <a:rPr lang="ro-RO" sz="2300" i="1" dirty="0">
                <a:effectLst/>
                <a:ea typeface="Calibri" panose="020F0502020204030204" pitchFamily="34" charset="0"/>
                <a:cs typeface="Times New Roman" panose="02020603050405020304" pitchFamily="18" charset="0"/>
              </a:rPr>
              <a:t>Rezultatele </a:t>
            </a:r>
            <a:r>
              <a:rPr lang="ro-RO" sz="2300" i="1" dirty="0" err="1">
                <a:effectLst/>
                <a:ea typeface="Calibri" panose="020F0502020204030204" pitchFamily="34" charset="0"/>
                <a:cs typeface="Times New Roman" panose="02020603050405020304" pitchFamily="18" charset="0"/>
              </a:rPr>
              <a:t>obţinute</a:t>
            </a:r>
            <a:r>
              <a:rPr lang="ro-RO" sz="2300" i="1" dirty="0">
                <a:effectLst/>
                <a:ea typeface="Calibri" panose="020F0502020204030204" pitchFamily="34" charset="0"/>
                <a:cs typeface="Times New Roman" panose="02020603050405020304" pitchFamily="18" charset="0"/>
              </a:rPr>
              <a:t> de </a:t>
            </a:r>
            <a:r>
              <a:rPr lang="ro-RO" sz="2300" i="1" dirty="0" err="1">
                <a:effectLst/>
                <a:ea typeface="Calibri" panose="020F0502020204030204" pitchFamily="34" charset="0"/>
                <a:cs typeface="Times New Roman" panose="02020603050405020304" pitchFamily="18" charset="0"/>
              </a:rPr>
              <a:t>candidaţi</a:t>
            </a:r>
            <a:r>
              <a:rPr lang="ro-RO" sz="2300" i="1" dirty="0">
                <a:effectLst/>
                <a:ea typeface="Calibri" panose="020F0502020204030204" pitchFamily="34" charset="0"/>
                <a:cs typeface="Times New Roman" panose="02020603050405020304" pitchFamily="18" charset="0"/>
              </a:rPr>
              <a:t> la probele de limbă modernă sau maternă sunt recunoscute în orice </a:t>
            </a:r>
            <a:r>
              <a:rPr lang="ro-RO" sz="2300" i="1" dirty="0" err="1">
                <a:effectLst/>
                <a:ea typeface="Calibri" panose="020F0502020204030204" pitchFamily="34" charset="0"/>
                <a:cs typeface="Times New Roman" panose="02020603050405020304" pitchFamily="18" charset="0"/>
              </a:rPr>
              <a:t>judeţ</a:t>
            </a:r>
            <a:r>
              <a:rPr lang="ro-RO" sz="2300" i="1" dirty="0">
                <a:effectLst/>
                <a:ea typeface="Calibri" panose="020F0502020204030204" pitchFamily="34" charset="0"/>
                <a:cs typeface="Times New Roman" panose="02020603050405020304" pitchFamily="18" charset="0"/>
              </a:rPr>
              <a:t>/municipiul </a:t>
            </a:r>
            <a:r>
              <a:rPr lang="ro-RO" sz="2300" i="1" dirty="0" err="1">
                <a:effectLst/>
                <a:ea typeface="Calibri" panose="020F0502020204030204" pitchFamily="34" charset="0"/>
                <a:cs typeface="Times New Roman" panose="02020603050405020304" pitchFamily="18" charset="0"/>
              </a:rPr>
              <a:t>Bucureşti</a:t>
            </a:r>
            <a:r>
              <a:rPr lang="ro-RO" sz="2300" i="1" dirty="0">
                <a:effectLst/>
                <a:ea typeface="Calibri" panose="020F0502020204030204" pitchFamily="34" charset="0"/>
                <a:cs typeface="Times New Roman" panose="02020603050405020304" pitchFamily="18" charset="0"/>
              </a:rPr>
              <a:t> în care </a:t>
            </a:r>
            <a:r>
              <a:rPr lang="ro-RO" sz="2300" i="1" dirty="0" err="1">
                <a:effectLst/>
                <a:ea typeface="Calibri" panose="020F0502020204030204" pitchFamily="34" charset="0"/>
                <a:cs typeface="Times New Roman" panose="02020603050405020304" pitchFamily="18" charset="0"/>
              </a:rPr>
              <a:t>aceştia</a:t>
            </a:r>
            <a:r>
              <a:rPr lang="ro-RO" sz="2300" i="1" dirty="0">
                <a:effectLst/>
                <a:ea typeface="Calibri" panose="020F0502020204030204" pitchFamily="34" charset="0"/>
                <a:cs typeface="Times New Roman" panose="02020603050405020304" pitchFamily="18" charset="0"/>
              </a:rPr>
              <a:t> optează să se înscrie pentru repartizarea computerizată, indiferent de </a:t>
            </a:r>
            <a:r>
              <a:rPr lang="ro-RO" sz="2300" i="1" dirty="0" err="1">
                <a:effectLst/>
                <a:ea typeface="Calibri" panose="020F0502020204030204" pitchFamily="34" charset="0"/>
                <a:cs typeface="Times New Roman" panose="02020603050405020304" pitchFamily="18" charset="0"/>
              </a:rPr>
              <a:t>judeţul</a:t>
            </a:r>
            <a:r>
              <a:rPr lang="ro-RO" sz="2300" i="1" dirty="0">
                <a:effectLst/>
                <a:ea typeface="Calibri" panose="020F0502020204030204" pitchFamily="34" charset="0"/>
                <a:cs typeface="Times New Roman" panose="02020603050405020304" pitchFamily="18" charset="0"/>
              </a:rPr>
              <a:t> sau sectorul din municipiul </a:t>
            </a:r>
            <a:r>
              <a:rPr lang="ro-RO" sz="2300" i="1" dirty="0" err="1">
                <a:effectLst/>
                <a:ea typeface="Calibri" panose="020F0502020204030204" pitchFamily="34" charset="0"/>
                <a:cs typeface="Times New Roman" panose="02020603050405020304" pitchFamily="18" charset="0"/>
              </a:rPr>
              <a:t>Bucureşti</a:t>
            </a:r>
            <a:r>
              <a:rPr lang="ro-RO" sz="2300" i="1" dirty="0">
                <a:effectLst/>
                <a:ea typeface="Calibri" panose="020F0502020204030204" pitchFamily="34" charset="0"/>
                <a:cs typeface="Times New Roman" panose="02020603050405020304" pitchFamily="18" charset="0"/>
              </a:rPr>
              <a:t> în care </a:t>
            </a:r>
            <a:r>
              <a:rPr lang="ro-RO" sz="2300" i="1" dirty="0" err="1">
                <a:effectLst/>
                <a:ea typeface="Calibri" panose="020F0502020204030204" pitchFamily="34" charset="0"/>
                <a:cs typeface="Times New Roman" panose="02020603050405020304" pitchFamily="18" charset="0"/>
              </a:rPr>
              <a:t>candidaţii</a:t>
            </a:r>
            <a:r>
              <a:rPr lang="ro-RO" sz="2300" i="1" dirty="0">
                <a:effectLst/>
                <a:ea typeface="Calibri" panose="020F0502020204030204" pitchFamily="34" charset="0"/>
                <a:cs typeface="Times New Roman" panose="02020603050405020304" pitchFamily="18" charset="0"/>
              </a:rPr>
              <a:t> au </a:t>
            </a:r>
            <a:r>
              <a:rPr lang="ro-RO" sz="2300" i="1" dirty="0" err="1">
                <a:effectLst/>
                <a:ea typeface="Calibri" panose="020F0502020204030204" pitchFamily="34" charset="0"/>
                <a:cs typeface="Times New Roman" panose="02020603050405020304" pitchFamily="18" charset="0"/>
              </a:rPr>
              <a:t>susţinut</a:t>
            </a:r>
            <a:r>
              <a:rPr lang="ro-RO" sz="2300" i="1" dirty="0">
                <a:effectLst/>
                <a:ea typeface="Calibri" panose="020F0502020204030204" pitchFamily="34" charset="0"/>
                <a:cs typeface="Times New Roman" panose="02020603050405020304" pitchFamily="18" charset="0"/>
              </a:rPr>
              <a:t> probele respective.”</a:t>
            </a:r>
            <a:endParaRPr lang="en-US" sz="2300" dirty="0">
              <a:effectLst/>
              <a:ea typeface="Calibri" panose="020F0502020204030204" pitchFamily="34" charset="0"/>
              <a:cs typeface="Times New Roman" panose="02020603050405020304" pitchFamily="18" charset="0"/>
            </a:endParaRPr>
          </a:p>
          <a:p>
            <a:pPr marL="0" indent="0" algn="l" rtl="0" latinLnBrk="0">
              <a:spcBef>
                <a:spcPts val="1000"/>
              </a:spcBef>
              <a:spcAft>
                <a:spcPts val="0"/>
              </a:spcAft>
              <a:buNone/>
            </a:pPr>
            <a:r>
              <a:rPr lang="ro-RO" sz="2300" i="1" dirty="0">
                <a:effectLst/>
                <a:ea typeface="Calibri" panose="020F0502020204030204" pitchFamily="34" charset="0"/>
              </a:rPr>
              <a:t>Rezultatele </a:t>
            </a:r>
            <a:r>
              <a:rPr lang="ro-RO" sz="2300" i="1" dirty="0" err="1">
                <a:effectLst/>
                <a:ea typeface="Calibri" panose="020F0502020204030204" pitchFamily="34" charset="0"/>
              </a:rPr>
              <a:t>obţinute</a:t>
            </a:r>
            <a:r>
              <a:rPr lang="ro-RO" sz="2300" i="1" dirty="0">
                <a:effectLst/>
                <a:ea typeface="Calibri" panose="020F0502020204030204" pitchFamily="34" charset="0"/>
              </a:rPr>
              <a:t> de </a:t>
            </a:r>
            <a:r>
              <a:rPr lang="ro-RO" sz="2300" i="1" dirty="0" err="1">
                <a:effectLst/>
                <a:ea typeface="Calibri" panose="020F0502020204030204" pitchFamily="34" charset="0"/>
              </a:rPr>
              <a:t>candidaţi</a:t>
            </a:r>
            <a:r>
              <a:rPr lang="ro-RO" sz="2300" i="1" dirty="0">
                <a:effectLst/>
                <a:ea typeface="Calibri" panose="020F0502020204030204" pitchFamily="34" charset="0"/>
              </a:rPr>
              <a:t> la probele de aptitudini sunt recunoscute doar în </a:t>
            </a:r>
            <a:r>
              <a:rPr lang="ro-RO" sz="2300" i="1" dirty="0" err="1">
                <a:effectLst/>
                <a:ea typeface="Calibri" panose="020F0502020204030204" pitchFamily="34" charset="0"/>
              </a:rPr>
              <a:t>judeţul</a:t>
            </a:r>
            <a:r>
              <a:rPr lang="ro-RO" sz="2300" i="1" dirty="0">
                <a:effectLst/>
                <a:ea typeface="Calibri" panose="020F0502020204030204" pitchFamily="34" charset="0"/>
              </a:rPr>
              <a:t> sau sectorul din municipiul </a:t>
            </a:r>
            <a:r>
              <a:rPr lang="ro-RO" sz="2300" i="1" dirty="0" err="1">
                <a:effectLst/>
                <a:ea typeface="Calibri" panose="020F0502020204030204" pitchFamily="34" charset="0"/>
              </a:rPr>
              <a:t>Bucureşti</a:t>
            </a:r>
            <a:r>
              <a:rPr lang="ro-RO" sz="2300" i="1" dirty="0">
                <a:effectLst/>
                <a:ea typeface="Calibri" panose="020F0502020204030204" pitchFamily="34" charset="0"/>
              </a:rPr>
              <a:t>/unitatea de învățământ în care </a:t>
            </a:r>
            <a:r>
              <a:rPr lang="ro-RO" sz="2300" i="1" dirty="0" err="1">
                <a:effectLst/>
                <a:ea typeface="Calibri" panose="020F0502020204030204" pitchFamily="34" charset="0"/>
              </a:rPr>
              <a:t>candidaţii</a:t>
            </a:r>
            <a:r>
              <a:rPr lang="ro-RO" sz="2300" i="1" dirty="0">
                <a:effectLst/>
                <a:ea typeface="Calibri" panose="020F0502020204030204" pitchFamily="34" charset="0"/>
              </a:rPr>
              <a:t> au </a:t>
            </a:r>
            <a:r>
              <a:rPr lang="ro-RO" sz="2300" i="1" dirty="0" err="1">
                <a:effectLst/>
                <a:ea typeface="Calibri" panose="020F0502020204030204" pitchFamily="34" charset="0"/>
              </a:rPr>
              <a:t>susţinut</a:t>
            </a:r>
            <a:r>
              <a:rPr lang="ro-RO" sz="2300" i="1" dirty="0">
                <a:effectLst/>
                <a:ea typeface="Calibri" panose="020F0502020204030204" pitchFamily="34" charset="0"/>
              </a:rPr>
              <a:t> probele respective.”</a:t>
            </a:r>
            <a:br>
              <a:rPr lang="en-US" sz="1900" dirty="0"/>
            </a:br>
            <a:endParaRPr lang="en-US" sz="1900" dirty="0"/>
          </a:p>
          <a:p>
            <a:endParaRPr lang="en-US" dirty="0"/>
          </a:p>
        </p:txBody>
      </p:sp>
    </p:spTree>
    <p:extLst>
      <p:ext uri="{BB962C8B-B14F-4D97-AF65-F5344CB8AC3E}">
        <p14:creationId xmlns:p14="http://schemas.microsoft.com/office/powerpoint/2010/main" val="1303045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89F4-0384-480B-8CD9-766419129581}"/>
              </a:ext>
            </a:extLst>
          </p:cNvPr>
          <p:cNvSpPr>
            <a:spLocks noGrp="1"/>
          </p:cNvSpPr>
          <p:nvPr>
            <p:ph type="title"/>
          </p:nvPr>
        </p:nvSpPr>
        <p:spPr>
          <a:xfrm>
            <a:off x="838200" y="365125"/>
            <a:ext cx="10515600" cy="396875"/>
          </a:xfrm>
        </p:spPr>
        <p:txBody>
          <a:bodyPr>
            <a:normAutofit fontScale="90000"/>
          </a:bodyPr>
          <a:lstStyle/>
          <a:p>
            <a:r>
              <a:rPr lang="ro-RO" dirty="0">
                <a:solidFill>
                  <a:schemeClr val="tx1"/>
                </a:solidFill>
              </a:rPr>
              <a:t>Documente recente</a:t>
            </a:r>
            <a:endParaRPr lang="en-US" dirty="0">
              <a:solidFill>
                <a:schemeClr val="tx1"/>
              </a:solidFill>
            </a:endParaRPr>
          </a:p>
        </p:txBody>
      </p:sp>
      <p:sp>
        <p:nvSpPr>
          <p:cNvPr id="3" name="Content Placeholder 2">
            <a:extLst>
              <a:ext uri="{FF2B5EF4-FFF2-40B4-BE49-F238E27FC236}">
                <a16:creationId xmlns:a16="http://schemas.microsoft.com/office/drawing/2014/main" id="{EC64F38C-6DDC-4CE2-BE06-75C5F6D1DAE5}"/>
              </a:ext>
            </a:extLst>
          </p:cNvPr>
          <p:cNvSpPr>
            <a:spLocks noGrp="1"/>
          </p:cNvSpPr>
          <p:nvPr>
            <p:ph idx="1"/>
          </p:nvPr>
        </p:nvSpPr>
        <p:spPr>
          <a:xfrm>
            <a:off x="702733" y="956734"/>
            <a:ext cx="11175999" cy="5220230"/>
          </a:xfrm>
          <a:solidFill>
            <a:schemeClr val="bg1"/>
          </a:solidFill>
        </p:spPr>
        <p:txBody>
          <a:bodyPr>
            <a:noAutofit/>
          </a:bodyPr>
          <a:lstStyle/>
          <a:p>
            <a:pPr marL="0" indent="0">
              <a:buNone/>
            </a:pPr>
            <a:r>
              <a:rPr lang="ro-RO" b="1" dirty="0">
                <a:solidFill>
                  <a:srgbClr val="C00000"/>
                </a:solidFill>
                <a:ea typeface="Calibri" panose="020F0502020204030204" pitchFamily="34" charset="0"/>
              </a:rPr>
              <a:t>1. </a:t>
            </a:r>
            <a:r>
              <a:rPr lang="ro-RO" sz="1600" b="1" dirty="0">
                <a:solidFill>
                  <a:srgbClr val="C00000"/>
                </a:solidFill>
                <a:ea typeface="Calibri" panose="020F0502020204030204" pitchFamily="34" charset="0"/>
              </a:rPr>
              <a:t>OME 5707/2024 - Statutul elevului</a:t>
            </a:r>
          </a:p>
          <a:p>
            <a:pPr marL="0" indent="0">
              <a:buNone/>
            </a:pPr>
            <a:r>
              <a:rPr lang="ro-RO" sz="1600" b="1" dirty="0">
                <a:solidFill>
                  <a:srgbClr val="C00000"/>
                </a:solidFill>
              </a:rPr>
              <a:t>2. OME </a:t>
            </a:r>
            <a:r>
              <a:rPr lang="en-US" sz="1600" b="1" dirty="0">
                <a:solidFill>
                  <a:srgbClr val="C00000"/>
                </a:solidFill>
                <a:effectLst/>
                <a:ea typeface="Calibri" panose="020F0502020204030204" pitchFamily="34" charset="0"/>
              </a:rPr>
              <a:t>5726/2024 </a:t>
            </a:r>
            <a:r>
              <a:rPr lang="ro-RO" sz="1600" b="1" dirty="0">
                <a:solidFill>
                  <a:srgbClr val="C00000"/>
                </a:solidFill>
              </a:rPr>
              <a:t>privind aprobarea Regulamentului-cadru de organizare și funcționare a unităților de învățământ preuniversitar</a:t>
            </a:r>
            <a:r>
              <a:rPr lang="ro-RO" sz="1600" dirty="0">
                <a:solidFill>
                  <a:srgbClr val="C00000"/>
                </a:solidFill>
              </a:rPr>
              <a:t> </a:t>
            </a:r>
          </a:p>
          <a:p>
            <a:pPr marL="0" indent="0">
              <a:buNone/>
            </a:pPr>
            <a:r>
              <a:rPr lang="ro-RO" sz="1400" b="1" u="sng" dirty="0"/>
              <a:t>Capitolul II Responsabilități ale personalului didactic în unitatea de învățământ</a:t>
            </a:r>
          </a:p>
          <a:p>
            <a:pPr marL="0" indent="0">
              <a:buNone/>
            </a:pPr>
            <a:r>
              <a:rPr lang="ro-RO" sz="1400" b="1" dirty="0" err="1"/>
              <a:t>Secţiunea</a:t>
            </a:r>
            <a:r>
              <a:rPr lang="ro-RO" sz="1400" b="1" dirty="0"/>
              <a:t> 1 Coordonatorul pentru proiecte și programe educative școlare și extrașcolare si coordonatorul pentru proiecte educaționale europene</a:t>
            </a:r>
          </a:p>
          <a:p>
            <a:pPr marL="0" indent="0">
              <a:buNone/>
            </a:pPr>
            <a:r>
              <a:rPr lang="it-IT" sz="1400" b="1" dirty="0"/>
              <a:t>Secţiunea a 2-a Profesorul diriginte</a:t>
            </a:r>
            <a:endParaRPr lang="ro-RO" sz="1400" dirty="0"/>
          </a:p>
          <a:p>
            <a:pPr marL="0" indent="0">
              <a:buNone/>
            </a:pPr>
            <a:r>
              <a:rPr lang="ro-RO" sz="1400" dirty="0"/>
              <a:t>Art. 72 - </a:t>
            </a:r>
            <a:r>
              <a:rPr lang="en-US" sz="1400" dirty="0" err="1">
                <a:effectLst/>
                <a:ea typeface="Calibri" panose="020F0502020204030204" pitchFamily="34" charset="0"/>
                <a:cs typeface="Times New Roman" panose="02020603050405020304" pitchFamily="18" charset="0"/>
              </a:rPr>
              <a:t>Comisiile</a:t>
            </a:r>
            <a:r>
              <a:rPr lang="en-US" sz="1400" dirty="0">
                <a:effectLst/>
                <a:ea typeface="Calibri" panose="020F0502020204030204" pitchFamily="34" charset="0"/>
                <a:cs typeface="Times New Roman" panose="02020603050405020304" pitchFamily="18" charset="0"/>
              </a:rPr>
              <a:t> cu </a:t>
            </a:r>
            <a:r>
              <a:rPr lang="en-US" sz="1400" dirty="0" err="1">
                <a:effectLst/>
                <a:ea typeface="Calibri" panose="020F0502020204030204" pitchFamily="34" charset="0"/>
                <a:cs typeface="Times New Roman" panose="02020603050405020304" pitchFamily="18" charset="0"/>
              </a:rPr>
              <a:t>caracter</a:t>
            </a:r>
            <a:r>
              <a:rPr lang="en-US" sz="1400" dirty="0">
                <a:effectLst/>
                <a:ea typeface="Calibri" panose="020F0502020204030204" pitchFamily="34" charset="0"/>
                <a:cs typeface="Times New Roman" panose="02020603050405020304" pitchFamily="18" charset="0"/>
              </a:rPr>
              <a:t> permanent</a:t>
            </a:r>
            <a:r>
              <a:rPr lang="ro-RO" sz="1400" dirty="0">
                <a:ea typeface="Calibri" panose="020F0502020204030204" pitchFamily="34" charset="0"/>
                <a:cs typeface="Times New Roman" panose="02020603050405020304" pitchFamily="18" charset="0"/>
              </a:rPr>
              <a:t>: </a:t>
            </a:r>
            <a:r>
              <a:rPr lang="en-US" sz="1400" dirty="0" err="1">
                <a:solidFill>
                  <a:schemeClr val="tx1"/>
                </a:solidFill>
                <a:effectLst/>
                <a:ea typeface="Calibri" panose="020F0502020204030204" pitchFamily="34" charset="0"/>
                <a:cs typeface="Times New Roman" panose="02020603050405020304" pitchFamily="18" charset="0"/>
              </a:rPr>
              <a:t>comisia</a:t>
            </a:r>
            <a:r>
              <a:rPr lang="en-US" sz="1400" dirty="0">
                <a:solidFill>
                  <a:schemeClr val="tx1"/>
                </a:solidFill>
                <a:effectLst/>
                <a:ea typeface="Calibri" panose="020F0502020204030204" pitchFamily="34" charset="0"/>
                <a:cs typeface="Times New Roman" panose="02020603050405020304" pitchFamily="18" charset="0"/>
              </a:rPr>
              <a:t> </a:t>
            </a:r>
            <a:r>
              <a:rPr lang="en-US" sz="1400" dirty="0" err="1">
                <a:solidFill>
                  <a:schemeClr val="tx1"/>
                </a:solidFill>
                <a:effectLst/>
                <a:ea typeface="Calibri" panose="020F0502020204030204" pitchFamily="34" charset="0"/>
                <a:cs typeface="Times New Roman" panose="02020603050405020304" pitchFamily="18" charset="0"/>
              </a:rPr>
              <a:t>pentru</a:t>
            </a:r>
            <a:r>
              <a:rPr lang="en-US" sz="1400" dirty="0">
                <a:solidFill>
                  <a:schemeClr val="tx1"/>
                </a:solidFill>
                <a:effectLst/>
                <a:ea typeface="Calibri" panose="020F0502020204030204" pitchFamily="34" charset="0"/>
                <a:cs typeface="Times New Roman" panose="02020603050405020304" pitchFamily="18" charset="0"/>
              </a:rPr>
              <a:t> curriculum</a:t>
            </a:r>
            <a:r>
              <a:rPr lang="ro-RO" sz="1400" dirty="0">
                <a:solidFill>
                  <a:schemeClr val="tx1"/>
                </a:solidFill>
                <a:effectLst/>
                <a:ea typeface="Calibri" panose="020F0502020204030204" pitchFamily="34" charset="0"/>
                <a:cs typeface="Times New Roman" panose="02020603050405020304" pitchFamily="18" charset="0"/>
              </a:rPr>
              <a:t>; </a:t>
            </a:r>
            <a:r>
              <a:rPr lang="ro-RO" sz="1400" dirty="0">
                <a:solidFill>
                  <a:schemeClr val="tx1"/>
                </a:solidFill>
              </a:rPr>
              <a:t>comisia pentru prevenirea și combaterea violenței, a faptelor de corupție și discriminării în mediul școlar și promovarea interculturalității.</a:t>
            </a:r>
          </a:p>
          <a:p>
            <a:pPr marL="0" indent="0">
              <a:buNone/>
            </a:pPr>
            <a:r>
              <a:rPr lang="ro-RO" sz="1400" b="1" u="sng" dirty="0"/>
              <a:t>Capitolul II Educația extrașcolară</a:t>
            </a:r>
            <a:endParaRPr lang="ro-RO" sz="1400" b="1" i="0" u="sng" strike="noStrike" baseline="0" dirty="0">
              <a:solidFill>
                <a:schemeClr val="tx1"/>
              </a:solidFill>
            </a:endParaRPr>
          </a:p>
          <a:p>
            <a:pPr marL="0" indent="0">
              <a:buNone/>
            </a:pPr>
            <a:r>
              <a:rPr lang="ro-RO" b="1" i="0" u="none" strike="noStrike" baseline="0" dirty="0">
                <a:solidFill>
                  <a:srgbClr val="C00000"/>
                </a:solidFill>
              </a:rPr>
              <a:t>3. </a:t>
            </a:r>
            <a:r>
              <a:rPr lang="ro-RO" sz="1600" b="1" dirty="0">
                <a:solidFill>
                  <a:srgbClr val="C00000"/>
                </a:solidFill>
              </a:rPr>
              <a:t>OME 6.478/2024 de aprobare a Metodologiei privind portofoliul </a:t>
            </a:r>
            <a:r>
              <a:rPr lang="ro-RO" sz="1600" b="1" dirty="0" err="1">
                <a:solidFill>
                  <a:srgbClr val="C00000"/>
                </a:solidFill>
              </a:rPr>
              <a:t>educaţional</a:t>
            </a:r>
            <a:r>
              <a:rPr lang="ro-RO" sz="1600" b="1" dirty="0">
                <a:solidFill>
                  <a:srgbClr val="C00000"/>
                </a:solidFill>
              </a:rPr>
              <a:t> al </a:t>
            </a:r>
            <a:r>
              <a:rPr lang="ro-RO" sz="1600" b="1" dirty="0" err="1">
                <a:solidFill>
                  <a:srgbClr val="C00000"/>
                </a:solidFill>
              </a:rPr>
              <a:t>preşcolarului</a:t>
            </a:r>
            <a:r>
              <a:rPr lang="ro-RO" sz="1600" b="1" dirty="0">
                <a:solidFill>
                  <a:srgbClr val="C00000"/>
                </a:solidFill>
              </a:rPr>
              <a:t> </a:t>
            </a:r>
            <a:r>
              <a:rPr lang="ro-RO" sz="1600" b="1" dirty="0" err="1">
                <a:solidFill>
                  <a:srgbClr val="C00000"/>
                </a:solidFill>
              </a:rPr>
              <a:t>şi</a:t>
            </a:r>
            <a:r>
              <a:rPr lang="ro-RO" sz="1600" b="1" dirty="0">
                <a:solidFill>
                  <a:srgbClr val="C00000"/>
                </a:solidFill>
              </a:rPr>
              <a:t> al elevului din </a:t>
            </a:r>
            <a:r>
              <a:rPr lang="ro-RO" sz="1600" b="1" dirty="0" err="1">
                <a:solidFill>
                  <a:srgbClr val="C00000"/>
                </a:solidFill>
              </a:rPr>
              <a:t>învăţământul</a:t>
            </a:r>
            <a:r>
              <a:rPr lang="ro-RO" sz="1600" b="1" dirty="0">
                <a:solidFill>
                  <a:srgbClr val="C00000"/>
                </a:solidFill>
              </a:rPr>
              <a:t> preuniversitar</a:t>
            </a:r>
            <a:endParaRPr lang="ro-RO" sz="1600" b="1" i="0" u="none" strike="noStrike" baseline="0" dirty="0">
              <a:solidFill>
                <a:srgbClr val="C00000"/>
              </a:solidFill>
            </a:endParaRPr>
          </a:p>
          <a:p>
            <a:pPr marL="0" indent="0">
              <a:buNone/>
            </a:pPr>
            <a:r>
              <a:rPr lang="en-US" sz="1400" b="1" i="0" u="none" strike="noStrike" baseline="0" dirty="0" err="1">
                <a:solidFill>
                  <a:srgbClr val="C00000"/>
                </a:solidFill>
              </a:rPr>
              <a:t>Portofoliul</a:t>
            </a:r>
            <a:r>
              <a:rPr lang="en-US" sz="1400" b="1" i="0" u="none" strike="noStrike" baseline="0" dirty="0">
                <a:solidFill>
                  <a:srgbClr val="C00000"/>
                </a:solidFill>
              </a:rPr>
              <a:t> </a:t>
            </a:r>
            <a:r>
              <a:rPr lang="en-US" sz="1400" b="1" i="0" u="none" strike="noStrike" baseline="0" dirty="0" err="1">
                <a:solidFill>
                  <a:srgbClr val="C00000"/>
                </a:solidFill>
              </a:rPr>
              <a:t>educațional</a:t>
            </a:r>
            <a:r>
              <a:rPr lang="en-US" sz="1400" b="1" i="0" u="none" strike="noStrike" baseline="0" dirty="0">
                <a:solidFill>
                  <a:srgbClr val="C00000"/>
                </a:solidFill>
              </a:rPr>
              <a:t> </a:t>
            </a:r>
            <a:r>
              <a:rPr lang="en-US" sz="1400" b="0" i="0" u="none" strike="noStrike" baseline="0" dirty="0" err="1">
                <a:solidFill>
                  <a:schemeClr val="tx1"/>
                </a:solidFill>
              </a:rPr>
              <a:t>este</a:t>
            </a:r>
            <a:r>
              <a:rPr lang="en-US" sz="1400" b="0" i="0" u="none" strike="noStrike" baseline="0" dirty="0">
                <a:solidFill>
                  <a:schemeClr val="tx1"/>
                </a:solidFill>
              </a:rPr>
              <a:t> </a:t>
            </a:r>
            <a:r>
              <a:rPr lang="en-US" sz="1400" b="0" i="0" u="none" strike="noStrike" baseline="0" dirty="0" err="1">
                <a:solidFill>
                  <a:schemeClr val="tx1"/>
                </a:solidFill>
              </a:rPr>
              <a:t>obligatoriu</a:t>
            </a:r>
            <a:r>
              <a:rPr lang="en-US" sz="1400" b="0" i="0" u="none" strike="noStrike" baseline="0" dirty="0">
                <a:solidFill>
                  <a:schemeClr val="tx1"/>
                </a:solidFill>
              </a:rPr>
              <a:t> </a:t>
            </a:r>
            <a:r>
              <a:rPr lang="en-US" sz="1400" b="0" i="0" u="none" strike="noStrike" baseline="0" dirty="0" err="1">
                <a:solidFill>
                  <a:schemeClr val="tx1"/>
                </a:solidFill>
              </a:rPr>
              <a:t>începând</a:t>
            </a:r>
            <a:r>
              <a:rPr lang="en-US" sz="1400" b="0" i="0" u="none" strike="noStrike" baseline="0" dirty="0">
                <a:solidFill>
                  <a:schemeClr val="tx1"/>
                </a:solidFill>
              </a:rPr>
              <a:t> cu </a:t>
            </a:r>
            <a:r>
              <a:rPr lang="en-US" sz="1400" b="0" i="0" u="none" strike="noStrike" baseline="0" dirty="0" err="1">
                <a:solidFill>
                  <a:schemeClr val="tx1"/>
                </a:solidFill>
              </a:rPr>
              <a:t>generația</a:t>
            </a:r>
            <a:r>
              <a:rPr lang="en-US" sz="1400" b="0" i="0" u="none" strike="noStrike" baseline="0" dirty="0">
                <a:solidFill>
                  <a:schemeClr val="tx1"/>
                </a:solidFill>
              </a:rPr>
              <a:t> de </a:t>
            </a:r>
            <a:r>
              <a:rPr lang="en-US" sz="1400" b="0" i="0" u="none" strike="noStrike" baseline="0" dirty="0" err="1">
                <a:solidFill>
                  <a:schemeClr val="tx1"/>
                </a:solidFill>
              </a:rPr>
              <a:t>preșcolari</a:t>
            </a:r>
            <a:r>
              <a:rPr lang="en-US" sz="1400" b="0" i="0" u="none" strike="noStrike" baseline="0" dirty="0">
                <a:solidFill>
                  <a:schemeClr val="tx1"/>
                </a:solidFill>
              </a:rPr>
              <a:t> care </a:t>
            </a:r>
            <a:r>
              <a:rPr lang="en-US" sz="1400" b="0" i="0" u="none" strike="noStrike" baseline="0" dirty="0" err="1">
                <a:solidFill>
                  <a:schemeClr val="tx1"/>
                </a:solidFill>
              </a:rPr>
              <a:t>intră</a:t>
            </a:r>
            <a:r>
              <a:rPr lang="en-US" sz="1400" b="0" i="0" u="none" strike="noStrike" baseline="0" dirty="0">
                <a:solidFill>
                  <a:schemeClr val="tx1"/>
                </a:solidFill>
              </a:rPr>
              <a:t> </a:t>
            </a:r>
            <a:r>
              <a:rPr lang="en-US" sz="1400" b="0" i="0" u="none" strike="noStrike" baseline="0" dirty="0" err="1">
                <a:solidFill>
                  <a:schemeClr val="tx1"/>
                </a:solidFill>
              </a:rPr>
              <a:t>în</a:t>
            </a:r>
            <a:r>
              <a:rPr lang="en-US" sz="1400" b="0" i="0" u="none" strike="noStrike" baseline="0" dirty="0">
                <a:solidFill>
                  <a:schemeClr val="tx1"/>
                </a:solidFill>
              </a:rPr>
              <a:t> </a:t>
            </a:r>
            <a:r>
              <a:rPr lang="en-US" sz="1400" b="0" i="0" u="none" strike="noStrike" baseline="0" dirty="0" err="1">
                <a:solidFill>
                  <a:schemeClr val="tx1"/>
                </a:solidFill>
              </a:rPr>
              <a:t>grupa</a:t>
            </a:r>
            <a:r>
              <a:rPr lang="en-US" sz="1400" b="0" i="0" u="none" strike="noStrike" baseline="0" dirty="0">
                <a:solidFill>
                  <a:schemeClr val="tx1"/>
                </a:solidFill>
              </a:rPr>
              <a:t> </a:t>
            </a:r>
            <a:r>
              <a:rPr lang="en-US" sz="1400" b="0" i="0" u="none" strike="noStrike" baseline="0" dirty="0" err="1">
                <a:solidFill>
                  <a:schemeClr val="tx1"/>
                </a:solidFill>
              </a:rPr>
              <a:t>mijlocie</a:t>
            </a:r>
            <a:r>
              <a:rPr lang="en-US" sz="1400" b="0" i="0" u="none" strike="noStrike" baseline="0" dirty="0">
                <a:solidFill>
                  <a:schemeClr val="tx1"/>
                </a:solidFill>
              </a:rPr>
              <a:t>, </a:t>
            </a:r>
            <a:r>
              <a:rPr lang="en-US" sz="1400" b="0" i="0" u="none" strike="noStrike" baseline="0" dirty="0" err="1">
                <a:solidFill>
                  <a:schemeClr val="tx1"/>
                </a:solidFill>
              </a:rPr>
              <a:t>respectiv</a:t>
            </a:r>
            <a:r>
              <a:rPr lang="en-US" sz="1400" b="0" i="0" u="none" strike="noStrike" baseline="0" dirty="0">
                <a:solidFill>
                  <a:schemeClr val="tx1"/>
                </a:solidFill>
              </a:rPr>
              <a:t> cu </a:t>
            </a:r>
            <a:r>
              <a:rPr lang="en-US" sz="1400" b="0" i="0" u="none" strike="noStrike" baseline="0" dirty="0" err="1">
                <a:solidFill>
                  <a:schemeClr val="tx1"/>
                </a:solidFill>
              </a:rPr>
              <a:t>generația</a:t>
            </a:r>
            <a:r>
              <a:rPr lang="en-US" sz="1400" b="0" i="0" u="none" strike="noStrike" baseline="0" dirty="0">
                <a:solidFill>
                  <a:schemeClr val="tx1"/>
                </a:solidFill>
              </a:rPr>
              <a:t> de </a:t>
            </a:r>
            <a:r>
              <a:rPr lang="en-US" sz="1400" b="0" i="0" u="none" strike="noStrike" baseline="0" dirty="0" err="1">
                <a:solidFill>
                  <a:schemeClr val="tx1"/>
                </a:solidFill>
              </a:rPr>
              <a:t>elevi</a:t>
            </a:r>
            <a:r>
              <a:rPr lang="en-US" sz="1400" b="0" i="0" u="none" strike="noStrike" baseline="0" dirty="0">
                <a:solidFill>
                  <a:schemeClr val="tx1"/>
                </a:solidFill>
              </a:rPr>
              <a:t> care </a:t>
            </a:r>
            <a:r>
              <a:rPr lang="en-US" sz="1400" b="0" i="0" u="none" strike="noStrike" baseline="0" dirty="0" err="1">
                <a:solidFill>
                  <a:schemeClr val="tx1"/>
                </a:solidFill>
              </a:rPr>
              <a:t>intră</a:t>
            </a:r>
            <a:r>
              <a:rPr lang="en-US" sz="1400" b="0" i="0" u="none" strike="noStrike" baseline="0" dirty="0">
                <a:solidFill>
                  <a:schemeClr val="tx1"/>
                </a:solidFill>
              </a:rPr>
              <a:t> </a:t>
            </a:r>
            <a:r>
              <a:rPr lang="en-US" sz="1400" b="0" i="0" u="none" strike="noStrike" baseline="0" dirty="0" err="1">
                <a:solidFill>
                  <a:schemeClr val="tx1"/>
                </a:solidFill>
              </a:rPr>
              <a:t>în</a:t>
            </a:r>
            <a:r>
              <a:rPr lang="en-US" sz="1400" b="0" i="0" u="none" strike="noStrike" baseline="0" dirty="0">
                <a:solidFill>
                  <a:schemeClr val="tx1"/>
                </a:solidFill>
              </a:rPr>
              <a:t> </a:t>
            </a:r>
            <a:r>
              <a:rPr lang="en-US" sz="1400" b="0" i="0" u="none" strike="noStrike" baseline="0" dirty="0" err="1">
                <a:solidFill>
                  <a:schemeClr val="tx1"/>
                </a:solidFill>
              </a:rPr>
              <a:t>clasa</a:t>
            </a:r>
            <a:r>
              <a:rPr lang="en-US" sz="1400" b="0" i="0" u="none" strike="noStrike" baseline="0" dirty="0">
                <a:solidFill>
                  <a:schemeClr val="tx1"/>
                </a:solidFill>
              </a:rPr>
              <a:t> </a:t>
            </a:r>
            <a:r>
              <a:rPr lang="en-US" sz="1400" b="0" i="0" u="none" strike="noStrike" baseline="0" dirty="0" err="1">
                <a:solidFill>
                  <a:schemeClr val="tx1"/>
                </a:solidFill>
              </a:rPr>
              <a:t>pregătitoare</a:t>
            </a:r>
            <a:r>
              <a:rPr lang="en-US" sz="1400" b="0" i="0" u="none" strike="noStrike" baseline="0" dirty="0">
                <a:solidFill>
                  <a:schemeClr val="tx1"/>
                </a:solidFill>
              </a:rPr>
              <a:t>, </a:t>
            </a:r>
            <a:r>
              <a:rPr lang="en-US" sz="1400" b="0" i="0" u="none" strike="noStrike" baseline="0" dirty="0" err="1">
                <a:solidFill>
                  <a:schemeClr val="tx1"/>
                </a:solidFill>
              </a:rPr>
              <a:t>în</a:t>
            </a:r>
            <a:r>
              <a:rPr lang="en-US" sz="1400" b="0" i="0" u="none" strike="noStrike" baseline="0" dirty="0">
                <a:solidFill>
                  <a:schemeClr val="tx1"/>
                </a:solidFill>
              </a:rPr>
              <a:t> </a:t>
            </a:r>
            <a:r>
              <a:rPr lang="en-US" sz="1400" b="0" i="0" u="none" strike="noStrike" baseline="0" dirty="0" err="1">
                <a:solidFill>
                  <a:schemeClr val="tx1"/>
                </a:solidFill>
              </a:rPr>
              <a:t>anul</a:t>
            </a:r>
            <a:r>
              <a:rPr lang="en-US" sz="1400" b="0" i="0" u="none" strike="noStrike" baseline="0" dirty="0">
                <a:solidFill>
                  <a:schemeClr val="tx1"/>
                </a:solidFill>
              </a:rPr>
              <a:t> </a:t>
            </a:r>
            <a:r>
              <a:rPr lang="en-US" sz="1400" b="0" i="0" u="none" strike="noStrike" baseline="0" dirty="0" err="1">
                <a:solidFill>
                  <a:schemeClr val="tx1"/>
                </a:solidFill>
              </a:rPr>
              <a:t>școlar</a:t>
            </a:r>
            <a:r>
              <a:rPr lang="en-US" sz="1400" b="0" i="0" u="none" strike="noStrike" baseline="0" dirty="0">
                <a:solidFill>
                  <a:schemeClr val="tx1"/>
                </a:solidFill>
              </a:rPr>
              <a:t> 2024-2025. </a:t>
            </a:r>
            <a:endParaRPr lang="ro-RO" sz="1400" b="0" i="0" u="none" strike="noStrike" baseline="0" dirty="0">
              <a:solidFill>
                <a:schemeClr val="tx1"/>
              </a:solidFill>
            </a:endParaRPr>
          </a:p>
          <a:p>
            <a:pPr marL="0" indent="0">
              <a:buNone/>
            </a:pPr>
            <a:r>
              <a:rPr lang="ro-RO" sz="1400" dirty="0"/>
              <a:t>Rezultatele învățării dobândite de preșcolari/elevi prin participarea la activități educaționale extrașcolare se înscriu în portofoliul educațional al elevului și sunt recunoscute prin adeverințe, diplome sau certificate acordate de unitățile de educație extrașcolară, unitățile de învățământ preuniversitar sau partenerii acestora.</a:t>
            </a:r>
            <a:endParaRPr lang="en-US" sz="1400" dirty="0">
              <a:solidFill>
                <a:schemeClr val="tx1"/>
              </a:solidFill>
            </a:endParaRPr>
          </a:p>
        </p:txBody>
      </p:sp>
    </p:spTree>
    <p:extLst>
      <p:ext uri="{BB962C8B-B14F-4D97-AF65-F5344CB8AC3E}">
        <p14:creationId xmlns:p14="http://schemas.microsoft.com/office/powerpoint/2010/main" val="3922256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89276-584C-4F18-A71F-4285BC3AFEB4}"/>
              </a:ext>
            </a:extLst>
          </p:cNvPr>
          <p:cNvSpPr>
            <a:spLocks noGrp="1"/>
          </p:cNvSpPr>
          <p:nvPr>
            <p:ph type="title"/>
          </p:nvPr>
        </p:nvSpPr>
        <p:spPr>
          <a:solidFill>
            <a:schemeClr val="accent2">
              <a:lumMod val="60000"/>
              <a:lumOff val="40000"/>
            </a:schemeClr>
          </a:solidFill>
        </p:spPr>
        <p:txBody>
          <a:bodyPr/>
          <a:lstStyle/>
          <a:p>
            <a:r>
              <a:rPr lang="ro-RO" b="1" dirty="0">
                <a:solidFill>
                  <a:schemeClr val="tx1"/>
                </a:solidFill>
              </a:rPr>
              <a:t>Documente </a:t>
            </a:r>
            <a:r>
              <a:rPr lang="ro-RO" b="1" dirty="0" err="1">
                <a:solidFill>
                  <a:schemeClr val="tx1"/>
                </a:solidFill>
              </a:rPr>
              <a:t>şcolare</a:t>
            </a:r>
            <a:endParaRPr lang="en-US" dirty="0"/>
          </a:p>
        </p:txBody>
      </p:sp>
      <p:sp>
        <p:nvSpPr>
          <p:cNvPr id="3" name="Content Placeholder 2">
            <a:extLst>
              <a:ext uri="{FF2B5EF4-FFF2-40B4-BE49-F238E27FC236}">
                <a16:creationId xmlns:a16="http://schemas.microsoft.com/office/drawing/2014/main" id="{1E153485-DF3E-4461-8D5F-60054CED94EA}"/>
              </a:ext>
            </a:extLst>
          </p:cNvPr>
          <p:cNvSpPr>
            <a:spLocks noGrp="1"/>
          </p:cNvSpPr>
          <p:nvPr>
            <p:ph idx="1"/>
          </p:nvPr>
        </p:nvSpPr>
        <p:spPr>
          <a:solidFill>
            <a:schemeClr val="accent6">
              <a:lumMod val="60000"/>
              <a:lumOff val="40000"/>
            </a:schemeClr>
          </a:solidFill>
        </p:spPr>
        <p:txBody>
          <a:bodyPr/>
          <a:lstStyle/>
          <a:p>
            <a:pPr>
              <a:lnSpc>
                <a:spcPct val="90000"/>
              </a:lnSpc>
            </a:pPr>
            <a:r>
              <a:rPr lang="ro-RO" altLang="ro-RO" b="1" dirty="0">
                <a:latin typeface="Arial" panose="020B0604020202020204" pitchFamily="34" charset="0"/>
                <a:cs typeface="Arial" panose="020B0604020202020204" pitchFamily="34" charset="0"/>
              </a:rPr>
              <a:t>P</a:t>
            </a:r>
            <a:r>
              <a:rPr lang="it-IT" altLang="ro-RO" b="1" dirty="0">
                <a:latin typeface="Arial" panose="020B0604020202020204" pitchFamily="34" charset="0"/>
                <a:cs typeface="Arial" panose="020B0604020202020204" pitchFamily="34" charset="0"/>
              </a:rPr>
              <a:t>lanuri-cadru</a:t>
            </a:r>
            <a:endParaRPr lang="ro-RO" altLang="ro-RO" b="1" dirty="0">
              <a:latin typeface="Arial" panose="020B0604020202020204" pitchFamily="34" charset="0"/>
              <a:cs typeface="Arial" panose="020B0604020202020204" pitchFamily="34" charset="0"/>
            </a:endParaRPr>
          </a:p>
          <a:p>
            <a:pPr>
              <a:lnSpc>
                <a:spcPct val="90000"/>
              </a:lnSpc>
            </a:pPr>
            <a:endParaRPr lang="ro-RO" altLang="ro-RO" b="1" dirty="0">
              <a:latin typeface="Arial" panose="020B0604020202020204" pitchFamily="34" charset="0"/>
              <a:cs typeface="Arial" panose="020B0604020202020204" pitchFamily="34" charset="0"/>
            </a:endParaRPr>
          </a:p>
          <a:p>
            <a:pPr>
              <a:lnSpc>
                <a:spcPct val="90000"/>
              </a:lnSpc>
            </a:pPr>
            <a:r>
              <a:rPr lang="ro-RO" altLang="ro-RO" b="1" dirty="0">
                <a:latin typeface="Arial" panose="020B0604020202020204" pitchFamily="34" charset="0"/>
                <a:cs typeface="Arial" panose="020B0604020202020204" pitchFamily="34" charset="0"/>
              </a:rPr>
              <a:t>P</a:t>
            </a:r>
            <a:r>
              <a:rPr lang="it-IT" altLang="ro-RO" b="1" dirty="0">
                <a:latin typeface="Arial" panose="020B0604020202020204" pitchFamily="34" charset="0"/>
                <a:cs typeface="Arial" panose="020B0604020202020204" pitchFamily="34" charset="0"/>
              </a:rPr>
              <a:t>rograme şcolare de trunchi comun şi programe şcolare pt. cursuri opţionale oferta naţională</a:t>
            </a:r>
            <a:r>
              <a:rPr lang="ro-RO" altLang="ro-RO" b="1" dirty="0">
                <a:latin typeface="Arial" panose="020B0604020202020204" pitchFamily="34" charset="0"/>
                <a:cs typeface="Arial" panose="020B0604020202020204" pitchFamily="34" charset="0"/>
              </a:rPr>
              <a:t> </a:t>
            </a:r>
          </a:p>
          <a:p>
            <a:pPr>
              <a:lnSpc>
                <a:spcPct val="90000"/>
              </a:lnSpc>
            </a:pPr>
            <a:endParaRPr lang="ro-RO" altLang="ro-RO" b="1" dirty="0">
              <a:latin typeface="Arial" panose="020B0604020202020204" pitchFamily="34" charset="0"/>
              <a:cs typeface="Arial" panose="020B0604020202020204" pitchFamily="34" charset="0"/>
            </a:endParaRPr>
          </a:p>
          <a:p>
            <a:pPr>
              <a:lnSpc>
                <a:spcPct val="90000"/>
              </a:lnSpc>
            </a:pPr>
            <a:r>
              <a:rPr lang="ro-RO" altLang="ro-RO" b="1" dirty="0">
                <a:latin typeface="Arial" panose="020B0604020202020204" pitchFamily="34" charset="0"/>
                <a:cs typeface="Arial" panose="020B0604020202020204" pitchFamily="34" charset="0"/>
              </a:rPr>
              <a:t>Manuale </a:t>
            </a:r>
            <a:r>
              <a:rPr lang="ro-RO" altLang="ro-RO" b="1" dirty="0" err="1">
                <a:latin typeface="Arial" panose="020B0604020202020204" pitchFamily="34" charset="0"/>
                <a:cs typeface="Arial" panose="020B0604020202020204" pitchFamily="34" charset="0"/>
              </a:rPr>
              <a:t>şcolare</a:t>
            </a:r>
            <a:r>
              <a:rPr lang="it-IT" altLang="ro-RO" b="1" dirty="0">
                <a:latin typeface="Arial" panose="020B0604020202020204" pitchFamily="34" charset="0"/>
                <a:cs typeface="Arial" panose="020B0604020202020204" pitchFamily="34" charset="0"/>
              </a:rPr>
              <a:t> </a:t>
            </a:r>
            <a:endParaRPr lang="ro-RO" altLang="ro-RO" b="1" dirty="0">
              <a:latin typeface="Arial" panose="020B0604020202020204" pitchFamily="34" charset="0"/>
              <a:cs typeface="Arial" panose="020B0604020202020204" pitchFamily="34" charset="0"/>
            </a:endParaRPr>
          </a:p>
          <a:p>
            <a:pPr marL="262890" indent="0" algn="r">
              <a:spcBef>
                <a:spcPts val="930"/>
              </a:spcBef>
              <a:buClr>
                <a:srgbClr val="FFFF99"/>
              </a:buClr>
              <a:buSzPct val="150000"/>
              <a:buNone/>
              <a:defRPr/>
            </a:pPr>
            <a:r>
              <a:rPr lang="ro-RO" i="1" dirty="0">
                <a:effectLst>
                  <a:outerShdw blurRad="38100" dist="38100" dir="2700000" algn="tl">
                    <a:srgbClr val="C0C0C0"/>
                  </a:outerShdw>
                </a:effectLst>
                <a:latin typeface="Trebuchet MS" panose="020B0603020202020204" pitchFamily="34" charset="0"/>
                <a:cs typeface="Arial" panose="020B0604020202020204" pitchFamily="34" charset="0"/>
              </a:rPr>
              <a:t>Toate planurile–cadru  valabile pot fi accesate la adresa: </a:t>
            </a:r>
            <a:r>
              <a:rPr lang="ro-RO" i="1" dirty="0">
                <a:solidFill>
                  <a:schemeClr val="tx1"/>
                </a:solidFill>
                <a:effectLst>
                  <a:outerShdw blurRad="38100" dist="38100" dir="2700000" algn="tl">
                    <a:srgbClr val="C0C0C0"/>
                  </a:outerShdw>
                </a:effectLst>
                <a:latin typeface="Trebuchet MS" panose="020B0603020202020204" pitchFamily="34" charset="0"/>
                <a:cs typeface="Arial" panose="020B0604020202020204" pitchFamily="34" charset="0"/>
              </a:rPr>
              <a:t>http://programe.ise.ro/Actuale.aspx</a:t>
            </a:r>
            <a:endParaRPr lang="en-US" i="1" dirty="0">
              <a:solidFill>
                <a:schemeClr val="tx1"/>
              </a:solidFill>
              <a:effectLst>
                <a:outerShdw blurRad="38100" dist="38100" dir="2700000" algn="tl">
                  <a:srgbClr val="C0C0C0"/>
                </a:outerShdw>
              </a:effectLst>
              <a:latin typeface="Trebuchet MS" panose="020B0603020202020204" pitchFamily="34" charset="0"/>
              <a:cs typeface="Arial" panose="020B0604020202020204" pitchFamily="34" charset="0"/>
            </a:endParaRPr>
          </a:p>
          <a:p>
            <a:pPr marL="262890" indent="0" algn="r">
              <a:spcBef>
                <a:spcPts val="930"/>
              </a:spcBef>
              <a:buClr>
                <a:srgbClr val="FFFF99"/>
              </a:buClr>
              <a:buSzPct val="150000"/>
              <a:buNone/>
              <a:defRPr/>
            </a:pPr>
            <a:r>
              <a:rPr lang="en-US" i="1" dirty="0">
                <a:solidFill>
                  <a:schemeClr val="tx1"/>
                </a:solidFill>
                <a:effectLst>
                  <a:outerShdw blurRad="38100" dist="38100" dir="2700000" algn="tl">
                    <a:srgbClr val="C0C0C0"/>
                  </a:outerShdw>
                </a:effectLst>
                <a:latin typeface="Trebuchet MS" panose="020B0603020202020204" pitchFamily="34" charset="0"/>
                <a:cs typeface="Arial" panose="020B0604020202020204" pitchFamily="34" charset="0"/>
              </a:rPr>
              <a:t>http://rocnee.ro </a:t>
            </a:r>
            <a:endParaRPr lang="ro-RO" i="1" dirty="0">
              <a:solidFill>
                <a:schemeClr val="tx1"/>
              </a:solidFill>
              <a:effectLst>
                <a:outerShdw blurRad="38100" dist="38100" dir="2700000" algn="tl">
                  <a:srgbClr val="C0C0C0"/>
                </a:outerShdw>
              </a:effectLst>
              <a:latin typeface="Trebuchet MS" panose="020B0603020202020204" pitchFamily="34" charset="0"/>
              <a:cs typeface="Arial" panose="020B0604020202020204" pitchFamily="34" charset="0"/>
            </a:endParaRPr>
          </a:p>
          <a:p>
            <a:pPr>
              <a:lnSpc>
                <a:spcPct val="90000"/>
              </a:lnSpc>
            </a:pPr>
            <a:endParaRPr lang="it-IT" altLang="ro-RO" b="1" dirty="0">
              <a:solidFill>
                <a:schemeClr val="tx1"/>
              </a:solidFill>
              <a:latin typeface="Arial" panose="020B0604020202020204" pitchFamily="34" charset="0"/>
              <a:cs typeface="Arial" panose="020B0604020202020204" pitchFamily="34" charset="0"/>
            </a:endParaRPr>
          </a:p>
          <a:p>
            <a:pPr marL="0" indent="0">
              <a:buNone/>
            </a:pPr>
            <a:endParaRPr lang="en-US" dirty="0">
              <a:solidFill>
                <a:schemeClr val="tx1"/>
              </a:solidFill>
            </a:endParaRPr>
          </a:p>
        </p:txBody>
      </p:sp>
    </p:spTree>
    <p:extLst>
      <p:ext uri="{BB962C8B-B14F-4D97-AF65-F5344CB8AC3E}">
        <p14:creationId xmlns:p14="http://schemas.microsoft.com/office/powerpoint/2010/main" val="1908512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623F3-A30D-4564-BC15-AFCD519A1EDC}"/>
              </a:ext>
            </a:extLst>
          </p:cNvPr>
          <p:cNvSpPr>
            <a:spLocks noGrp="1"/>
          </p:cNvSpPr>
          <p:nvPr>
            <p:ph type="title"/>
          </p:nvPr>
        </p:nvSpPr>
        <p:spPr>
          <a:solidFill>
            <a:schemeClr val="accent4">
              <a:lumMod val="40000"/>
              <a:lumOff val="60000"/>
            </a:schemeClr>
          </a:solidFill>
        </p:spPr>
        <p:txBody>
          <a:bodyPr/>
          <a:lstStyle/>
          <a:p>
            <a:r>
              <a:rPr lang="ro-RO" b="1" dirty="0">
                <a:solidFill>
                  <a:schemeClr val="tx1"/>
                </a:solidFill>
              </a:rPr>
              <a:t>Cadre didactice</a:t>
            </a:r>
            <a:endParaRPr lang="en-US" b="1" dirty="0">
              <a:solidFill>
                <a:schemeClr val="tx1"/>
              </a:solidFill>
            </a:endParaRPr>
          </a:p>
        </p:txBody>
      </p:sp>
      <p:sp>
        <p:nvSpPr>
          <p:cNvPr id="4" name="Content Placeholder 2">
            <a:extLst>
              <a:ext uri="{FF2B5EF4-FFF2-40B4-BE49-F238E27FC236}">
                <a16:creationId xmlns:a16="http://schemas.microsoft.com/office/drawing/2014/main" id="{D50EA462-0F85-47E8-8640-E1C07D757304}"/>
              </a:ext>
            </a:extLst>
          </p:cNvPr>
          <p:cNvSpPr>
            <a:spLocks noGrp="1"/>
          </p:cNvSpPr>
          <p:nvPr>
            <p:ph idx="1"/>
          </p:nvPr>
        </p:nvSpPr>
        <p:spPr>
          <a:xfrm>
            <a:off x="0" y="1930400"/>
            <a:ext cx="10515600" cy="4351338"/>
          </a:xfrm>
          <a:solidFill>
            <a:schemeClr val="accent2">
              <a:lumMod val="40000"/>
              <a:lumOff val="60000"/>
            </a:schemeClr>
          </a:solidFill>
        </p:spPr>
        <p:txBody>
          <a:bodyPr/>
          <a:lstStyle/>
          <a:p>
            <a:pPr algn="just">
              <a:lnSpc>
                <a:spcPct val="90000"/>
              </a:lnSpc>
              <a:buClr>
                <a:srgbClr val="FFFF99"/>
              </a:buClr>
              <a:buNone/>
              <a:defRPr/>
            </a:pPr>
            <a:endParaRPr lang="ro-RO" altLang="en-US" b="1"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gn="just">
              <a:lnSpc>
                <a:spcPct val="90000"/>
              </a:lnSpc>
              <a:buClr>
                <a:srgbClr val="FFFF99"/>
              </a:buClr>
              <a:buNone/>
              <a:defRPr/>
            </a:pPr>
            <a:endParaRPr lang="ro-RO" altLang="en-US" b="1"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gn="just">
              <a:lnSpc>
                <a:spcPct val="90000"/>
              </a:lnSpc>
              <a:buClr>
                <a:srgbClr val="FFFF99"/>
              </a:buClr>
              <a:buNone/>
              <a:defRPr/>
            </a:pPr>
            <a:r>
              <a:rPr lang="en-US" altLang="en-US" b="1" dirty="0" err="1">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Planificarea</a:t>
            </a:r>
            <a:r>
              <a:rPr lang="en-US" altLang="en-US" b="1"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a:t>
            </a:r>
            <a:r>
              <a:rPr lang="ro-RO" altLang="en-US" b="1" dirty="0" err="1">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şi</a:t>
            </a:r>
            <a:r>
              <a:rPr lang="ro-RO" altLang="en-US" b="1"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proiectarea didactică</a:t>
            </a:r>
          </a:p>
          <a:p>
            <a:pPr marL="0" indent="0" algn="just">
              <a:lnSpc>
                <a:spcPct val="90000"/>
              </a:lnSpc>
              <a:buClr>
                <a:srgbClr val="FFFF99"/>
              </a:buClr>
              <a:buNone/>
              <a:defRPr/>
            </a:pPr>
            <a:r>
              <a:rPr lang="ro-RO" altLang="en-US" b="1"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Elaborarea planificării calendaristice</a:t>
            </a:r>
          </a:p>
          <a:p>
            <a:pPr marL="0" indent="0" algn="just">
              <a:lnSpc>
                <a:spcPct val="90000"/>
              </a:lnSpc>
              <a:buClr>
                <a:srgbClr val="FFFF99"/>
              </a:buClr>
              <a:buNone/>
              <a:defRPr/>
            </a:pPr>
            <a:r>
              <a:rPr lang="ro-RO" altLang="zh-CN" b="1"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Proiectarea </a:t>
            </a:r>
            <a:r>
              <a:rPr lang="ro-RO" altLang="zh-CN" b="1" dirty="0" err="1">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unităţi</a:t>
            </a:r>
            <a:r>
              <a:rPr lang="en-US" altLang="zh-CN" b="1" dirty="0" err="1">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lor</a:t>
            </a:r>
            <a:r>
              <a:rPr lang="ro-RO" altLang="zh-CN" b="1"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 de </a:t>
            </a:r>
            <a:r>
              <a:rPr lang="ro-RO" altLang="zh-CN" b="1" dirty="0" err="1">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învăţare</a:t>
            </a:r>
            <a:endParaRPr lang="en-US" altLang="zh-CN" b="1"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gn="just">
              <a:lnSpc>
                <a:spcPct val="90000"/>
              </a:lnSpc>
              <a:buClr>
                <a:srgbClr val="FFFF99"/>
              </a:buClr>
              <a:buNone/>
              <a:defRPr/>
            </a:pPr>
            <a:r>
              <a:rPr lang="ro-RO" altLang="en-US" b="1"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rPr>
              <a:t>Schița lecției, pentru cei aflați în primii 3 ani de activitate</a:t>
            </a:r>
            <a:endParaRPr lang="en-US" altLang="en-US" b="1" dirty="0">
              <a:solidFill>
                <a:srgbClr val="002060"/>
              </a:solidFill>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gn="just"/>
            <a:endParaRPr lang="ro-RO" dirty="0"/>
          </a:p>
        </p:txBody>
      </p:sp>
    </p:spTree>
    <p:extLst>
      <p:ext uri="{BB962C8B-B14F-4D97-AF65-F5344CB8AC3E}">
        <p14:creationId xmlns:p14="http://schemas.microsoft.com/office/powerpoint/2010/main" val="3814651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0ABDBE-DABB-483E-8608-D9E586DD624B}"/>
              </a:ext>
            </a:extLst>
          </p:cNvPr>
          <p:cNvSpPr>
            <a:spLocks noGrp="1"/>
          </p:cNvSpPr>
          <p:nvPr>
            <p:ph idx="1"/>
          </p:nvPr>
        </p:nvSpPr>
        <p:spPr>
          <a:xfrm>
            <a:off x="838200" y="603504"/>
            <a:ext cx="10515600" cy="5573459"/>
          </a:xfrm>
        </p:spPr>
        <p:txBody>
          <a:bodyPr>
            <a:normAutofit/>
          </a:bodyPr>
          <a:lstStyle/>
          <a:p>
            <a:pPr algn="just">
              <a:defRPr/>
            </a:pPr>
            <a:r>
              <a:rPr lang="ro-RO" altLang="en-US" b="1" i="1" dirty="0">
                <a:effectLst>
                  <a:outerShdw blurRad="38100" dist="38100" dir="2700000" algn="tl">
                    <a:srgbClr val="C0C0C0"/>
                  </a:outerShdw>
                </a:effectLst>
                <a:latin typeface="Times New Roman" panose="02020603050405020304" pitchFamily="18" charset="0"/>
                <a:cs typeface="Times New Roman" panose="02020603050405020304" pitchFamily="18" charset="0"/>
              </a:rPr>
              <a:t>Planificarea calendaristică – document proiectiv</a:t>
            </a:r>
            <a:endParaRPr lang="ro-RO" altLang="en-US" b="1" dirty="0">
              <a:effectLst>
                <a:outerShdw blurRad="38100" dist="38100" dir="2700000" algn="tl">
                  <a:srgbClr val="C0C0C0"/>
                </a:outerShdw>
              </a:effectLst>
              <a:latin typeface="Times New Roman" panose="02020603050405020304" pitchFamily="18" charset="0"/>
              <a:cs typeface="Times New Roman" panose="02020603050405020304" pitchFamily="18" charset="0"/>
            </a:endParaRPr>
          </a:p>
          <a:p>
            <a:pPr algn="just">
              <a:defRPr/>
            </a:pPr>
            <a:r>
              <a:rPr lang="ro-RO" altLang="en-US" dirty="0">
                <a:latin typeface="Times New Roman" panose="02020603050405020304" pitchFamily="18" charset="0"/>
                <a:cs typeface="Times New Roman" panose="02020603050405020304" pitchFamily="18" charset="0"/>
              </a:rPr>
              <a:t>Planificarea calendaristică reprezintă un document proiectiv, necesar realizării </a:t>
            </a:r>
            <a:r>
              <a:rPr lang="ro-RO" altLang="en-US" dirty="0" err="1">
                <a:latin typeface="Times New Roman" panose="02020603050405020304" pitchFamily="18" charset="0"/>
                <a:cs typeface="Times New Roman" panose="02020603050405020304" pitchFamily="18" charset="0"/>
              </a:rPr>
              <a:t>activităţilor</a:t>
            </a:r>
            <a:r>
              <a:rPr lang="ro-RO" altLang="en-US" dirty="0">
                <a:latin typeface="Times New Roman" panose="02020603050405020304" pitchFamily="18" charset="0"/>
                <a:cs typeface="Times New Roman" panose="02020603050405020304" pitchFamily="18" charset="0"/>
              </a:rPr>
              <a:t> didactice care permite asocierea, într-un mod personalizat, a elementelor programei (</a:t>
            </a:r>
            <a:r>
              <a:rPr lang="ro-RO" altLang="en-US" dirty="0" err="1">
                <a:latin typeface="Times New Roman" panose="02020603050405020304" pitchFamily="18" charset="0"/>
                <a:cs typeface="Times New Roman" panose="02020603050405020304" pitchFamily="18" charset="0"/>
              </a:rPr>
              <a:t>competenţe</a:t>
            </a:r>
            <a:r>
              <a:rPr lang="ro-RO" altLang="en-US" dirty="0">
                <a:latin typeface="Times New Roman" panose="02020603050405020304" pitchFamily="18" charset="0"/>
                <a:cs typeface="Times New Roman" panose="02020603050405020304" pitchFamily="18" charset="0"/>
              </a:rPr>
              <a:t> specifice </a:t>
            </a:r>
            <a:r>
              <a:rPr lang="ro-RO" altLang="en-US" dirty="0" err="1">
                <a:latin typeface="Times New Roman" panose="02020603050405020304" pitchFamily="18" charset="0"/>
                <a:cs typeface="Times New Roman" panose="02020603050405020304" pitchFamily="18" charset="0"/>
              </a:rPr>
              <a:t>şi</a:t>
            </a:r>
            <a:r>
              <a:rPr lang="ro-RO" altLang="en-US" dirty="0">
                <a:latin typeface="Times New Roman" panose="02020603050405020304" pitchFamily="18" charset="0"/>
                <a:cs typeface="Times New Roman" panose="02020603050405020304" pitchFamily="18" charset="0"/>
              </a:rPr>
              <a:t> </a:t>
            </a:r>
            <a:r>
              <a:rPr lang="ro-RO" altLang="en-US" dirty="0" err="1">
                <a:latin typeface="Times New Roman" panose="02020603050405020304" pitchFamily="18" charset="0"/>
                <a:cs typeface="Times New Roman" panose="02020603050405020304" pitchFamily="18" charset="0"/>
              </a:rPr>
              <a:t>conţinuturi</a:t>
            </a:r>
            <a:r>
              <a:rPr lang="ro-RO" altLang="en-US" dirty="0">
                <a:latin typeface="Times New Roman" panose="02020603050405020304" pitchFamily="18" charset="0"/>
                <a:cs typeface="Times New Roman" panose="02020603050405020304" pitchFamily="18" charset="0"/>
              </a:rPr>
              <a:t>), în cadrul </a:t>
            </a:r>
            <a:r>
              <a:rPr lang="ro-RO" altLang="en-US" dirty="0" err="1">
                <a:latin typeface="Times New Roman" panose="02020603050405020304" pitchFamily="18" charset="0"/>
                <a:cs typeface="Times New Roman" panose="02020603050405020304" pitchFamily="18" charset="0"/>
              </a:rPr>
              <a:t>unităţilor</a:t>
            </a:r>
            <a:r>
              <a:rPr lang="ro-RO" altLang="en-US" dirty="0">
                <a:latin typeface="Times New Roman" panose="02020603050405020304" pitchFamily="18" charset="0"/>
                <a:cs typeface="Times New Roman" panose="02020603050405020304" pitchFamily="18" charset="0"/>
              </a:rPr>
              <a:t> de </a:t>
            </a:r>
            <a:r>
              <a:rPr lang="ro-RO" altLang="en-US" dirty="0" err="1">
                <a:latin typeface="Times New Roman" panose="02020603050405020304" pitchFamily="18" charset="0"/>
                <a:cs typeface="Times New Roman" panose="02020603050405020304" pitchFamily="18" charset="0"/>
              </a:rPr>
              <a:t>învăţare</a:t>
            </a:r>
            <a:r>
              <a:rPr lang="ro-RO" altLang="en-US" dirty="0">
                <a:latin typeface="Times New Roman" panose="02020603050405020304" pitchFamily="18" charset="0"/>
                <a:cs typeface="Times New Roman" panose="02020603050405020304" pitchFamily="18" charset="0"/>
              </a:rPr>
              <a:t>. Acestora le sunt alocate </a:t>
            </a:r>
            <a:r>
              <a:rPr lang="ro-RO" altLang="en-US" dirty="0" err="1">
                <a:latin typeface="Times New Roman" panose="02020603050405020304" pitchFamily="18" charset="0"/>
                <a:cs typeface="Times New Roman" panose="02020603050405020304" pitchFamily="18" charset="0"/>
              </a:rPr>
              <a:t>unităţi</a:t>
            </a:r>
            <a:r>
              <a:rPr lang="ro-RO" altLang="en-US" dirty="0">
                <a:latin typeface="Times New Roman" panose="02020603050405020304" pitchFamily="18" charset="0"/>
                <a:cs typeface="Times New Roman" panose="02020603050405020304" pitchFamily="18" charset="0"/>
              </a:rPr>
              <a:t> de timp (număr de ore </a:t>
            </a:r>
            <a:r>
              <a:rPr lang="ro-RO" altLang="en-US" dirty="0" err="1">
                <a:latin typeface="Times New Roman" panose="02020603050405020304" pitchFamily="18" charset="0"/>
                <a:cs typeface="Times New Roman" panose="02020603050405020304" pitchFamily="18" charset="0"/>
              </a:rPr>
              <a:t>şi</a:t>
            </a:r>
            <a:r>
              <a:rPr lang="ro-RO" altLang="en-US" dirty="0">
                <a:latin typeface="Times New Roman" panose="02020603050405020304" pitchFamily="18" charset="0"/>
                <a:cs typeface="Times New Roman" panose="02020603050405020304" pitchFamily="18" charset="0"/>
              </a:rPr>
              <a:t> săptămâni) considerate ca optime de către cadrul didactic, pe parcursul unui an </a:t>
            </a:r>
            <a:r>
              <a:rPr lang="ro-RO" altLang="en-US" dirty="0" err="1">
                <a:latin typeface="Times New Roman" panose="02020603050405020304" pitchFamily="18" charset="0"/>
                <a:cs typeface="Times New Roman" panose="02020603050405020304" pitchFamily="18" charset="0"/>
              </a:rPr>
              <a:t>şcolar</a:t>
            </a:r>
            <a:r>
              <a:rPr lang="ro-RO" altLang="en-US" dirty="0">
                <a:latin typeface="Times New Roman" panose="02020603050405020304" pitchFamily="18" charset="0"/>
                <a:cs typeface="Times New Roman" panose="02020603050405020304" pitchFamily="18" charset="0"/>
              </a:rPr>
              <a:t>.</a:t>
            </a:r>
          </a:p>
          <a:p>
            <a:pPr algn="just">
              <a:defRPr/>
            </a:pPr>
            <a:r>
              <a:rPr lang="ro-RO" altLang="en-US" dirty="0">
                <a:latin typeface="Times New Roman" panose="02020603050405020304" pitchFamily="18" charset="0"/>
                <a:cs typeface="Times New Roman" panose="02020603050405020304" pitchFamily="18" charset="0"/>
              </a:rPr>
              <a:t>În elaborarea planificării calendaristice </a:t>
            </a:r>
            <a:r>
              <a:rPr lang="ro-RO" altLang="en-US" b="1" dirty="0">
                <a:latin typeface="Times New Roman" panose="02020603050405020304" pitchFamily="18" charset="0"/>
                <a:cs typeface="Times New Roman" panose="02020603050405020304" pitchFamily="18" charset="0"/>
              </a:rPr>
              <a:t>programa </a:t>
            </a:r>
            <a:r>
              <a:rPr lang="ro-RO" altLang="en-US" b="1" dirty="0" err="1">
                <a:latin typeface="Times New Roman" panose="02020603050405020304" pitchFamily="18" charset="0"/>
                <a:cs typeface="Times New Roman" panose="02020603050405020304" pitchFamily="18" charset="0"/>
              </a:rPr>
              <a:t>şcolară</a:t>
            </a:r>
            <a:r>
              <a:rPr lang="ro-RO" altLang="en-US" b="1" dirty="0">
                <a:latin typeface="Times New Roman" panose="02020603050405020304" pitchFamily="18" charset="0"/>
                <a:cs typeface="Times New Roman" panose="02020603050405020304" pitchFamily="18" charset="0"/>
              </a:rPr>
              <a:t> reprezintă documentul de </a:t>
            </a:r>
            <a:r>
              <a:rPr lang="ro-RO" altLang="en-US" b="1" dirty="0" err="1">
                <a:latin typeface="Times New Roman" panose="02020603050405020304" pitchFamily="18" charset="0"/>
                <a:cs typeface="Times New Roman" panose="02020603050405020304" pitchFamily="18" charset="0"/>
              </a:rPr>
              <a:t>referinţă</a:t>
            </a:r>
            <a:r>
              <a:rPr lang="ro-RO" altLang="en-US" dirty="0">
                <a:latin typeface="Times New Roman" panose="02020603050405020304" pitchFamily="18" charset="0"/>
                <a:cs typeface="Times New Roman" panose="02020603050405020304" pitchFamily="18" charset="0"/>
              </a:rPr>
              <a:t>. După lectura atentă </a:t>
            </a:r>
            <a:r>
              <a:rPr lang="ro-RO" altLang="en-US" dirty="0" err="1">
                <a:latin typeface="Times New Roman" panose="02020603050405020304" pitchFamily="18" charset="0"/>
                <a:cs typeface="Times New Roman" panose="02020603050405020304" pitchFamily="18" charset="0"/>
              </a:rPr>
              <a:t>şi</a:t>
            </a:r>
            <a:r>
              <a:rPr lang="ro-RO" altLang="en-US" dirty="0">
                <a:latin typeface="Times New Roman" panose="02020603050405020304" pitchFamily="18" charset="0"/>
                <a:cs typeface="Times New Roman" panose="02020603050405020304" pitchFamily="18" charset="0"/>
              </a:rPr>
              <a:t> integrală a programei </a:t>
            </a:r>
            <a:r>
              <a:rPr lang="ro-RO" altLang="en-US" dirty="0" err="1">
                <a:latin typeface="Times New Roman" panose="02020603050405020304" pitchFamily="18" charset="0"/>
                <a:cs typeface="Times New Roman" panose="02020603050405020304" pitchFamily="18" charset="0"/>
              </a:rPr>
              <a:t>şcolare</a:t>
            </a:r>
            <a:r>
              <a:rPr lang="ro-RO" altLang="en-US" dirty="0">
                <a:latin typeface="Times New Roman" panose="02020603050405020304" pitchFamily="18" charset="0"/>
                <a:cs typeface="Times New Roman" panose="02020603050405020304" pitchFamily="18" charset="0"/>
              </a:rPr>
              <a:t>, elaborarea planificării calendaristice presupune parcurgerea următoarelor etape:</a:t>
            </a:r>
          </a:p>
          <a:p>
            <a:pPr marL="0" indent="0" algn="just">
              <a:buNone/>
              <a:defRPr/>
            </a:pPr>
            <a:r>
              <a:rPr lang="ro-RO" altLang="en-US" b="1" dirty="0">
                <a:latin typeface="Times New Roman" panose="02020603050405020304" pitchFamily="18" charset="0"/>
                <a:cs typeface="Times New Roman" panose="02020603050405020304" pitchFamily="18" charset="0"/>
              </a:rPr>
              <a:t>1. asocierea </a:t>
            </a:r>
            <a:r>
              <a:rPr lang="ro-RO" altLang="en-US" b="1" dirty="0" err="1">
                <a:latin typeface="Times New Roman" panose="02020603050405020304" pitchFamily="18" charset="0"/>
                <a:cs typeface="Times New Roman" panose="02020603050405020304" pitchFamily="18" charset="0"/>
              </a:rPr>
              <a:t>competenţelor</a:t>
            </a:r>
            <a:r>
              <a:rPr lang="ro-RO" altLang="en-US" b="1" dirty="0">
                <a:latin typeface="Times New Roman" panose="02020603050405020304" pitchFamily="18" charset="0"/>
                <a:cs typeface="Times New Roman" panose="02020603050405020304" pitchFamily="18" charset="0"/>
              </a:rPr>
              <a:t> specifice </a:t>
            </a:r>
            <a:r>
              <a:rPr lang="ro-RO" altLang="en-US" b="1" dirty="0" err="1">
                <a:latin typeface="Times New Roman" panose="02020603050405020304" pitchFamily="18" charset="0"/>
                <a:cs typeface="Times New Roman" panose="02020603050405020304" pitchFamily="18" charset="0"/>
              </a:rPr>
              <a:t>şi</a:t>
            </a:r>
            <a:r>
              <a:rPr lang="ro-RO" altLang="en-US" b="1" dirty="0">
                <a:latin typeface="Times New Roman" panose="02020603050405020304" pitchFamily="18" charset="0"/>
                <a:cs typeface="Times New Roman" panose="02020603050405020304" pitchFamily="18" charset="0"/>
              </a:rPr>
              <a:t> a </a:t>
            </a:r>
            <a:r>
              <a:rPr lang="ro-RO" altLang="en-US" b="1" dirty="0" err="1">
                <a:latin typeface="Times New Roman" panose="02020603050405020304" pitchFamily="18" charset="0"/>
                <a:cs typeface="Times New Roman" panose="02020603050405020304" pitchFamily="18" charset="0"/>
              </a:rPr>
              <a:t>conţinuturilor</a:t>
            </a:r>
            <a:r>
              <a:rPr lang="ro-RO" altLang="en-US" b="1" dirty="0">
                <a:latin typeface="Times New Roman" panose="02020603050405020304" pitchFamily="18" charset="0"/>
                <a:cs typeface="Times New Roman" panose="02020603050405020304" pitchFamily="18" charset="0"/>
              </a:rPr>
              <a:t> prezentate în programa </a:t>
            </a:r>
            <a:r>
              <a:rPr lang="ro-RO" altLang="en-US" b="1" dirty="0" err="1">
                <a:latin typeface="Times New Roman" panose="02020603050405020304" pitchFamily="18" charset="0"/>
                <a:cs typeface="Times New Roman" panose="02020603050405020304" pitchFamily="18" charset="0"/>
              </a:rPr>
              <a:t>şcolară</a:t>
            </a:r>
            <a:r>
              <a:rPr lang="ro-RO" altLang="en-US" b="1" dirty="0">
                <a:latin typeface="Times New Roman" panose="02020603050405020304" pitchFamily="18" charset="0"/>
                <a:cs typeface="Times New Roman" panose="02020603050405020304" pitchFamily="18" charset="0"/>
              </a:rPr>
              <a:t>;</a:t>
            </a:r>
            <a:endParaRPr lang="ro-RO" altLang="en-US" dirty="0">
              <a:latin typeface="Times New Roman" panose="02020603050405020304" pitchFamily="18" charset="0"/>
              <a:cs typeface="Times New Roman" panose="02020603050405020304" pitchFamily="18" charset="0"/>
            </a:endParaRPr>
          </a:p>
          <a:p>
            <a:pPr marL="0" indent="0" algn="just">
              <a:buNone/>
              <a:defRPr/>
            </a:pPr>
            <a:r>
              <a:rPr lang="ro-RO" altLang="en-US" b="1" dirty="0">
                <a:latin typeface="Times New Roman" panose="02020603050405020304" pitchFamily="18" charset="0"/>
                <a:cs typeface="Times New Roman" panose="02020603050405020304" pitchFamily="18" charset="0"/>
              </a:rPr>
              <a:t>2. stabilirea </a:t>
            </a:r>
            <a:r>
              <a:rPr lang="ro-RO" altLang="en-US" b="1" dirty="0" err="1">
                <a:latin typeface="Times New Roman" panose="02020603050405020304" pitchFamily="18" charset="0"/>
                <a:cs typeface="Times New Roman" panose="02020603050405020304" pitchFamily="18" charset="0"/>
              </a:rPr>
              <a:t>unităţilor</a:t>
            </a:r>
            <a:r>
              <a:rPr lang="ro-RO" altLang="en-US" b="1" dirty="0">
                <a:latin typeface="Times New Roman" panose="02020603050405020304" pitchFamily="18" charset="0"/>
                <a:cs typeface="Times New Roman" panose="02020603050405020304" pitchFamily="18" charset="0"/>
              </a:rPr>
              <a:t> de </a:t>
            </a:r>
            <a:r>
              <a:rPr lang="ro-RO" altLang="en-US" b="1" dirty="0" err="1">
                <a:latin typeface="Times New Roman" panose="02020603050405020304" pitchFamily="18" charset="0"/>
                <a:cs typeface="Times New Roman" panose="02020603050405020304" pitchFamily="18" charset="0"/>
              </a:rPr>
              <a:t>învăţare</a:t>
            </a:r>
            <a:r>
              <a:rPr lang="ro-RO" altLang="en-US" b="1" dirty="0">
                <a:latin typeface="Times New Roman" panose="02020603050405020304" pitchFamily="18" charset="0"/>
                <a:cs typeface="Times New Roman" panose="02020603050405020304" pitchFamily="18" charset="0"/>
              </a:rPr>
              <a:t>;</a:t>
            </a:r>
            <a:endParaRPr lang="ro-RO" altLang="en-US" dirty="0">
              <a:latin typeface="Times New Roman" panose="02020603050405020304" pitchFamily="18" charset="0"/>
              <a:cs typeface="Times New Roman" panose="02020603050405020304" pitchFamily="18" charset="0"/>
            </a:endParaRPr>
          </a:p>
          <a:p>
            <a:pPr marL="0" indent="0" algn="just">
              <a:buNone/>
              <a:defRPr/>
            </a:pPr>
            <a:r>
              <a:rPr lang="ro-RO" altLang="en-US" b="1" dirty="0">
                <a:latin typeface="Times New Roman" panose="02020603050405020304" pitchFamily="18" charset="0"/>
                <a:cs typeface="Times New Roman" panose="02020603050405020304" pitchFamily="18" charset="0"/>
              </a:rPr>
              <a:t>3. stabilirea succesiunii parcurgerii </a:t>
            </a:r>
            <a:r>
              <a:rPr lang="ro-RO" altLang="en-US" b="1" dirty="0" err="1">
                <a:latin typeface="Times New Roman" panose="02020603050405020304" pitchFamily="18" charset="0"/>
                <a:cs typeface="Times New Roman" panose="02020603050405020304" pitchFamily="18" charset="0"/>
              </a:rPr>
              <a:t>unităţilor</a:t>
            </a:r>
            <a:r>
              <a:rPr lang="ro-RO" altLang="en-US" b="1" dirty="0">
                <a:latin typeface="Times New Roman" panose="02020603050405020304" pitchFamily="18" charset="0"/>
                <a:cs typeface="Times New Roman" panose="02020603050405020304" pitchFamily="18" charset="0"/>
              </a:rPr>
              <a:t> de </a:t>
            </a:r>
            <a:r>
              <a:rPr lang="ro-RO" altLang="en-US" b="1" dirty="0" err="1">
                <a:latin typeface="Times New Roman" panose="02020603050405020304" pitchFamily="18" charset="0"/>
                <a:cs typeface="Times New Roman" panose="02020603050405020304" pitchFamily="18" charset="0"/>
              </a:rPr>
              <a:t>învăţare</a:t>
            </a:r>
            <a:r>
              <a:rPr lang="ro-RO" altLang="en-US" b="1" dirty="0">
                <a:latin typeface="Times New Roman" panose="02020603050405020304" pitchFamily="18" charset="0"/>
                <a:cs typeface="Times New Roman" panose="02020603050405020304" pitchFamily="18" charset="0"/>
              </a:rPr>
              <a:t>;</a:t>
            </a:r>
            <a:endParaRPr lang="ro-RO" altLang="en-US" dirty="0">
              <a:latin typeface="Times New Roman" panose="02020603050405020304" pitchFamily="18" charset="0"/>
              <a:cs typeface="Times New Roman" panose="02020603050405020304" pitchFamily="18" charset="0"/>
            </a:endParaRPr>
          </a:p>
          <a:p>
            <a:pPr algn="just">
              <a:buFontTx/>
              <a:buAutoNum type="arabicPeriod" startAt="4"/>
              <a:defRPr/>
            </a:pPr>
            <a:r>
              <a:rPr lang="ro-RO" altLang="en-US" b="1" dirty="0">
                <a:latin typeface="Times New Roman" panose="02020603050405020304" pitchFamily="18" charset="0"/>
                <a:cs typeface="Times New Roman" panose="02020603050405020304" pitchFamily="18" charset="0"/>
              </a:rPr>
              <a:t>stabilirea bugetului de timp necesar pentru fiecare unitate de </a:t>
            </a:r>
            <a:r>
              <a:rPr lang="ro-RO" altLang="en-US" b="1" dirty="0" err="1">
                <a:latin typeface="Times New Roman" panose="02020603050405020304" pitchFamily="18" charset="0"/>
                <a:cs typeface="Times New Roman" panose="02020603050405020304" pitchFamily="18" charset="0"/>
              </a:rPr>
              <a:t>învăţare</a:t>
            </a:r>
            <a:r>
              <a:rPr lang="ro-RO" altLang="en-US" b="1" dirty="0">
                <a:latin typeface="Times New Roman" panose="02020603050405020304" pitchFamily="18" charset="0"/>
                <a:cs typeface="Times New Roman" panose="02020603050405020304" pitchFamily="18" charset="0"/>
              </a:rPr>
              <a:t>.</a:t>
            </a:r>
          </a:p>
          <a:p>
            <a:pPr algn="just">
              <a:buFontTx/>
              <a:buAutoNum type="arabicPeriod" startAt="4"/>
              <a:defRPr/>
            </a:pPr>
            <a:endParaRPr lang="ro-RO" altLang="en-US" b="1" dirty="0">
              <a:latin typeface="Times New Roman" panose="02020603050405020304" pitchFamily="18" charset="0"/>
              <a:cs typeface="Times New Roman" panose="02020603050405020304" pitchFamily="18" charset="0"/>
            </a:endParaRPr>
          </a:p>
          <a:p>
            <a:pPr algn="just">
              <a:defRPr/>
            </a:pPr>
            <a:r>
              <a:rPr lang="ro-RO" altLang="en-US" dirty="0">
                <a:latin typeface="Times New Roman" panose="02020603050405020304" pitchFamily="18" charset="0"/>
                <a:cs typeface="Times New Roman" panose="02020603050405020304" pitchFamily="18" charset="0"/>
              </a:rPr>
              <a:t>Planificarea calendaristică anuală </a:t>
            </a:r>
            <a:r>
              <a:rPr lang="ro-RO" altLang="en-US" b="1" dirty="0">
                <a:latin typeface="Times New Roman" panose="02020603050405020304" pitchFamily="18" charset="0"/>
                <a:cs typeface="Times New Roman" panose="02020603050405020304" pitchFamily="18" charset="0"/>
              </a:rPr>
              <a:t>nu se realizează pe baza manualelor </a:t>
            </a:r>
            <a:r>
              <a:rPr lang="ro-RO" altLang="en-US" b="1" dirty="0" err="1">
                <a:latin typeface="Times New Roman" panose="02020603050405020304" pitchFamily="18" charset="0"/>
                <a:cs typeface="Times New Roman" panose="02020603050405020304" pitchFamily="18" charset="0"/>
              </a:rPr>
              <a:t>şcolare</a:t>
            </a:r>
            <a:r>
              <a:rPr lang="ro-RO" altLang="en-US" dirty="0">
                <a:latin typeface="Times New Roman" panose="02020603050405020304" pitchFamily="18" charset="0"/>
                <a:cs typeface="Times New Roman" panose="02020603050405020304" pitchFamily="18" charset="0"/>
              </a:rPr>
              <a:t>, acestea fiind materiale curriculare adresate elevilor. </a:t>
            </a:r>
          </a:p>
          <a:p>
            <a:endParaRPr lang="en-US" dirty="0"/>
          </a:p>
        </p:txBody>
      </p:sp>
    </p:spTree>
    <p:extLst>
      <p:ext uri="{BB962C8B-B14F-4D97-AF65-F5344CB8AC3E}">
        <p14:creationId xmlns:p14="http://schemas.microsoft.com/office/powerpoint/2010/main" val="4253239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1484310" y="1029731"/>
            <a:ext cx="10018713" cy="4761470"/>
          </a:xfrm>
          <a:prstGeom prst="rect">
            <a:avLst/>
          </a:prstGeom>
        </p:spPr>
        <p:txBody>
          <a:bodyPr>
            <a:normAutofit fontScale="92500" lnSpcReduction="10000"/>
          </a:bodyPr>
          <a:lstStyle/>
          <a:p>
            <a:pPr marL="0" indent="0">
              <a:buNone/>
            </a:pPr>
            <a:endParaRPr lang="ro-RO" b="1" dirty="0">
              <a:latin typeface="Calibri" panose="020F0502020204030204" pitchFamily="34" charset="0"/>
              <a:cs typeface="Calibri" panose="020F0502020204030204" pitchFamily="34" charset="0"/>
            </a:endParaRPr>
          </a:p>
          <a:p>
            <a:pPr marL="0" indent="0">
              <a:buNone/>
            </a:pPr>
            <a:r>
              <a:rPr lang="ro-RO" b="1" dirty="0">
                <a:latin typeface="Calibri" panose="020F0502020204030204" pitchFamily="34" charset="0"/>
                <a:cs typeface="Calibri" panose="020F0502020204030204" pitchFamily="34" charset="0"/>
              </a:rPr>
              <a:t>Curriculum național: planurile-cadru, programele și manualele școlare,  în vigoare</a:t>
            </a:r>
          </a:p>
          <a:p>
            <a:pPr marL="0" indent="0">
              <a:buNone/>
            </a:pPr>
            <a:endParaRPr lang="ro-RO" b="1" dirty="0">
              <a:latin typeface="Calibri" panose="020F0502020204030204" pitchFamily="34" charset="0"/>
              <a:cs typeface="Calibri" panose="020F0502020204030204" pitchFamily="34" charset="0"/>
            </a:endParaRPr>
          </a:p>
          <a:p>
            <a:r>
              <a:rPr lang="en-US" altLang="zh-CN" b="1" dirty="0">
                <a:solidFill>
                  <a:schemeClr val="tx1"/>
                </a:solidFill>
                <a:ea typeface="Calibri" pitchFamily="34" charset="0"/>
                <a:cs typeface="Times New Roman" pitchFamily="18" charset="0"/>
              </a:rPr>
              <a:t>P</a:t>
            </a:r>
            <a:r>
              <a:rPr lang="ro-RO" altLang="zh-CN" b="1" dirty="0">
                <a:solidFill>
                  <a:schemeClr val="tx1"/>
                </a:solidFill>
                <a:ea typeface="Calibri" pitchFamily="34" charset="0"/>
                <a:cs typeface="Times New Roman" pitchFamily="18" charset="0"/>
              </a:rPr>
              <a:t>lanuri - cadru pentru învățământul gimnazial</a:t>
            </a:r>
            <a:r>
              <a:rPr lang="ro-RO" altLang="zh-CN" b="1" i="1" dirty="0">
                <a:solidFill>
                  <a:schemeClr val="tx1"/>
                </a:solidFill>
                <a:ea typeface="Calibri" pitchFamily="34" charset="0"/>
                <a:cs typeface="Times New Roman" pitchFamily="18" charset="0"/>
              </a:rPr>
              <a:t> </a:t>
            </a:r>
            <a:r>
              <a:rPr lang="ro-RO" altLang="zh-CN" b="1" dirty="0">
                <a:solidFill>
                  <a:schemeClr val="tx1"/>
                </a:solidFill>
                <a:ea typeface="Calibri" pitchFamily="34" charset="0"/>
                <a:cs typeface="Times New Roman" pitchFamily="18" charset="0"/>
              </a:rPr>
              <a:t>aprobate</a:t>
            </a:r>
            <a:r>
              <a:rPr lang="ro-RO" altLang="zh-CN" b="1" i="1" dirty="0">
                <a:solidFill>
                  <a:schemeClr val="tx1"/>
                </a:solidFill>
                <a:ea typeface="Calibri" pitchFamily="34" charset="0"/>
                <a:cs typeface="Times New Roman" pitchFamily="18" charset="0"/>
              </a:rPr>
              <a:t> </a:t>
            </a:r>
            <a:r>
              <a:rPr lang="ro-RO" altLang="zh-CN" b="1" dirty="0">
                <a:solidFill>
                  <a:schemeClr val="tx1"/>
                </a:solidFill>
                <a:ea typeface="Calibri" pitchFamily="34" charset="0"/>
                <a:cs typeface="Times New Roman" pitchFamily="18" charset="0"/>
              </a:rPr>
              <a:t>prin OMENCS nr. </a:t>
            </a:r>
            <a:r>
              <a:rPr lang="ro-RO" altLang="zh-CN" b="1" dirty="0">
                <a:ea typeface="Calibri" pitchFamily="34" charset="0"/>
                <a:cs typeface="Times New Roman" pitchFamily="18" charset="0"/>
              </a:rPr>
              <a:t>3590/5.04.2016,</a:t>
            </a:r>
            <a:r>
              <a:rPr lang="en-US" altLang="zh-CN" b="1" dirty="0">
                <a:ea typeface="Calibri" pitchFamily="34" charset="0"/>
                <a:cs typeface="Times New Roman" pitchFamily="18" charset="0"/>
              </a:rPr>
              <a:t> cu </a:t>
            </a:r>
            <a:r>
              <a:rPr lang="en-US" altLang="zh-CN" b="1" dirty="0" err="1">
                <a:ea typeface="Calibri" pitchFamily="34" charset="0"/>
                <a:cs typeface="Times New Roman" pitchFamily="18" charset="0"/>
              </a:rPr>
              <a:t>modific</a:t>
            </a:r>
            <a:r>
              <a:rPr lang="ro-RO" altLang="zh-CN" b="1" dirty="0" err="1">
                <a:ea typeface="Calibri" pitchFamily="34" charset="0"/>
                <a:cs typeface="Times New Roman" pitchFamily="18" charset="0"/>
              </a:rPr>
              <a:t>ările</a:t>
            </a:r>
            <a:r>
              <a:rPr lang="ro-RO" altLang="zh-CN" b="1" dirty="0">
                <a:ea typeface="Calibri" pitchFamily="34" charset="0"/>
                <a:cs typeface="Times New Roman" pitchFamily="18" charset="0"/>
              </a:rPr>
              <a:t> și completările ulterioare</a:t>
            </a:r>
            <a:r>
              <a:rPr lang="en-US" altLang="zh-CN" b="1" dirty="0">
                <a:ea typeface="Calibri" pitchFamily="34" charset="0"/>
                <a:cs typeface="Times New Roman" pitchFamily="18" charset="0"/>
              </a:rPr>
              <a:t> (OMEN 4221/2018)</a:t>
            </a:r>
            <a:r>
              <a:rPr lang="ro-RO" b="1" dirty="0">
                <a:latin typeface="Calibri" panose="020F0502020204030204" pitchFamily="34" charset="0"/>
                <a:cs typeface="Calibri" panose="020F0502020204030204" pitchFamily="34" charset="0"/>
              </a:rPr>
              <a:t> </a:t>
            </a:r>
          </a:p>
          <a:p>
            <a:pPr>
              <a:lnSpc>
                <a:spcPct val="90000"/>
              </a:lnSpc>
              <a:buFontTx/>
              <a:buChar char="-"/>
            </a:pPr>
            <a:r>
              <a:rPr lang="ro-RO" altLang="ro-RO" b="1" dirty="0"/>
              <a:t>P</a:t>
            </a:r>
            <a:r>
              <a:rPr lang="it-IT" altLang="ro-RO" b="1" dirty="0"/>
              <a:t>rograme şcolare</a:t>
            </a:r>
            <a:r>
              <a:rPr lang="ro-RO" altLang="ro-RO" b="1" dirty="0"/>
              <a:t> (primar, gimnazial, liceal): C</a:t>
            </a:r>
            <a:r>
              <a:rPr lang="en-US" altLang="ro-RO" b="1" dirty="0" err="1"/>
              <a:t>onsilier</a:t>
            </a:r>
            <a:r>
              <a:rPr lang="ro-RO" altLang="ro-RO" b="1" dirty="0"/>
              <a:t>e</a:t>
            </a:r>
            <a:r>
              <a:rPr lang="en-US" altLang="ro-RO" b="1" dirty="0"/>
              <a:t> </a:t>
            </a:r>
            <a:r>
              <a:rPr lang="ro-RO" altLang="ro-RO" b="1" dirty="0"/>
              <a:t>și dezvoltare personală cls. V-VIII (aprobate prin OMEN nr. 3393/2017) și Consiliere și orientare cls. IX-XII/dirigenție (programe școlare - OMEC nr. 5287/2006 și OMEC nr. 5132/2009 privind activitățile specifice funcției de diriginte )</a:t>
            </a:r>
          </a:p>
          <a:p>
            <a:pPr>
              <a:lnSpc>
                <a:spcPct val="90000"/>
              </a:lnSpc>
              <a:buFontTx/>
              <a:buChar char="-"/>
            </a:pPr>
            <a:r>
              <a:rPr lang="ro-RO" b="1" dirty="0">
                <a:latin typeface="Calibri" panose="020F0502020204030204" pitchFamily="34" charset="0"/>
                <a:cs typeface="Calibri" panose="020F0502020204030204" pitchFamily="34" charset="0"/>
              </a:rPr>
              <a:t>Nota 128RS/26.08.2021 – prof</a:t>
            </a:r>
            <a:r>
              <a:rPr lang="en-US" b="1" dirty="0" err="1">
                <a:latin typeface="Calibri" panose="020F0502020204030204" pitchFamily="34" charset="0"/>
                <a:cs typeface="Calibri" panose="020F0502020204030204" pitchFamily="34" charset="0"/>
              </a:rPr>
              <a:t>esorii</a:t>
            </a:r>
            <a:r>
              <a:rPr lang="ro-RO" b="1" dirty="0">
                <a:latin typeface="Calibri" panose="020F0502020204030204" pitchFamily="34" charset="0"/>
                <a:cs typeface="Calibri" panose="020F0502020204030204" pitchFamily="34" charset="0"/>
              </a:rPr>
              <a:t> diriginți nu solicită/colectează și prelucrează informații cu privire la locul de muncă, ocupația sau profesia părinților/reprezentanților legali ai elevilor</a:t>
            </a:r>
          </a:p>
          <a:p>
            <a:pPr>
              <a:lnSpc>
                <a:spcPct val="90000"/>
              </a:lnSpc>
              <a:buFontTx/>
              <a:buChar char="-"/>
            </a:pPr>
            <a:r>
              <a:rPr lang="ro-RO" b="1" dirty="0">
                <a:latin typeface="Calibri" panose="020F0502020204030204" pitchFamily="34" charset="0"/>
                <a:cs typeface="Calibri" panose="020F0502020204030204" pitchFamily="34" charset="0"/>
              </a:rPr>
              <a:t>ROFUIP nr. 4183/2022 cu modificări și completări ulterioare</a:t>
            </a:r>
          </a:p>
          <a:p>
            <a:pPr>
              <a:lnSpc>
                <a:spcPct val="90000"/>
              </a:lnSpc>
              <a:buFontTx/>
              <a:buChar char="-"/>
            </a:pPr>
            <a:r>
              <a:rPr lang="ro-RO" b="1" dirty="0">
                <a:latin typeface="Calibri" panose="020F0502020204030204" pitchFamily="34" charset="0"/>
                <a:cs typeface="Calibri" panose="020F0502020204030204" pitchFamily="34" charset="0"/>
              </a:rPr>
              <a:t>OM nr. 6233/04.09.2023 pentru aprobarea Metodologiei-cadru de organizare și funcționare a </a:t>
            </a:r>
            <a:r>
              <a:rPr lang="ro-RO" b="1" dirty="0" err="1">
                <a:latin typeface="Calibri" panose="020F0502020204030204" pitchFamily="34" charset="0"/>
                <a:cs typeface="Calibri" panose="020F0502020204030204" pitchFamily="34" charset="0"/>
              </a:rPr>
              <a:t>a</a:t>
            </a:r>
            <a:r>
              <a:rPr lang="ro-RO" b="1" dirty="0">
                <a:latin typeface="Calibri" panose="020F0502020204030204" pitchFamily="34" charset="0"/>
                <a:cs typeface="Calibri" panose="020F0502020204030204" pitchFamily="34" charset="0"/>
              </a:rPr>
              <a:t> C.A. din unitățile de învățământ preuniversitar</a:t>
            </a:r>
          </a:p>
          <a:p>
            <a:pPr>
              <a:lnSpc>
                <a:spcPct val="90000"/>
              </a:lnSpc>
              <a:buFontTx/>
              <a:buChar char="-"/>
            </a:pPr>
            <a:r>
              <a:rPr lang="ro-RO" b="1" dirty="0">
                <a:latin typeface="Calibri" panose="020F0502020204030204" pitchFamily="34" charset="0"/>
                <a:cs typeface="Calibri" panose="020F0502020204030204" pitchFamily="34" charset="0"/>
              </a:rPr>
              <a:t>Adresa nr. 438/LIF/04.09.2023 – referitoare la notare</a:t>
            </a:r>
            <a:br>
              <a:rPr lang="en-US" b="1" dirty="0">
                <a:latin typeface="Calibri" panose="020F0502020204030204" pitchFamily="34" charset="0"/>
                <a:cs typeface="Calibri" panose="020F0502020204030204" pitchFamily="34" charset="0"/>
              </a:rPr>
            </a:br>
            <a:r>
              <a:rPr lang="ro-RO" b="1" dirty="0"/>
              <a:t> </a:t>
            </a:r>
            <a:br>
              <a:rPr lang="ro-RO" dirty="0"/>
            </a:br>
            <a:endParaRPr lang="ro-RO" dirty="0"/>
          </a:p>
        </p:txBody>
      </p:sp>
    </p:spTree>
    <p:extLst>
      <p:ext uri="{BB962C8B-B14F-4D97-AF65-F5344CB8AC3E}">
        <p14:creationId xmlns:p14="http://schemas.microsoft.com/office/powerpoint/2010/main" val="20048304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8897" y="548680"/>
            <a:ext cx="10157354" cy="924520"/>
          </a:xfrm>
          <a:solidFill>
            <a:schemeClr val="accent2">
              <a:lumMod val="40000"/>
              <a:lumOff val="60000"/>
            </a:schemeClr>
          </a:solidFill>
        </p:spPr>
        <p:txBody>
          <a:bodyPr>
            <a:normAutofit/>
          </a:bodyPr>
          <a:lstStyle/>
          <a:p>
            <a:pPr>
              <a:lnSpc>
                <a:spcPct val="100000"/>
              </a:lnSpc>
            </a:pPr>
            <a:r>
              <a:rPr lang="en-US" altLang="ro-RO" sz="2800" b="1" dirty="0" err="1">
                <a:solidFill>
                  <a:schemeClr val="tx1"/>
                </a:solidFill>
                <a:latin typeface="Trebuchet MS" panose="020B0603020202020204" pitchFamily="34" charset="0"/>
                <a:cs typeface="Arial" panose="020B0604020202020204" pitchFamily="34" charset="0"/>
              </a:rPr>
              <a:t>Portofoliul</a:t>
            </a:r>
            <a:r>
              <a:rPr lang="ro-RO" altLang="ro-RO" sz="2800" b="1" dirty="0">
                <a:solidFill>
                  <a:schemeClr val="tx1"/>
                </a:solidFill>
                <a:latin typeface="Trebuchet MS" panose="020B0603020202020204" pitchFamily="34" charset="0"/>
                <a:cs typeface="Arial" panose="020B0604020202020204" pitchFamily="34" charset="0"/>
              </a:rPr>
              <a:t> consilierului educativ</a:t>
            </a:r>
          </a:p>
        </p:txBody>
      </p:sp>
      <p:sp>
        <p:nvSpPr>
          <p:cNvPr id="3" name="Content Placeholder 2"/>
          <p:cNvSpPr>
            <a:spLocks noGrp="1"/>
          </p:cNvSpPr>
          <p:nvPr>
            <p:ph idx="1"/>
          </p:nvPr>
        </p:nvSpPr>
        <p:spPr/>
        <p:txBody>
          <a:bodyPr>
            <a:normAutofit fontScale="70000" lnSpcReduction="20000"/>
          </a:bodyPr>
          <a:lstStyle/>
          <a:p>
            <a:pPr>
              <a:lnSpc>
                <a:spcPct val="100000"/>
              </a:lnSpc>
              <a:spcBef>
                <a:spcPts val="600"/>
              </a:spcBef>
              <a:buNone/>
            </a:pPr>
            <a:r>
              <a:rPr lang="ro-RO" altLang="ro-RO" sz="2900" dirty="0">
                <a:latin typeface="Trebuchet MS" panose="020B0603020202020204" pitchFamily="34" charset="0"/>
                <a:cs typeface="Arial" panose="020B0604020202020204" pitchFamily="34" charset="0"/>
              </a:rPr>
              <a:t>1.</a:t>
            </a:r>
            <a:r>
              <a:rPr lang="en-US" altLang="ro-RO" sz="2900" dirty="0">
                <a:latin typeface="Trebuchet MS" panose="020B0603020202020204" pitchFamily="34" charset="0"/>
                <a:cs typeface="Arial" panose="020B0604020202020204" pitchFamily="34" charset="0"/>
              </a:rPr>
              <a:t> </a:t>
            </a:r>
            <a:r>
              <a:rPr lang="ro-RO" altLang="ro-RO" sz="2900" dirty="0" err="1">
                <a:latin typeface="Trebuchet MS" panose="020B0603020202020204" pitchFamily="34" charset="0"/>
                <a:cs typeface="Arial" panose="020B0604020202020204" pitchFamily="34" charset="0"/>
              </a:rPr>
              <a:t>Fişa</a:t>
            </a:r>
            <a:r>
              <a:rPr lang="ro-RO" altLang="ro-RO" sz="2900" dirty="0">
                <a:latin typeface="Trebuchet MS" panose="020B0603020202020204" pitchFamily="34" charset="0"/>
                <a:cs typeface="Arial" panose="020B0604020202020204" pitchFamily="34" charset="0"/>
              </a:rPr>
              <a:t> postului </a:t>
            </a:r>
            <a:r>
              <a:rPr lang="ro-RO" altLang="ro-RO" sz="2900" dirty="0" err="1">
                <a:latin typeface="Trebuchet MS" panose="020B0603020202020204" pitchFamily="34" charset="0"/>
                <a:cs typeface="Arial" panose="020B0604020202020204" pitchFamily="34" charset="0"/>
              </a:rPr>
              <a:t>operaţionalizată</a:t>
            </a:r>
            <a:r>
              <a:rPr lang="ro-RO" altLang="ro-RO" sz="2900" dirty="0">
                <a:latin typeface="Trebuchet MS" panose="020B0603020202020204" pitchFamily="34" charset="0"/>
                <a:cs typeface="Arial" panose="020B0604020202020204" pitchFamily="34" charset="0"/>
              </a:rPr>
              <a:t>. Curriculum vitae</a:t>
            </a:r>
            <a:endParaRPr lang="en-US" altLang="ro-RO" sz="2900" dirty="0">
              <a:latin typeface="Trebuchet MS" panose="020B0603020202020204" pitchFamily="34" charset="0"/>
              <a:cs typeface="Arial" panose="020B0604020202020204" pitchFamily="34" charset="0"/>
            </a:endParaRPr>
          </a:p>
          <a:p>
            <a:pPr>
              <a:lnSpc>
                <a:spcPct val="100000"/>
              </a:lnSpc>
              <a:spcBef>
                <a:spcPts val="600"/>
              </a:spcBef>
              <a:buNone/>
            </a:pPr>
            <a:r>
              <a:rPr lang="en-US" altLang="ro-RO" sz="2900" dirty="0">
                <a:latin typeface="Trebuchet MS" panose="020B0603020202020204" pitchFamily="34" charset="0"/>
                <a:cs typeface="Arial" panose="020B0604020202020204" pitchFamily="34" charset="0"/>
              </a:rPr>
              <a:t>2. </a:t>
            </a:r>
            <a:r>
              <a:rPr lang="ro-RO" altLang="ro-RO" sz="2900" dirty="0">
                <a:latin typeface="Trebuchet MS" panose="020B0603020202020204" pitchFamily="34" charset="0"/>
                <a:cs typeface="Arial" panose="020B0604020202020204" pitchFamily="34" charset="0"/>
              </a:rPr>
              <a:t>Banca de date I</a:t>
            </a:r>
            <a:r>
              <a:rPr lang="en-US" altLang="ro-RO" sz="2900" dirty="0">
                <a:latin typeface="Trebuchet MS" panose="020B0603020202020204" pitchFamily="34" charset="0"/>
                <a:cs typeface="Arial" panose="020B0604020202020204" pitchFamily="34" charset="0"/>
              </a:rPr>
              <a:t>:</a:t>
            </a:r>
            <a:r>
              <a:rPr lang="ro-RO" altLang="ro-RO" sz="2900" dirty="0">
                <a:latin typeface="Trebuchet MS" panose="020B0603020202020204" pitchFamily="34" charset="0"/>
                <a:cs typeface="Arial" panose="020B0604020202020204" pitchFamily="34" charset="0"/>
              </a:rPr>
              <a:t> norme, instrucţiuni, regulamente, planuri-cadru, programe şcolare, </a:t>
            </a:r>
            <a:r>
              <a:rPr lang="en-US" altLang="ro-RO" sz="2900" dirty="0" err="1">
                <a:latin typeface="Trebuchet MS" panose="020B0603020202020204" pitchFamily="34" charset="0"/>
                <a:cs typeface="Arial" panose="020B0604020202020204" pitchFamily="34" charset="0"/>
              </a:rPr>
              <a:t>proiecte</a:t>
            </a:r>
            <a:r>
              <a:rPr lang="en-US" altLang="ro-RO" sz="2900" dirty="0">
                <a:latin typeface="Trebuchet MS" panose="020B0603020202020204" pitchFamily="34" charset="0"/>
                <a:cs typeface="Arial" panose="020B0604020202020204" pitchFamily="34" charset="0"/>
              </a:rPr>
              <a:t> </a:t>
            </a:r>
            <a:r>
              <a:rPr lang="ro-RO" altLang="ro-RO" sz="2900" dirty="0">
                <a:latin typeface="Trebuchet MS" panose="020B0603020202020204" pitchFamily="34" charset="0"/>
                <a:cs typeface="Arial" panose="020B0604020202020204" pitchFamily="34" charset="0"/>
              </a:rPr>
              <a:t>de </a:t>
            </a:r>
            <a:r>
              <a:rPr lang="en-US" altLang="ro-RO" sz="2900" dirty="0">
                <a:latin typeface="Trebuchet MS" panose="020B0603020202020204" pitchFamily="34" charset="0"/>
                <a:cs typeface="Arial" panose="020B0604020202020204" pitchFamily="34" charset="0"/>
              </a:rPr>
              <a:t>unit</a:t>
            </a:r>
            <a:r>
              <a:rPr lang="ro-RO" altLang="ro-RO" sz="2900" dirty="0">
                <a:latin typeface="Trebuchet MS" panose="020B0603020202020204" pitchFamily="34" charset="0"/>
                <a:cs typeface="Arial" panose="020B0604020202020204" pitchFamily="34" charset="0"/>
              </a:rPr>
              <a:t>ăți de învățare, proiecte de lecţii, documente</a:t>
            </a:r>
            <a:r>
              <a:rPr lang="en-US" altLang="ro-RO" sz="2900" dirty="0">
                <a:latin typeface="Trebuchet MS" panose="020B0603020202020204" pitchFamily="34" charset="0"/>
                <a:cs typeface="Arial" panose="020B0604020202020204" pitchFamily="34" charset="0"/>
              </a:rPr>
              <a:t>  p</a:t>
            </a:r>
            <a:r>
              <a:rPr lang="ro-RO" altLang="ro-RO" sz="2900" dirty="0">
                <a:latin typeface="Trebuchet MS" panose="020B0603020202020204" pitchFamily="34" charset="0"/>
                <a:cs typeface="Arial" panose="020B0604020202020204" pitchFamily="34" charset="0"/>
              </a:rPr>
              <a:t>rivind evaluarea elevilor.</a:t>
            </a:r>
            <a:endParaRPr lang="en-US" altLang="ro-RO" sz="2900" dirty="0">
              <a:latin typeface="Trebuchet MS" panose="020B0603020202020204" pitchFamily="34" charset="0"/>
              <a:cs typeface="Arial" panose="020B0604020202020204" pitchFamily="34" charset="0"/>
            </a:endParaRPr>
          </a:p>
          <a:p>
            <a:pPr>
              <a:lnSpc>
                <a:spcPct val="100000"/>
              </a:lnSpc>
              <a:spcBef>
                <a:spcPts val="600"/>
              </a:spcBef>
              <a:buNone/>
            </a:pPr>
            <a:r>
              <a:rPr lang="en-US" altLang="ro-RO" sz="2900" dirty="0">
                <a:latin typeface="Trebuchet MS" panose="020B0603020202020204" pitchFamily="34" charset="0"/>
                <a:cs typeface="Arial" panose="020B0604020202020204" pitchFamily="34" charset="0"/>
              </a:rPr>
              <a:t>3. </a:t>
            </a:r>
            <a:r>
              <a:rPr lang="ro-RO" altLang="ro-RO" sz="2900" dirty="0">
                <a:latin typeface="Trebuchet MS" panose="020B0603020202020204" pitchFamily="34" charset="0"/>
                <a:cs typeface="Arial" panose="020B0604020202020204" pitchFamily="34" charset="0"/>
              </a:rPr>
              <a:t>Rapoarte periodice: semestriale, anuale.</a:t>
            </a:r>
            <a:endParaRPr lang="en-US" altLang="ro-RO" sz="2900" dirty="0">
              <a:latin typeface="Trebuchet MS" panose="020B0603020202020204" pitchFamily="34" charset="0"/>
              <a:cs typeface="Arial" panose="020B0604020202020204" pitchFamily="34" charset="0"/>
            </a:endParaRPr>
          </a:p>
          <a:p>
            <a:pPr>
              <a:lnSpc>
                <a:spcPct val="100000"/>
              </a:lnSpc>
              <a:spcBef>
                <a:spcPts val="600"/>
              </a:spcBef>
              <a:buNone/>
            </a:pPr>
            <a:r>
              <a:rPr lang="en-US" altLang="ro-RO" sz="2900" dirty="0">
                <a:latin typeface="Trebuchet MS" panose="020B0603020202020204" pitchFamily="34" charset="0"/>
                <a:cs typeface="Arial" panose="020B0604020202020204" pitchFamily="34" charset="0"/>
              </a:rPr>
              <a:t>4. </a:t>
            </a:r>
            <a:r>
              <a:rPr lang="ro-RO" altLang="ro-RO" sz="2900" dirty="0">
                <a:latin typeface="Trebuchet MS" panose="020B0603020202020204" pitchFamily="34" charset="0"/>
                <a:cs typeface="Arial" panose="020B0604020202020204" pitchFamily="34" charset="0"/>
              </a:rPr>
              <a:t>Programe manageriale anuale.</a:t>
            </a:r>
            <a:endParaRPr lang="en-US" altLang="ro-RO" sz="2900" dirty="0">
              <a:latin typeface="Trebuchet MS" panose="020B0603020202020204" pitchFamily="34" charset="0"/>
              <a:cs typeface="Arial" panose="020B0604020202020204" pitchFamily="34" charset="0"/>
            </a:endParaRPr>
          </a:p>
          <a:p>
            <a:pPr>
              <a:lnSpc>
                <a:spcPct val="100000"/>
              </a:lnSpc>
              <a:spcBef>
                <a:spcPts val="600"/>
              </a:spcBef>
              <a:buNone/>
            </a:pPr>
            <a:r>
              <a:rPr lang="en-US" altLang="ro-RO" sz="2900" dirty="0">
                <a:latin typeface="Trebuchet MS" panose="020B0603020202020204" pitchFamily="34" charset="0"/>
                <a:cs typeface="Arial" panose="020B0604020202020204" pitchFamily="34" charset="0"/>
              </a:rPr>
              <a:t>5. </a:t>
            </a:r>
            <a:r>
              <a:rPr lang="ro-RO" altLang="ro-RO" sz="2900" dirty="0">
                <a:latin typeface="Trebuchet MS" panose="020B0603020202020204" pitchFamily="34" charset="0"/>
                <a:cs typeface="Arial" panose="020B0604020202020204" pitchFamily="34" charset="0"/>
              </a:rPr>
              <a:t>Graficul de </a:t>
            </a:r>
            <a:r>
              <a:rPr lang="ro-RO" altLang="ro-RO" sz="2900" dirty="0" err="1">
                <a:latin typeface="Trebuchet MS" panose="020B0603020202020204" pitchFamily="34" charset="0"/>
                <a:cs typeface="Arial" panose="020B0604020202020204" pitchFamily="34" charset="0"/>
              </a:rPr>
              <a:t>inspecţie</a:t>
            </a:r>
            <a:r>
              <a:rPr lang="ro-RO" altLang="ro-RO" sz="2900" dirty="0">
                <a:latin typeface="Trebuchet MS" panose="020B0603020202020204" pitchFamily="34" charset="0"/>
                <a:cs typeface="Arial" panose="020B0604020202020204" pitchFamily="34" charset="0"/>
              </a:rPr>
              <a:t> semestrial</a:t>
            </a:r>
            <a:endParaRPr lang="en-US" altLang="ro-RO" sz="2900" dirty="0">
              <a:latin typeface="Trebuchet MS" panose="020B0603020202020204" pitchFamily="34" charset="0"/>
              <a:cs typeface="Arial" panose="020B0604020202020204" pitchFamily="34" charset="0"/>
            </a:endParaRPr>
          </a:p>
          <a:p>
            <a:pPr>
              <a:lnSpc>
                <a:spcPct val="100000"/>
              </a:lnSpc>
              <a:spcBef>
                <a:spcPts val="600"/>
              </a:spcBef>
              <a:buNone/>
            </a:pPr>
            <a:r>
              <a:rPr lang="en-US" altLang="ro-RO" sz="2900" dirty="0">
                <a:latin typeface="Trebuchet MS" panose="020B0603020202020204" pitchFamily="34" charset="0"/>
                <a:cs typeface="Arial" panose="020B0604020202020204" pitchFamily="34" charset="0"/>
              </a:rPr>
              <a:t>6. </a:t>
            </a:r>
            <a:r>
              <a:rPr lang="ro-RO" altLang="ro-RO" sz="2900" dirty="0">
                <a:latin typeface="Trebuchet MS" panose="020B0603020202020204" pitchFamily="34" charset="0"/>
                <a:cs typeface="Arial" panose="020B0604020202020204" pitchFamily="34" charset="0"/>
              </a:rPr>
              <a:t>Banca de date II: încadrarea profesorilor diriginți, formarea continuă a cadrelor didactice care sunt desemnate prind decizie internă profesor diriginte</a:t>
            </a:r>
            <a:endParaRPr lang="en-US" altLang="ro-RO" sz="2900" dirty="0">
              <a:latin typeface="Trebuchet MS" panose="020B0603020202020204" pitchFamily="34" charset="0"/>
              <a:cs typeface="Arial" panose="020B0604020202020204" pitchFamily="34" charset="0"/>
            </a:endParaRPr>
          </a:p>
          <a:p>
            <a:pPr>
              <a:lnSpc>
                <a:spcPct val="100000"/>
              </a:lnSpc>
              <a:spcBef>
                <a:spcPts val="600"/>
              </a:spcBef>
              <a:buNone/>
            </a:pPr>
            <a:r>
              <a:rPr lang="ro-RO" altLang="ro-RO" sz="2900" dirty="0">
                <a:latin typeface="Trebuchet MS" panose="020B0603020202020204" pitchFamily="34" charset="0"/>
                <a:cs typeface="Arial" panose="020B0604020202020204" pitchFamily="34" charset="0"/>
              </a:rPr>
              <a:t>7</a:t>
            </a:r>
            <a:r>
              <a:rPr lang="en-US" altLang="ro-RO" sz="2900" dirty="0">
                <a:latin typeface="Trebuchet MS" panose="020B0603020202020204" pitchFamily="34" charset="0"/>
                <a:cs typeface="Arial" panose="020B0604020202020204" pitchFamily="34" charset="0"/>
              </a:rPr>
              <a:t>. </a:t>
            </a:r>
            <a:r>
              <a:rPr lang="ro-RO" altLang="ro-RO" sz="2900" dirty="0">
                <a:latin typeface="Trebuchet MS" panose="020B0603020202020204" pitchFamily="34" charset="0"/>
                <a:cs typeface="Arial" panose="020B0604020202020204" pitchFamily="34" charset="0"/>
              </a:rPr>
              <a:t>Lista profesorilor formatori </a:t>
            </a:r>
            <a:r>
              <a:rPr lang="ro-RO" altLang="ro-RO" sz="2900" dirty="0" err="1">
                <a:latin typeface="Trebuchet MS" panose="020B0603020202020204" pitchFamily="34" charset="0"/>
                <a:cs typeface="Arial" panose="020B0604020202020204" pitchFamily="34" charset="0"/>
              </a:rPr>
              <a:t>naţionali</a:t>
            </a:r>
            <a:r>
              <a:rPr lang="ro-RO" altLang="ro-RO" sz="2900" dirty="0">
                <a:latin typeface="Trebuchet MS" panose="020B0603020202020204" pitchFamily="34" charset="0"/>
                <a:cs typeface="Arial" panose="020B0604020202020204" pitchFamily="34" charset="0"/>
              </a:rPr>
              <a:t> </a:t>
            </a:r>
            <a:r>
              <a:rPr lang="ro-RO" altLang="ro-RO" sz="2900" dirty="0" err="1">
                <a:latin typeface="Trebuchet MS" panose="020B0603020202020204" pitchFamily="34" charset="0"/>
                <a:cs typeface="Arial" panose="020B0604020202020204" pitchFamily="34" charset="0"/>
              </a:rPr>
              <a:t>şi</a:t>
            </a:r>
            <a:r>
              <a:rPr lang="ro-RO" altLang="ro-RO" sz="2900" dirty="0">
                <a:latin typeface="Trebuchet MS" panose="020B0603020202020204" pitchFamily="34" charset="0"/>
                <a:cs typeface="Arial" panose="020B0604020202020204" pitchFamily="34" charset="0"/>
              </a:rPr>
              <a:t> locali</a:t>
            </a:r>
          </a:p>
          <a:p>
            <a:pPr>
              <a:lnSpc>
                <a:spcPct val="100000"/>
              </a:lnSpc>
              <a:spcBef>
                <a:spcPts val="600"/>
              </a:spcBef>
              <a:buNone/>
            </a:pPr>
            <a:r>
              <a:rPr lang="ro-RO" altLang="ro-RO" sz="2900" dirty="0">
                <a:latin typeface="Trebuchet MS" panose="020B0603020202020204" pitchFamily="34" charset="0"/>
                <a:cs typeface="Arial" panose="020B0604020202020204" pitchFamily="34" charset="0"/>
              </a:rPr>
              <a:t>8. Lista  cercurilor metodice pe unitate școlară (dirigenții); probleme ridicate la activităţile cadrelor didactice.</a:t>
            </a:r>
          </a:p>
          <a:p>
            <a:pPr>
              <a:lnSpc>
                <a:spcPct val="100000"/>
              </a:lnSpc>
              <a:spcBef>
                <a:spcPts val="600"/>
              </a:spcBef>
              <a:buNone/>
            </a:pPr>
            <a:endParaRPr lang="en-US" altLang="ro-RO" sz="2000" b="1" dirty="0">
              <a:latin typeface="Trebuchet MS" panose="020B0603020202020204" pitchFamily="34" charset="0"/>
            </a:endParaRPr>
          </a:p>
          <a:p>
            <a:endParaRPr lang="ro-RO" dirty="0">
              <a:latin typeface="Trebuchet MS" panose="020B0603020202020204" pitchFamily="34" charset="0"/>
            </a:endParaRPr>
          </a:p>
        </p:txBody>
      </p:sp>
      <p:pic>
        <p:nvPicPr>
          <p:cNvPr id="4" name="Content Placeholder 4">
            <a:extLst>
              <a:ext uri="{FF2B5EF4-FFF2-40B4-BE49-F238E27FC236}">
                <a16:creationId xmlns:a16="http://schemas.microsoft.com/office/drawing/2014/main" id="{0D2F862A-1F18-4AC2-A29A-8EBFCFD628C1}"/>
              </a:ext>
            </a:extLst>
          </p:cNvPr>
          <p:cNvPicPr>
            <a:picLocks noChangeAspect="1"/>
          </p:cNvPicPr>
          <p:nvPr/>
        </p:nvPicPr>
        <p:blipFill>
          <a:blip r:embed="rId2"/>
          <a:stretch>
            <a:fillRect/>
          </a:stretch>
        </p:blipFill>
        <p:spPr>
          <a:xfrm>
            <a:off x="8543263" y="293973"/>
            <a:ext cx="2529840" cy="1695783"/>
          </a:xfrm>
          <a:prstGeom prst="rect">
            <a:avLst/>
          </a:prstGeom>
        </p:spPr>
      </p:pic>
    </p:spTree>
    <p:extLst>
      <p:ext uri="{BB962C8B-B14F-4D97-AF65-F5344CB8AC3E}">
        <p14:creationId xmlns:p14="http://schemas.microsoft.com/office/powerpoint/2010/main" val="3104952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CCD80B-0A55-4ADA-AFCA-18741C659E36}"/>
              </a:ext>
            </a:extLst>
          </p:cNvPr>
          <p:cNvSpPr>
            <a:spLocks noGrp="1"/>
          </p:cNvSpPr>
          <p:nvPr>
            <p:ph idx="1"/>
          </p:nvPr>
        </p:nvSpPr>
        <p:spPr>
          <a:xfrm>
            <a:off x="228600" y="575733"/>
            <a:ext cx="10515600" cy="4898496"/>
          </a:xfrm>
        </p:spPr>
        <p:txBody>
          <a:bodyPr>
            <a:normAutofit fontScale="92500" lnSpcReduction="20000"/>
          </a:bodyPr>
          <a:lstStyle/>
          <a:p>
            <a:r>
              <a:rPr lang="en-US" sz="1800" dirty="0" err="1"/>
              <a:t>Educatorii-puericultori</a:t>
            </a:r>
            <a:r>
              <a:rPr lang="en-US" sz="1800" dirty="0"/>
              <a:t>/</a:t>
            </a:r>
            <a:r>
              <a:rPr lang="en-US" sz="1800" dirty="0" err="1"/>
              <a:t>Educatoarele</a:t>
            </a:r>
            <a:r>
              <a:rPr lang="en-US" sz="1800" dirty="0"/>
              <a:t>/</a:t>
            </a:r>
            <a:r>
              <a:rPr lang="en-US" sz="1800" dirty="0" err="1"/>
              <a:t>Învăţătorii</a:t>
            </a:r>
            <a:r>
              <a:rPr lang="en-US" sz="1800" dirty="0"/>
              <a:t>/</a:t>
            </a:r>
            <a:r>
              <a:rPr lang="en-US" sz="1800" dirty="0" err="1"/>
              <a:t>Institutorii</a:t>
            </a:r>
            <a:r>
              <a:rPr lang="en-US" sz="1800" dirty="0"/>
              <a:t>/</a:t>
            </a:r>
            <a:r>
              <a:rPr lang="en-US" sz="1800" dirty="0" err="1"/>
              <a:t>Profesorii</a:t>
            </a:r>
            <a:r>
              <a:rPr lang="en-US" sz="1800" dirty="0"/>
              <a:t> </a:t>
            </a:r>
            <a:r>
              <a:rPr lang="en-US" sz="1800" dirty="0" err="1"/>
              <a:t>pentru</a:t>
            </a:r>
            <a:r>
              <a:rPr lang="en-US" sz="1800" dirty="0"/>
              <a:t> </a:t>
            </a:r>
            <a:r>
              <a:rPr lang="en-US" sz="1800" dirty="0" err="1"/>
              <a:t>învăţământul</a:t>
            </a:r>
            <a:r>
              <a:rPr lang="en-US" sz="1800" dirty="0"/>
              <a:t> </a:t>
            </a:r>
            <a:r>
              <a:rPr lang="en-US" sz="1800" dirty="0" err="1"/>
              <a:t>preşcolar</a:t>
            </a:r>
            <a:r>
              <a:rPr lang="en-US" sz="1800" dirty="0"/>
              <a:t>/</a:t>
            </a:r>
            <a:r>
              <a:rPr lang="en-US" sz="1800" dirty="0" err="1"/>
              <a:t>primar</a:t>
            </a:r>
            <a:r>
              <a:rPr lang="en-US" sz="1800" dirty="0"/>
              <a:t>/</a:t>
            </a:r>
            <a:r>
              <a:rPr lang="en-US" sz="1800" b="1" dirty="0" err="1"/>
              <a:t>Profesorii</a:t>
            </a:r>
            <a:r>
              <a:rPr lang="en-US" sz="1800" b="1" dirty="0"/>
              <a:t> </a:t>
            </a:r>
            <a:r>
              <a:rPr lang="en-US" sz="1800" b="1" dirty="0" err="1"/>
              <a:t>diriginţi</a:t>
            </a:r>
            <a:r>
              <a:rPr lang="en-US" sz="1800" b="1" dirty="0"/>
              <a:t> au </a:t>
            </a:r>
            <a:r>
              <a:rPr lang="en-US" sz="1800" b="1" dirty="0" err="1"/>
              <a:t>obligaţia</a:t>
            </a:r>
            <a:r>
              <a:rPr lang="en-US" sz="1800" b="1" dirty="0"/>
              <a:t> de a </a:t>
            </a:r>
            <a:r>
              <a:rPr lang="en-US" sz="1800" b="1" dirty="0" err="1"/>
              <a:t>prezenta</a:t>
            </a:r>
            <a:r>
              <a:rPr lang="en-US" sz="1800" b="1" dirty="0"/>
              <a:t> la </a:t>
            </a:r>
            <a:r>
              <a:rPr lang="en-US" sz="1800" b="1" dirty="0" err="1"/>
              <a:t>începutul</a:t>
            </a:r>
            <a:r>
              <a:rPr lang="en-US" sz="1800" b="1" dirty="0"/>
              <a:t> </a:t>
            </a:r>
            <a:r>
              <a:rPr lang="en-US" sz="1800" b="1" dirty="0" err="1"/>
              <a:t>fiecărui</a:t>
            </a:r>
            <a:r>
              <a:rPr lang="en-US" sz="1800" b="1" dirty="0"/>
              <a:t> an </a:t>
            </a:r>
            <a:r>
              <a:rPr lang="en-US" sz="1800" b="1" dirty="0" err="1"/>
              <a:t>şcolar</a:t>
            </a:r>
            <a:r>
              <a:rPr lang="en-US" sz="1800" b="1" dirty="0"/>
              <a:t> </a:t>
            </a:r>
            <a:r>
              <a:rPr lang="en-US" sz="1800" b="1" dirty="0" err="1"/>
              <a:t>elevilor</a:t>
            </a:r>
            <a:r>
              <a:rPr lang="en-US" sz="1800" b="1" dirty="0"/>
              <a:t> </a:t>
            </a:r>
            <a:r>
              <a:rPr lang="en-US" sz="1800" b="1" dirty="0" err="1"/>
              <a:t>şi</a:t>
            </a:r>
            <a:r>
              <a:rPr lang="en-US" sz="1800" b="1" dirty="0"/>
              <a:t> </a:t>
            </a:r>
            <a:r>
              <a:rPr lang="en-US" sz="1800" b="1" dirty="0" err="1"/>
              <a:t>părinţilor</a:t>
            </a:r>
            <a:r>
              <a:rPr lang="en-US" sz="1800" b="1" dirty="0"/>
              <a:t> </a:t>
            </a:r>
            <a:r>
              <a:rPr lang="en-US" sz="1800" b="1" dirty="0" err="1"/>
              <a:t>regulamentul</a:t>
            </a:r>
            <a:r>
              <a:rPr lang="en-US" sz="1800" b="1" dirty="0"/>
              <a:t> de </a:t>
            </a:r>
            <a:r>
              <a:rPr lang="en-US" sz="1800" b="1" dirty="0" err="1"/>
              <a:t>organizare</a:t>
            </a:r>
            <a:r>
              <a:rPr lang="en-US" sz="1800" b="1" dirty="0"/>
              <a:t> </a:t>
            </a:r>
            <a:r>
              <a:rPr lang="en-US" sz="1800" b="1" dirty="0" err="1"/>
              <a:t>şi</a:t>
            </a:r>
            <a:r>
              <a:rPr lang="en-US" sz="1800" b="1" dirty="0"/>
              <a:t> </a:t>
            </a:r>
            <a:r>
              <a:rPr lang="en-US" sz="1800" b="1" dirty="0" err="1"/>
              <a:t>funcţionare</a:t>
            </a:r>
            <a:r>
              <a:rPr lang="en-US" sz="1800" b="1" dirty="0"/>
              <a:t> a </a:t>
            </a:r>
            <a:r>
              <a:rPr lang="en-US" sz="1800" b="1" dirty="0" err="1"/>
              <a:t>unităţii</a:t>
            </a:r>
            <a:r>
              <a:rPr lang="en-US" sz="1800" b="1" dirty="0"/>
              <a:t> de </a:t>
            </a:r>
            <a:r>
              <a:rPr lang="en-US" sz="1800" b="1" dirty="0" err="1"/>
              <a:t>învăţământ</a:t>
            </a:r>
            <a:r>
              <a:rPr lang="en-US" sz="1800" b="1" dirty="0"/>
              <a:t>.</a:t>
            </a:r>
          </a:p>
          <a:p>
            <a:r>
              <a:rPr lang="ro-RO" sz="1800" b="1" dirty="0"/>
              <a:t>Directorul </a:t>
            </a:r>
            <a:r>
              <a:rPr lang="en-US" sz="1800" b="1" dirty="0" err="1"/>
              <a:t>numeşte</a:t>
            </a:r>
            <a:r>
              <a:rPr lang="en-US" sz="1800" dirty="0"/>
              <a:t>, </a:t>
            </a:r>
            <a:r>
              <a:rPr lang="en-US" sz="1800" dirty="0" err="1"/>
              <a:t>după</a:t>
            </a:r>
            <a:r>
              <a:rPr lang="en-US" sz="1800" dirty="0"/>
              <a:t> </a:t>
            </a:r>
            <a:r>
              <a:rPr lang="en-US" sz="1800" dirty="0" err="1"/>
              <a:t>consultarea</a:t>
            </a:r>
            <a:r>
              <a:rPr lang="en-US" sz="1800" dirty="0"/>
              <a:t> </a:t>
            </a:r>
            <a:r>
              <a:rPr lang="en-US" sz="1800" dirty="0" err="1"/>
              <a:t>consiliului</a:t>
            </a:r>
            <a:r>
              <a:rPr lang="en-US" sz="1800" dirty="0"/>
              <a:t> </a:t>
            </a:r>
            <a:r>
              <a:rPr lang="en-US" sz="1800" dirty="0" err="1"/>
              <a:t>profesoral</a:t>
            </a:r>
            <a:r>
              <a:rPr lang="en-US" sz="1800" dirty="0"/>
              <a:t>, </a:t>
            </a:r>
            <a:r>
              <a:rPr lang="en-US" sz="1800" dirty="0" err="1"/>
              <a:t>în</a:t>
            </a:r>
            <a:r>
              <a:rPr lang="en-US" sz="1800" dirty="0"/>
              <a:t> </a:t>
            </a:r>
            <a:r>
              <a:rPr lang="en-US" sz="1800" dirty="0" err="1"/>
              <a:t>baza</a:t>
            </a:r>
            <a:r>
              <a:rPr lang="en-US" sz="1800" dirty="0"/>
              <a:t> </a:t>
            </a:r>
            <a:r>
              <a:rPr lang="en-US" sz="1800" dirty="0" err="1"/>
              <a:t>hotărârii</a:t>
            </a:r>
            <a:r>
              <a:rPr lang="en-US" sz="1800" dirty="0"/>
              <a:t> </a:t>
            </a:r>
            <a:r>
              <a:rPr lang="en-US" sz="1800" dirty="0" err="1"/>
              <a:t>consiliului</a:t>
            </a:r>
            <a:r>
              <a:rPr lang="en-US" sz="1800" dirty="0"/>
              <a:t> de </a:t>
            </a:r>
            <a:r>
              <a:rPr lang="en-US" sz="1800" dirty="0" err="1"/>
              <a:t>administraţie</a:t>
            </a:r>
            <a:r>
              <a:rPr lang="en-US" sz="1800" dirty="0"/>
              <a:t>, </a:t>
            </a:r>
            <a:r>
              <a:rPr lang="en-US" sz="1800" b="1" dirty="0" err="1"/>
              <a:t>profesorii</a:t>
            </a:r>
            <a:r>
              <a:rPr lang="en-US" sz="1800" b="1" dirty="0"/>
              <a:t> </a:t>
            </a:r>
            <a:r>
              <a:rPr lang="en-US" sz="1800" b="1" dirty="0" err="1"/>
              <a:t>diriginţi</a:t>
            </a:r>
            <a:r>
              <a:rPr lang="en-US" sz="1800" b="1" dirty="0"/>
              <a:t> </a:t>
            </a:r>
            <a:r>
              <a:rPr lang="en-US" sz="1800" dirty="0"/>
              <a:t>la </a:t>
            </a:r>
            <a:r>
              <a:rPr lang="en-US" sz="1800" dirty="0" err="1"/>
              <a:t>clase</a:t>
            </a:r>
            <a:r>
              <a:rPr lang="en-US" sz="1800" dirty="0"/>
              <a:t>, precum </a:t>
            </a:r>
            <a:r>
              <a:rPr lang="en-US" sz="1800" dirty="0" err="1"/>
              <a:t>şi</a:t>
            </a:r>
            <a:r>
              <a:rPr lang="en-US" sz="1800" dirty="0"/>
              <a:t> </a:t>
            </a:r>
            <a:r>
              <a:rPr lang="en-US" sz="1800" dirty="0" err="1"/>
              <a:t>coordonatorul</a:t>
            </a:r>
            <a:r>
              <a:rPr lang="en-US" sz="1800" dirty="0"/>
              <a:t> </a:t>
            </a:r>
            <a:r>
              <a:rPr lang="en-US" sz="1800" dirty="0" err="1"/>
              <a:t>pentru</a:t>
            </a:r>
            <a:r>
              <a:rPr lang="en-US" sz="1800" dirty="0"/>
              <a:t> </a:t>
            </a:r>
            <a:r>
              <a:rPr lang="en-US" sz="1800" dirty="0" err="1"/>
              <a:t>proiecte</a:t>
            </a:r>
            <a:r>
              <a:rPr lang="en-US" sz="1800" dirty="0"/>
              <a:t> </a:t>
            </a:r>
            <a:r>
              <a:rPr lang="en-US" sz="1800" dirty="0" err="1"/>
              <a:t>şi</a:t>
            </a:r>
            <a:r>
              <a:rPr lang="en-US" sz="1800" dirty="0"/>
              <a:t> </a:t>
            </a:r>
            <a:r>
              <a:rPr lang="en-US" sz="1800" dirty="0" err="1"/>
              <a:t>programe</a:t>
            </a:r>
            <a:r>
              <a:rPr lang="en-US" sz="1800" dirty="0"/>
              <a:t> educative </a:t>
            </a:r>
            <a:r>
              <a:rPr lang="en-US" sz="1800" dirty="0" err="1"/>
              <a:t>şcolare</a:t>
            </a:r>
            <a:r>
              <a:rPr lang="en-US" sz="1800" dirty="0"/>
              <a:t> </a:t>
            </a:r>
            <a:r>
              <a:rPr lang="en-US" sz="1800" dirty="0" err="1"/>
              <a:t>şi</a:t>
            </a:r>
            <a:r>
              <a:rPr lang="en-US" sz="1800" dirty="0"/>
              <a:t> </a:t>
            </a:r>
            <a:r>
              <a:rPr lang="en-US" sz="1800" dirty="0" err="1"/>
              <a:t>extraşcolare</a:t>
            </a:r>
            <a:r>
              <a:rPr lang="en-US" sz="1800" dirty="0"/>
              <a:t>;</a:t>
            </a:r>
          </a:p>
          <a:p>
            <a:r>
              <a:rPr lang="en-US" sz="1800" b="1" dirty="0" err="1"/>
              <a:t>Consiliul</a:t>
            </a:r>
            <a:r>
              <a:rPr lang="en-US" sz="1800" b="1" dirty="0"/>
              <a:t> </a:t>
            </a:r>
            <a:r>
              <a:rPr lang="en-US" sz="1800" b="1" dirty="0" err="1"/>
              <a:t>clasei</a:t>
            </a:r>
            <a:r>
              <a:rPr lang="en-US" sz="1800" b="1" dirty="0"/>
              <a:t> </a:t>
            </a:r>
            <a:r>
              <a:rPr lang="en-US" sz="1800" dirty="0" err="1"/>
              <a:t>funcţionează</a:t>
            </a:r>
            <a:r>
              <a:rPr lang="en-US" sz="1800" dirty="0"/>
              <a:t> </a:t>
            </a:r>
            <a:r>
              <a:rPr lang="en-US" sz="1800" dirty="0" err="1"/>
              <a:t>în</a:t>
            </a:r>
            <a:r>
              <a:rPr lang="en-US" sz="1800" dirty="0"/>
              <a:t> </a:t>
            </a:r>
            <a:r>
              <a:rPr lang="en-US" sz="1800" dirty="0" err="1"/>
              <a:t>învăţământul</a:t>
            </a:r>
            <a:r>
              <a:rPr lang="en-US" sz="1800" dirty="0"/>
              <a:t> </a:t>
            </a:r>
            <a:r>
              <a:rPr lang="en-US" sz="1800" dirty="0" err="1"/>
              <a:t>primar</a:t>
            </a:r>
            <a:r>
              <a:rPr lang="en-US" sz="1800" dirty="0"/>
              <a:t>, </a:t>
            </a:r>
            <a:r>
              <a:rPr lang="en-US" sz="1800" dirty="0" err="1"/>
              <a:t>gimnazial</a:t>
            </a:r>
            <a:r>
              <a:rPr lang="en-US" sz="1800" dirty="0"/>
              <a:t>, </a:t>
            </a:r>
            <a:r>
              <a:rPr lang="en-US" sz="1800" dirty="0" err="1"/>
              <a:t>liceal</a:t>
            </a:r>
            <a:r>
              <a:rPr lang="en-US" sz="1800" dirty="0"/>
              <a:t>, </a:t>
            </a:r>
            <a:r>
              <a:rPr lang="en-US" sz="1800" dirty="0" err="1"/>
              <a:t>profesional</a:t>
            </a:r>
            <a:r>
              <a:rPr lang="en-US" sz="1800" dirty="0"/>
              <a:t> </a:t>
            </a:r>
            <a:r>
              <a:rPr lang="en-US" sz="1800" dirty="0" err="1"/>
              <a:t>şi</a:t>
            </a:r>
            <a:r>
              <a:rPr lang="en-US" sz="1800" dirty="0"/>
              <a:t> </a:t>
            </a:r>
            <a:r>
              <a:rPr lang="en-US" sz="1800" dirty="0" err="1"/>
              <a:t>postliceal</a:t>
            </a:r>
            <a:r>
              <a:rPr lang="en-US" sz="1800" dirty="0"/>
              <a:t> </a:t>
            </a:r>
            <a:r>
              <a:rPr lang="en-US" sz="1800" dirty="0" err="1"/>
              <a:t>şi</a:t>
            </a:r>
            <a:r>
              <a:rPr lang="en-US" sz="1800" dirty="0"/>
              <a:t> </a:t>
            </a:r>
            <a:r>
              <a:rPr lang="en-US" sz="1800" dirty="0" err="1"/>
              <a:t>este</a:t>
            </a:r>
            <a:r>
              <a:rPr lang="en-US" sz="1800" dirty="0"/>
              <a:t> </a:t>
            </a:r>
            <a:r>
              <a:rPr lang="en-US" sz="1800" dirty="0" err="1"/>
              <a:t>constituit</a:t>
            </a:r>
            <a:r>
              <a:rPr lang="en-US" sz="1800" dirty="0"/>
              <a:t> din </a:t>
            </a:r>
            <a:r>
              <a:rPr lang="en-US" sz="1800" dirty="0" err="1"/>
              <a:t>totalitatea</a:t>
            </a:r>
            <a:r>
              <a:rPr lang="en-US" sz="1800" dirty="0"/>
              <a:t> </a:t>
            </a:r>
            <a:r>
              <a:rPr lang="en-US" sz="1800" dirty="0" err="1"/>
              <a:t>personalului</a:t>
            </a:r>
            <a:r>
              <a:rPr lang="en-US" sz="1800" dirty="0"/>
              <a:t> didactic care </a:t>
            </a:r>
            <a:r>
              <a:rPr lang="en-US" sz="1800" dirty="0" err="1"/>
              <a:t>predă</a:t>
            </a:r>
            <a:r>
              <a:rPr lang="en-US" sz="1800" dirty="0"/>
              <a:t> la </a:t>
            </a:r>
            <a:r>
              <a:rPr lang="en-US" sz="1800" dirty="0" err="1"/>
              <a:t>clasa</a:t>
            </a:r>
            <a:r>
              <a:rPr lang="en-US" sz="1800" dirty="0"/>
              <a:t> </a:t>
            </a:r>
            <a:r>
              <a:rPr lang="en-US" sz="1800" dirty="0" err="1"/>
              <a:t>respectivă</a:t>
            </a:r>
            <a:r>
              <a:rPr lang="en-US" sz="1800" dirty="0"/>
              <a:t>, din </a:t>
            </a:r>
            <a:r>
              <a:rPr lang="en-US" sz="1800" dirty="0" err="1"/>
              <a:t>cel</a:t>
            </a:r>
            <a:r>
              <a:rPr lang="en-US" sz="1800" dirty="0"/>
              <a:t> </a:t>
            </a:r>
            <a:r>
              <a:rPr lang="en-US" sz="1800" dirty="0" err="1"/>
              <a:t>puţin</a:t>
            </a:r>
            <a:r>
              <a:rPr lang="en-US" sz="1800" dirty="0"/>
              <a:t> un </a:t>
            </a:r>
            <a:r>
              <a:rPr lang="en-US" sz="1800" dirty="0" err="1"/>
              <a:t>părinte</a:t>
            </a:r>
            <a:r>
              <a:rPr lang="en-US" sz="1800" dirty="0"/>
              <a:t> </a:t>
            </a:r>
            <a:r>
              <a:rPr lang="en-US" sz="1800" dirty="0" err="1"/>
              <a:t>delegat</a:t>
            </a:r>
            <a:r>
              <a:rPr lang="en-US" sz="1800" dirty="0"/>
              <a:t> al </a:t>
            </a:r>
            <a:r>
              <a:rPr lang="en-US" sz="1800" dirty="0" err="1"/>
              <a:t>comitetului</a:t>
            </a:r>
            <a:r>
              <a:rPr lang="en-US" sz="1800" dirty="0"/>
              <a:t> de </a:t>
            </a:r>
            <a:r>
              <a:rPr lang="en-US" sz="1800" dirty="0" err="1"/>
              <a:t>părinţi</a:t>
            </a:r>
            <a:r>
              <a:rPr lang="en-US" sz="1800" dirty="0"/>
              <a:t> al </a:t>
            </a:r>
            <a:r>
              <a:rPr lang="en-US" sz="1800" dirty="0" err="1"/>
              <a:t>clasei</a:t>
            </a:r>
            <a:r>
              <a:rPr lang="en-US" sz="1800" dirty="0"/>
              <a:t>, cu </a:t>
            </a:r>
            <a:r>
              <a:rPr lang="en-US" sz="1800" dirty="0" err="1"/>
              <a:t>excepţia</a:t>
            </a:r>
            <a:r>
              <a:rPr lang="en-US" sz="1800" dirty="0"/>
              <a:t> </a:t>
            </a:r>
            <a:r>
              <a:rPr lang="en-US" sz="1800" dirty="0" err="1"/>
              <a:t>claselor</a:t>
            </a:r>
            <a:r>
              <a:rPr lang="en-US" sz="1800" dirty="0"/>
              <a:t> din </a:t>
            </a:r>
            <a:r>
              <a:rPr lang="en-US" sz="1800" dirty="0" err="1"/>
              <a:t>învăţământul</a:t>
            </a:r>
            <a:r>
              <a:rPr lang="en-US" sz="1800" dirty="0"/>
              <a:t> </a:t>
            </a:r>
            <a:r>
              <a:rPr lang="en-US" sz="1800" dirty="0" err="1"/>
              <a:t>postliceal</a:t>
            </a:r>
            <a:r>
              <a:rPr lang="en-US" sz="1800" dirty="0"/>
              <a:t>, </a:t>
            </a:r>
            <a:r>
              <a:rPr lang="en-US" sz="1800" dirty="0" err="1"/>
              <a:t>şi</a:t>
            </a:r>
            <a:r>
              <a:rPr lang="en-US" sz="1800" dirty="0"/>
              <a:t>, </a:t>
            </a:r>
            <a:r>
              <a:rPr lang="en-US" sz="1800" dirty="0" err="1"/>
              <a:t>pentru</a:t>
            </a:r>
            <a:r>
              <a:rPr lang="en-US" sz="1800" dirty="0"/>
              <a:t> </a:t>
            </a:r>
            <a:r>
              <a:rPr lang="en-US" sz="1800" dirty="0" err="1"/>
              <a:t>toate</a:t>
            </a:r>
            <a:r>
              <a:rPr lang="en-US" sz="1800" dirty="0"/>
              <a:t> </a:t>
            </a:r>
            <a:r>
              <a:rPr lang="en-US" sz="1800" dirty="0" err="1"/>
              <a:t>clasele</a:t>
            </a:r>
            <a:r>
              <a:rPr lang="en-US" sz="1800" dirty="0"/>
              <a:t>, cu </a:t>
            </a:r>
            <a:r>
              <a:rPr lang="en-US" sz="1800" dirty="0" err="1"/>
              <a:t>excepţia</a:t>
            </a:r>
            <a:r>
              <a:rPr lang="en-US" sz="1800" dirty="0"/>
              <a:t> </a:t>
            </a:r>
            <a:r>
              <a:rPr lang="en-US" sz="1800" dirty="0" err="1"/>
              <a:t>celor</a:t>
            </a:r>
            <a:r>
              <a:rPr lang="en-US" sz="1800" dirty="0"/>
              <a:t> din </a:t>
            </a:r>
            <a:r>
              <a:rPr lang="en-US" sz="1800" dirty="0" err="1"/>
              <a:t>învăţământul</a:t>
            </a:r>
            <a:r>
              <a:rPr lang="en-US" sz="1800" dirty="0"/>
              <a:t> </a:t>
            </a:r>
            <a:r>
              <a:rPr lang="en-US" sz="1800" dirty="0" err="1"/>
              <a:t>primar</a:t>
            </a:r>
            <a:r>
              <a:rPr lang="en-US" sz="1800" dirty="0"/>
              <a:t>, </a:t>
            </a:r>
            <a:r>
              <a:rPr lang="en-US" sz="1800" dirty="0" err="1"/>
              <a:t>reprezentantul</a:t>
            </a:r>
            <a:r>
              <a:rPr lang="en-US" sz="1800" dirty="0"/>
              <a:t> </a:t>
            </a:r>
            <a:r>
              <a:rPr lang="en-US" sz="1800" dirty="0" err="1"/>
              <a:t>elevilor</a:t>
            </a:r>
            <a:r>
              <a:rPr lang="en-US" sz="1800" dirty="0"/>
              <a:t> </a:t>
            </a:r>
            <a:r>
              <a:rPr lang="en-US" sz="1800" dirty="0" err="1"/>
              <a:t>clasei</a:t>
            </a:r>
            <a:r>
              <a:rPr lang="en-US" sz="1800" dirty="0"/>
              <a:t> respective, </a:t>
            </a:r>
            <a:r>
              <a:rPr lang="en-US" sz="1800" dirty="0" err="1"/>
              <a:t>desemnat</a:t>
            </a:r>
            <a:r>
              <a:rPr lang="en-US" sz="1800" dirty="0"/>
              <a:t> </a:t>
            </a:r>
            <a:r>
              <a:rPr lang="en-US" sz="1800" dirty="0" err="1"/>
              <a:t>prin</a:t>
            </a:r>
            <a:r>
              <a:rPr lang="en-US" sz="1800" dirty="0"/>
              <a:t> </a:t>
            </a:r>
            <a:r>
              <a:rPr lang="en-US" sz="1800" dirty="0" err="1"/>
              <a:t>vot</a:t>
            </a:r>
            <a:r>
              <a:rPr lang="en-US" sz="1800" dirty="0"/>
              <a:t> secret de </a:t>
            </a:r>
            <a:r>
              <a:rPr lang="en-US" sz="1800" dirty="0" err="1"/>
              <a:t>către</a:t>
            </a:r>
            <a:r>
              <a:rPr lang="en-US" sz="1800" dirty="0"/>
              <a:t> </a:t>
            </a:r>
            <a:r>
              <a:rPr lang="en-US" sz="1800" dirty="0" err="1"/>
              <a:t>elevii</a:t>
            </a:r>
            <a:r>
              <a:rPr lang="en-US" sz="1800" dirty="0"/>
              <a:t> </a:t>
            </a:r>
            <a:r>
              <a:rPr lang="en-US" sz="1800" dirty="0" err="1"/>
              <a:t>clasei</a:t>
            </a:r>
            <a:r>
              <a:rPr lang="en-US" sz="1800" dirty="0"/>
              <a:t>.</a:t>
            </a:r>
          </a:p>
          <a:p>
            <a:r>
              <a:rPr lang="en-US" sz="1800" dirty="0"/>
              <a:t> </a:t>
            </a:r>
            <a:r>
              <a:rPr lang="en-US" sz="1800" b="1" dirty="0" err="1"/>
              <a:t>Preşedintele</a:t>
            </a:r>
            <a:r>
              <a:rPr lang="en-US" sz="1800" b="1" dirty="0"/>
              <a:t> </a:t>
            </a:r>
            <a:r>
              <a:rPr lang="en-US" sz="1800" b="1" dirty="0" err="1"/>
              <a:t>consiliului</a:t>
            </a:r>
            <a:r>
              <a:rPr lang="en-US" sz="1800" b="1" dirty="0"/>
              <a:t> </a:t>
            </a:r>
            <a:r>
              <a:rPr lang="en-US" sz="1800" dirty="0" err="1"/>
              <a:t>clasei</a:t>
            </a:r>
            <a:r>
              <a:rPr lang="en-US" sz="1800" dirty="0"/>
              <a:t> </a:t>
            </a:r>
            <a:r>
              <a:rPr lang="en-US" sz="1800" dirty="0" err="1"/>
              <a:t>este</a:t>
            </a:r>
            <a:r>
              <a:rPr lang="en-US" sz="1800" dirty="0"/>
              <a:t> </a:t>
            </a:r>
            <a:r>
              <a:rPr lang="en-US" sz="1800" dirty="0" err="1"/>
              <a:t>învăţătorul</a:t>
            </a:r>
            <a:r>
              <a:rPr lang="en-US" sz="1800" dirty="0"/>
              <a:t>/</a:t>
            </a:r>
            <a:r>
              <a:rPr lang="en-US" sz="1800" dirty="0" err="1"/>
              <a:t>institutorul</a:t>
            </a:r>
            <a:r>
              <a:rPr lang="en-US" sz="1800" dirty="0"/>
              <a:t>/</a:t>
            </a:r>
            <a:r>
              <a:rPr lang="en-US" sz="1800" dirty="0" err="1"/>
              <a:t>profesorul</a:t>
            </a:r>
            <a:r>
              <a:rPr lang="en-US" sz="1800" dirty="0"/>
              <a:t> </a:t>
            </a:r>
            <a:r>
              <a:rPr lang="en-US" sz="1800" dirty="0" err="1"/>
              <a:t>pentru</a:t>
            </a:r>
            <a:r>
              <a:rPr lang="en-US" sz="1800" dirty="0"/>
              <a:t> </a:t>
            </a:r>
            <a:r>
              <a:rPr lang="en-US" sz="1800" dirty="0" err="1"/>
              <a:t>învăţământul</a:t>
            </a:r>
            <a:r>
              <a:rPr lang="en-US" sz="1800" dirty="0"/>
              <a:t> </a:t>
            </a:r>
            <a:r>
              <a:rPr lang="en-US" sz="1800" dirty="0" err="1"/>
              <a:t>primar</a:t>
            </a:r>
            <a:r>
              <a:rPr lang="en-US" sz="1800" dirty="0"/>
              <a:t>, </a:t>
            </a:r>
            <a:r>
              <a:rPr lang="en-US" sz="1800" dirty="0" err="1"/>
              <a:t>respectiv</a:t>
            </a:r>
            <a:r>
              <a:rPr lang="en-US" sz="1800" dirty="0"/>
              <a:t> </a:t>
            </a:r>
            <a:r>
              <a:rPr lang="en-US" sz="1800" dirty="0" err="1"/>
              <a:t>profesorul</a:t>
            </a:r>
            <a:r>
              <a:rPr lang="en-US" sz="1800" dirty="0"/>
              <a:t> </a:t>
            </a:r>
            <a:r>
              <a:rPr lang="en-US" sz="1800" dirty="0" err="1"/>
              <a:t>diriginte</a:t>
            </a:r>
            <a:r>
              <a:rPr lang="en-US" sz="1800" dirty="0"/>
              <a:t>, </a:t>
            </a:r>
            <a:r>
              <a:rPr lang="en-US" sz="1800" dirty="0" err="1"/>
              <a:t>în</a:t>
            </a:r>
            <a:r>
              <a:rPr lang="en-US" sz="1800" dirty="0"/>
              <a:t> </a:t>
            </a:r>
            <a:r>
              <a:rPr lang="en-US" sz="1800" dirty="0" err="1"/>
              <a:t>cazul</a:t>
            </a:r>
            <a:r>
              <a:rPr lang="en-US" sz="1800" dirty="0"/>
              <a:t> </a:t>
            </a:r>
            <a:r>
              <a:rPr lang="en-US" sz="1800" dirty="0" err="1"/>
              <a:t>învăţământului</a:t>
            </a:r>
            <a:r>
              <a:rPr lang="en-US" sz="1800" dirty="0"/>
              <a:t> </a:t>
            </a:r>
            <a:r>
              <a:rPr lang="en-US" sz="1800" dirty="0" err="1"/>
              <a:t>gimnazial</a:t>
            </a:r>
            <a:r>
              <a:rPr lang="en-US" sz="1800" dirty="0"/>
              <a:t>, </a:t>
            </a:r>
            <a:r>
              <a:rPr lang="en-US" sz="1800" dirty="0" err="1"/>
              <a:t>liceal</a:t>
            </a:r>
            <a:r>
              <a:rPr lang="en-US" sz="1800" dirty="0"/>
              <a:t>, </a:t>
            </a:r>
            <a:r>
              <a:rPr lang="en-US" sz="1800" dirty="0" err="1"/>
              <a:t>profesional</a:t>
            </a:r>
            <a:r>
              <a:rPr lang="en-US" sz="1800" dirty="0"/>
              <a:t> </a:t>
            </a:r>
            <a:r>
              <a:rPr lang="en-US" sz="1800" dirty="0" err="1"/>
              <a:t>şi</a:t>
            </a:r>
            <a:r>
              <a:rPr lang="en-US" sz="1800" dirty="0"/>
              <a:t> </a:t>
            </a:r>
            <a:r>
              <a:rPr lang="en-US" sz="1800" dirty="0" err="1"/>
              <a:t>postliceal</a:t>
            </a:r>
            <a:r>
              <a:rPr lang="en-US" sz="1800" dirty="0"/>
              <a:t>.</a:t>
            </a:r>
          </a:p>
          <a:p>
            <a:r>
              <a:rPr lang="en-US" sz="1800" dirty="0"/>
              <a:t> </a:t>
            </a:r>
            <a:r>
              <a:rPr lang="en-US" sz="1800" dirty="0" err="1"/>
              <a:t>Consiliul</a:t>
            </a:r>
            <a:r>
              <a:rPr lang="en-US" sz="1800" dirty="0"/>
              <a:t> </a:t>
            </a:r>
            <a:r>
              <a:rPr lang="en-US" sz="1800" dirty="0" err="1"/>
              <a:t>clasei</a:t>
            </a:r>
            <a:r>
              <a:rPr lang="en-US" sz="1800" dirty="0"/>
              <a:t> se </a:t>
            </a:r>
            <a:r>
              <a:rPr lang="en-US" sz="1800" dirty="0" err="1"/>
              <a:t>întruneşte</a:t>
            </a:r>
            <a:r>
              <a:rPr lang="en-US" sz="1800" dirty="0"/>
              <a:t> </a:t>
            </a:r>
            <a:r>
              <a:rPr lang="en-US" sz="1800" dirty="0" err="1"/>
              <a:t>cel</a:t>
            </a:r>
            <a:r>
              <a:rPr lang="en-US" sz="1800" dirty="0"/>
              <a:t> </a:t>
            </a:r>
            <a:r>
              <a:rPr lang="en-US" sz="1800" dirty="0" err="1"/>
              <a:t>puţin</a:t>
            </a:r>
            <a:r>
              <a:rPr lang="en-US" sz="1800" dirty="0"/>
              <a:t> de </a:t>
            </a:r>
            <a:r>
              <a:rPr lang="en-US" sz="1800" dirty="0" err="1"/>
              <a:t>două</a:t>
            </a:r>
            <a:r>
              <a:rPr lang="en-US" sz="1800" dirty="0"/>
              <a:t> </a:t>
            </a:r>
            <a:r>
              <a:rPr lang="en-US" sz="1800" dirty="0" err="1"/>
              <a:t>ori</a:t>
            </a:r>
            <a:r>
              <a:rPr lang="en-US" sz="1800" dirty="0"/>
              <a:t> pe an </a:t>
            </a:r>
            <a:r>
              <a:rPr lang="en-US" sz="1800" dirty="0" err="1"/>
              <a:t>sau</a:t>
            </a:r>
            <a:r>
              <a:rPr lang="en-US" sz="1800" dirty="0"/>
              <a:t> </a:t>
            </a:r>
            <a:r>
              <a:rPr lang="en-US" sz="1800" dirty="0" err="1"/>
              <a:t>ori</a:t>
            </a:r>
            <a:r>
              <a:rPr lang="en-US" sz="1800" dirty="0"/>
              <a:t> de </a:t>
            </a:r>
            <a:r>
              <a:rPr lang="en-US" sz="1800" dirty="0" err="1"/>
              <a:t>câte</a:t>
            </a:r>
            <a:r>
              <a:rPr lang="en-US" sz="1800" dirty="0"/>
              <a:t> </a:t>
            </a:r>
            <a:r>
              <a:rPr lang="en-US" sz="1800" dirty="0" err="1"/>
              <a:t>ori</a:t>
            </a:r>
            <a:r>
              <a:rPr lang="en-US" sz="1800" dirty="0"/>
              <a:t> </a:t>
            </a:r>
            <a:r>
              <a:rPr lang="en-US" sz="1800" dirty="0" err="1"/>
              <a:t>este</a:t>
            </a:r>
            <a:r>
              <a:rPr lang="en-US" sz="1800" dirty="0"/>
              <a:t> </a:t>
            </a:r>
            <a:r>
              <a:rPr lang="en-US" sz="1800" dirty="0" err="1"/>
              <a:t>necesar</a:t>
            </a:r>
            <a:r>
              <a:rPr lang="en-US" sz="1800" dirty="0"/>
              <a:t>, la </a:t>
            </a:r>
            <a:r>
              <a:rPr lang="en-US" sz="1800" dirty="0" err="1"/>
              <a:t>solicitarea</a:t>
            </a:r>
            <a:r>
              <a:rPr lang="en-US" sz="1800" dirty="0"/>
              <a:t> </a:t>
            </a:r>
            <a:r>
              <a:rPr lang="en-US" sz="1800" dirty="0" err="1"/>
              <a:t>învăţătorului</a:t>
            </a:r>
            <a:r>
              <a:rPr lang="en-US" sz="1800" dirty="0"/>
              <a:t>/</a:t>
            </a:r>
            <a:r>
              <a:rPr lang="en-US" sz="1800" dirty="0" err="1"/>
              <a:t>institutorului</a:t>
            </a:r>
            <a:r>
              <a:rPr lang="en-US" sz="1800" dirty="0"/>
              <a:t>/</a:t>
            </a:r>
            <a:r>
              <a:rPr lang="en-US" sz="1800" dirty="0" err="1"/>
              <a:t>profesorului</a:t>
            </a:r>
            <a:r>
              <a:rPr lang="en-US" sz="1800" dirty="0"/>
              <a:t> </a:t>
            </a:r>
            <a:r>
              <a:rPr lang="en-US" sz="1800" dirty="0" err="1"/>
              <a:t>pentru</a:t>
            </a:r>
            <a:r>
              <a:rPr lang="en-US" sz="1800" dirty="0"/>
              <a:t> </a:t>
            </a:r>
            <a:r>
              <a:rPr lang="en-US" sz="1800" dirty="0" err="1"/>
              <a:t>învăţământul</a:t>
            </a:r>
            <a:r>
              <a:rPr lang="en-US" sz="1800" dirty="0"/>
              <a:t> </a:t>
            </a:r>
            <a:r>
              <a:rPr lang="en-US" sz="1800" dirty="0" err="1"/>
              <a:t>primar</a:t>
            </a:r>
            <a:r>
              <a:rPr lang="en-US" sz="1800" dirty="0"/>
              <a:t>, </a:t>
            </a:r>
            <a:r>
              <a:rPr lang="en-US" sz="1800" dirty="0" err="1"/>
              <a:t>respectiv</a:t>
            </a:r>
            <a:r>
              <a:rPr lang="en-US" sz="1800" dirty="0"/>
              <a:t> a </a:t>
            </a:r>
            <a:r>
              <a:rPr lang="en-US" sz="1800" dirty="0" err="1"/>
              <a:t>profesorului</a:t>
            </a:r>
            <a:r>
              <a:rPr lang="en-US" sz="1800" dirty="0"/>
              <a:t> </a:t>
            </a:r>
            <a:r>
              <a:rPr lang="en-US" sz="1800" dirty="0" err="1"/>
              <a:t>diriginte</a:t>
            </a:r>
            <a:r>
              <a:rPr lang="en-US" sz="1800" dirty="0"/>
              <a:t>, a </a:t>
            </a:r>
            <a:r>
              <a:rPr lang="en-US" sz="1800" dirty="0" err="1"/>
              <a:t>reprezentanţilor</a:t>
            </a:r>
            <a:r>
              <a:rPr lang="en-US" sz="1800" dirty="0"/>
              <a:t> </a:t>
            </a:r>
            <a:r>
              <a:rPr lang="en-US" sz="1800" dirty="0" err="1"/>
              <a:t>părinţilor</a:t>
            </a:r>
            <a:r>
              <a:rPr lang="en-US" sz="1800" dirty="0"/>
              <a:t> </a:t>
            </a:r>
            <a:r>
              <a:rPr lang="en-US" sz="1800" dirty="0" err="1"/>
              <a:t>şi</a:t>
            </a:r>
            <a:r>
              <a:rPr lang="en-US" sz="1800" dirty="0"/>
              <a:t> ai </a:t>
            </a:r>
            <a:r>
              <a:rPr lang="en-US" sz="1800" dirty="0" err="1"/>
              <a:t>elevilor</a:t>
            </a:r>
            <a:r>
              <a:rPr lang="en-US" sz="1800" dirty="0"/>
              <a:t>.</a:t>
            </a:r>
          </a:p>
          <a:p>
            <a:r>
              <a:rPr lang="en-US" sz="1800" dirty="0"/>
              <a:t> </a:t>
            </a:r>
            <a:r>
              <a:rPr lang="en-US" sz="1800" dirty="0" err="1"/>
              <a:t>În</a:t>
            </a:r>
            <a:r>
              <a:rPr lang="en-US" sz="1800" dirty="0"/>
              <a:t> </a:t>
            </a:r>
            <a:r>
              <a:rPr lang="en-US" sz="1800" dirty="0" err="1"/>
              <a:t>situaţii</a:t>
            </a:r>
            <a:r>
              <a:rPr lang="en-US" sz="1800" dirty="0"/>
              <a:t> </a:t>
            </a:r>
            <a:r>
              <a:rPr lang="en-US" sz="1800" dirty="0" err="1"/>
              <a:t>obiective</a:t>
            </a:r>
            <a:r>
              <a:rPr lang="en-US" sz="1800" dirty="0"/>
              <a:t>, cum </a:t>
            </a:r>
            <a:r>
              <a:rPr lang="en-US" sz="1800" dirty="0" err="1"/>
              <a:t>ar</a:t>
            </a:r>
            <a:r>
              <a:rPr lang="en-US" sz="1800" dirty="0"/>
              <a:t> fi </a:t>
            </a:r>
            <a:r>
              <a:rPr lang="en-US" sz="1800" dirty="0" err="1"/>
              <a:t>calamităţi</a:t>
            </a:r>
            <a:r>
              <a:rPr lang="en-US" sz="1800" dirty="0"/>
              <a:t>, </a:t>
            </a:r>
            <a:r>
              <a:rPr lang="en-US" sz="1800" dirty="0" err="1"/>
              <a:t>intemperii</a:t>
            </a:r>
            <a:r>
              <a:rPr lang="en-US" sz="1800" dirty="0"/>
              <a:t>, </a:t>
            </a:r>
            <a:r>
              <a:rPr lang="en-US" sz="1800" dirty="0" err="1"/>
              <a:t>epidemii</a:t>
            </a:r>
            <a:r>
              <a:rPr lang="en-US" sz="1800" dirty="0"/>
              <a:t>, </a:t>
            </a:r>
            <a:r>
              <a:rPr lang="en-US" sz="1800" dirty="0" err="1"/>
              <a:t>pandemii</a:t>
            </a:r>
            <a:r>
              <a:rPr lang="en-US" sz="1800" dirty="0"/>
              <a:t>, </a:t>
            </a:r>
            <a:r>
              <a:rPr lang="en-US" sz="1800" dirty="0" err="1"/>
              <a:t>alte</a:t>
            </a:r>
            <a:r>
              <a:rPr lang="en-US" sz="1800" dirty="0"/>
              <a:t> </a:t>
            </a:r>
            <a:r>
              <a:rPr lang="en-US" sz="1800" dirty="0" err="1"/>
              <a:t>situaţii</a:t>
            </a:r>
            <a:r>
              <a:rPr lang="en-US" sz="1800" dirty="0"/>
              <a:t> </a:t>
            </a:r>
            <a:r>
              <a:rPr lang="en-US" sz="1800" dirty="0" err="1"/>
              <a:t>excepţionale</a:t>
            </a:r>
            <a:r>
              <a:rPr lang="en-US" sz="1800" dirty="0"/>
              <a:t>, </a:t>
            </a:r>
            <a:r>
              <a:rPr lang="en-US" sz="1800" dirty="0" err="1"/>
              <a:t>şedinţele</a:t>
            </a:r>
            <a:r>
              <a:rPr lang="en-US" sz="1800" dirty="0"/>
              <a:t> </a:t>
            </a:r>
            <a:r>
              <a:rPr lang="en-US" sz="1800" dirty="0" err="1"/>
              <a:t>consiliului</a:t>
            </a:r>
            <a:r>
              <a:rPr lang="en-US" sz="1800" dirty="0"/>
              <a:t> </a:t>
            </a:r>
            <a:r>
              <a:rPr lang="en-US" sz="1800" dirty="0" err="1"/>
              <a:t>clasei</a:t>
            </a:r>
            <a:r>
              <a:rPr lang="en-US" sz="1800" dirty="0"/>
              <a:t> se pot </a:t>
            </a:r>
            <a:r>
              <a:rPr lang="en-US" sz="1800" dirty="0" err="1"/>
              <a:t>desfăşura</a:t>
            </a:r>
            <a:r>
              <a:rPr lang="en-US" sz="1800" dirty="0"/>
              <a:t> online, </a:t>
            </a:r>
            <a:r>
              <a:rPr lang="en-US" sz="1800" dirty="0" err="1"/>
              <a:t>prin</a:t>
            </a:r>
            <a:r>
              <a:rPr lang="en-US" sz="1800" dirty="0"/>
              <a:t> </a:t>
            </a:r>
            <a:r>
              <a:rPr lang="en-US" sz="1800" dirty="0" err="1"/>
              <a:t>mijloace</a:t>
            </a:r>
            <a:r>
              <a:rPr lang="en-US" sz="1800" dirty="0"/>
              <a:t> </a:t>
            </a:r>
            <a:r>
              <a:rPr lang="en-US" sz="1800" dirty="0" err="1"/>
              <a:t>electronice</a:t>
            </a:r>
            <a:r>
              <a:rPr lang="en-US" sz="1800" dirty="0"/>
              <a:t> de </a:t>
            </a:r>
            <a:r>
              <a:rPr lang="en-US" sz="1800" dirty="0" err="1"/>
              <a:t>comunicare</a:t>
            </a:r>
            <a:r>
              <a:rPr lang="en-US" sz="1800" dirty="0"/>
              <a:t> </a:t>
            </a:r>
            <a:r>
              <a:rPr lang="en-US" sz="1800" dirty="0" err="1"/>
              <a:t>în</a:t>
            </a:r>
            <a:r>
              <a:rPr lang="en-US" sz="1800" dirty="0"/>
              <a:t> </a:t>
            </a:r>
            <a:r>
              <a:rPr lang="en-US" sz="1800" dirty="0" err="1"/>
              <a:t>sistem</a:t>
            </a:r>
            <a:r>
              <a:rPr lang="en-US" sz="1800" dirty="0"/>
              <a:t> de </a:t>
            </a:r>
            <a:r>
              <a:rPr lang="en-US" sz="1800" dirty="0" err="1"/>
              <a:t>videoconferinţă</a:t>
            </a:r>
            <a:r>
              <a:rPr lang="en-US" sz="1800" dirty="0"/>
              <a:t>.</a:t>
            </a:r>
          </a:p>
          <a:p>
            <a:endParaRPr lang="en-US" dirty="0"/>
          </a:p>
        </p:txBody>
      </p:sp>
    </p:spTree>
    <p:extLst>
      <p:ext uri="{BB962C8B-B14F-4D97-AF65-F5344CB8AC3E}">
        <p14:creationId xmlns:p14="http://schemas.microsoft.com/office/powerpoint/2010/main" val="2430873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6FF4E-508F-426B-B0C0-D40311EB0097}"/>
              </a:ext>
            </a:extLst>
          </p:cNvPr>
          <p:cNvSpPr>
            <a:spLocks noGrp="1"/>
          </p:cNvSpPr>
          <p:nvPr>
            <p:ph type="title"/>
          </p:nvPr>
        </p:nvSpPr>
        <p:spPr>
          <a:xfrm>
            <a:off x="770467" y="220133"/>
            <a:ext cx="10583333" cy="601134"/>
          </a:xfrm>
          <a:solidFill>
            <a:schemeClr val="accent2"/>
          </a:solidFill>
        </p:spPr>
        <p:txBody>
          <a:bodyPr>
            <a:normAutofit fontScale="90000"/>
          </a:bodyPr>
          <a:lstStyle/>
          <a:p>
            <a:r>
              <a:rPr lang="ro-RO" dirty="0">
                <a:solidFill>
                  <a:schemeClr val="tx1"/>
                </a:solidFill>
                <a:latin typeface="+mn-lt"/>
              </a:rPr>
              <a:t>Profesorul diriginte</a:t>
            </a:r>
            <a:endParaRPr lang="en-US" dirty="0">
              <a:solidFill>
                <a:schemeClr val="tx1"/>
              </a:solidFill>
              <a:latin typeface="+mn-lt"/>
            </a:endParaRPr>
          </a:p>
        </p:txBody>
      </p:sp>
      <p:sp>
        <p:nvSpPr>
          <p:cNvPr id="3" name="Content Placeholder 2">
            <a:extLst>
              <a:ext uri="{FF2B5EF4-FFF2-40B4-BE49-F238E27FC236}">
                <a16:creationId xmlns:a16="http://schemas.microsoft.com/office/drawing/2014/main" id="{4CE3B6A7-AB9B-476F-B359-BF1DAD0C6B0E}"/>
              </a:ext>
            </a:extLst>
          </p:cNvPr>
          <p:cNvSpPr>
            <a:spLocks noGrp="1"/>
          </p:cNvSpPr>
          <p:nvPr>
            <p:ph idx="1"/>
          </p:nvPr>
        </p:nvSpPr>
        <p:spPr>
          <a:xfrm>
            <a:off x="838200" y="821267"/>
            <a:ext cx="10515600" cy="5816600"/>
          </a:xfrm>
        </p:spPr>
        <p:txBody>
          <a:bodyPr>
            <a:noAutofit/>
          </a:bodyPr>
          <a:lstStyle/>
          <a:p>
            <a:r>
              <a:rPr lang="ro-RO" sz="1400" dirty="0"/>
              <a:t>A</a:t>
            </a:r>
            <a:r>
              <a:rPr lang="en-US" sz="1400" dirty="0" err="1"/>
              <a:t>ctivităţile</a:t>
            </a:r>
            <a:r>
              <a:rPr lang="en-US" sz="1400" dirty="0"/>
              <a:t> </a:t>
            </a:r>
            <a:r>
              <a:rPr lang="en-US" sz="1400" dirty="0" err="1"/>
              <a:t>specifice</a:t>
            </a:r>
            <a:r>
              <a:rPr lang="en-US" sz="1400" dirty="0"/>
              <a:t> </a:t>
            </a:r>
            <a:r>
              <a:rPr lang="en-US" sz="1400" dirty="0" err="1"/>
              <a:t>funcţiei</a:t>
            </a:r>
            <a:r>
              <a:rPr lang="en-US" sz="1400" dirty="0"/>
              <a:t> de </a:t>
            </a:r>
            <a:r>
              <a:rPr lang="en-US" sz="1400" dirty="0" err="1"/>
              <a:t>diriginte</a:t>
            </a:r>
            <a:r>
              <a:rPr lang="en-US" sz="1400" dirty="0"/>
              <a:t> sunt </a:t>
            </a:r>
            <a:r>
              <a:rPr lang="en-US" sz="1400" dirty="0" err="1"/>
              <a:t>prevăzute</a:t>
            </a:r>
            <a:r>
              <a:rPr lang="en-US" sz="1400" dirty="0"/>
              <a:t> </a:t>
            </a:r>
            <a:r>
              <a:rPr lang="en-US" sz="1400" dirty="0" err="1"/>
              <a:t>în</a:t>
            </a:r>
            <a:r>
              <a:rPr lang="en-US" sz="1400" dirty="0"/>
              <a:t> </a:t>
            </a:r>
            <a:r>
              <a:rPr lang="en-US" sz="1400" dirty="0" err="1"/>
              <a:t>fişa</a:t>
            </a:r>
            <a:r>
              <a:rPr lang="en-US" sz="1400" dirty="0"/>
              <a:t> </a:t>
            </a:r>
            <a:r>
              <a:rPr lang="en-US" sz="1400" dirty="0" err="1"/>
              <a:t>postului</a:t>
            </a:r>
            <a:r>
              <a:rPr lang="en-US" sz="1400" dirty="0"/>
              <a:t> </a:t>
            </a:r>
            <a:r>
              <a:rPr lang="en-US" sz="1400" dirty="0" err="1"/>
              <a:t>cadrului</a:t>
            </a:r>
            <a:r>
              <a:rPr lang="en-US" sz="1400" dirty="0"/>
              <a:t> didactic.</a:t>
            </a:r>
          </a:p>
          <a:p>
            <a:r>
              <a:rPr lang="en-US" sz="1400" dirty="0" err="1"/>
              <a:t>Profesorul</a:t>
            </a:r>
            <a:r>
              <a:rPr lang="en-US" sz="1400" dirty="0"/>
              <a:t> </a:t>
            </a:r>
            <a:r>
              <a:rPr lang="en-US" sz="1400" dirty="0" err="1"/>
              <a:t>diriginte</a:t>
            </a:r>
            <a:r>
              <a:rPr lang="en-US" sz="1400" dirty="0"/>
              <a:t> </a:t>
            </a:r>
            <a:r>
              <a:rPr lang="en-US" sz="1400" b="1" dirty="0" err="1"/>
              <a:t>realizează</a:t>
            </a:r>
            <a:r>
              <a:rPr lang="en-US" sz="1400" b="1" dirty="0"/>
              <a:t> </a:t>
            </a:r>
            <a:r>
              <a:rPr lang="en-US" sz="1400" b="1" dirty="0" err="1"/>
              <a:t>anual</a:t>
            </a:r>
            <a:r>
              <a:rPr lang="en-US" sz="1400" b="1" dirty="0"/>
              <a:t> </a:t>
            </a:r>
            <a:r>
              <a:rPr lang="en-US" sz="1400" b="1" dirty="0" err="1"/>
              <a:t>planificarea</a:t>
            </a:r>
            <a:r>
              <a:rPr lang="en-US" sz="1400" b="1" dirty="0"/>
              <a:t> </a:t>
            </a:r>
            <a:r>
              <a:rPr lang="en-US" sz="1400" b="1" dirty="0" err="1"/>
              <a:t>activităţil</a:t>
            </a:r>
            <a:r>
              <a:rPr lang="en-US" sz="1400" dirty="0" err="1"/>
              <a:t>or</a:t>
            </a:r>
            <a:r>
              <a:rPr lang="en-US" sz="1400" dirty="0"/>
              <a:t> conform </a:t>
            </a:r>
            <a:r>
              <a:rPr lang="en-US" sz="1400" dirty="0" err="1"/>
              <a:t>proiectului</a:t>
            </a:r>
            <a:r>
              <a:rPr lang="en-US" sz="1400" dirty="0"/>
              <a:t> de </a:t>
            </a:r>
            <a:r>
              <a:rPr lang="en-US" sz="1400" dirty="0" err="1"/>
              <a:t>dezvoltare</a:t>
            </a:r>
            <a:r>
              <a:rPr lang="en-US" sz="1400" dirty="0"/>
              <a:t> </a:t>
            </a:r>
            <a:r>
              <a:rPr lang="en-US" sz="1400" dirty="0" err="1"/>
              <a:t>instituţională</a:t>
            </a:r>
            <a:r>
              <a:rPr lang="en-US" sz="1400" dirty="0"/>
              <a:t> </a:t>
            </a:r>
            <a:r>
              <a:rPr lang="en-US" sz="1400" dirty="0" err="1"/>
              <a:t>şi</a:t>
            </a:r>
            <a:r>
              <a:rPr lang="en-US" sz="1400" dirty="0"/>
              <a:t> </a:t>
            </a:r>
            <a:r>
              <a:rPr lang="en-US" sz="1400" dirty="0" err="1"/>
              <a:t>nevoilor</a:t>
            </a:r>
            <a:r>
              <a:rPr lang="en-US" sz="1400" dirty="0"/>
              <a:t> </a:t>
            </a:r>
            <a:r>
              <a:rPr lang="en-US" sz="1400" dirty="0" err="1"/>
              <a:t>educaţionale</a:t>
            </a:r>
            <a:r>
              <a:rPr lang="en-US" sz="1400" dirty="0"/>
              <a:t> ale </a:t>
            </a:r>
            <a:r>
              <a:rPr lang="en-US" sz="1400" dirty="0" err="1"/>
              <a:t>colectivului</a:t>
            </a:r>
            <a:r>
              <a:rPr lang="en-US" sz="1400" dirty="0"/>
              <a:t> de </a:t>
            </a:r>
            <a:r>
              <a:rPr lang="en-US" sz="1400" dirty="0" err="1"/>
              <a:t>elevi</a:t>
            </a:r>
            <a:r>
              <a:rPr lang="en-US" sz="1400" dirty="0"/>
              <a:t> pe care </a:t>
            </a:r>
            <a:r>
              <a:rPr lang="en-US" sz="1400" dirty="0" err="1"/>
              <a:t>îl</a:t>
            </a:r>
            <a:r>
              <a:rPr lang="en-US" sz="1400" dirty="0"/>
              <a:t> </a:t>
            </a:r>
            <a:r>
              <a:rPr lang="en-US" sz="1400" dirty="0" err="1"/>
              <a:t>coordonează</a:t>
            </a:r>
            <a:r>
              <a:rPr lang="en-US" sz="1400" dirty="0"/>
              <a:t>. </a:t>
            </a:r>
            <a:r>
              <a:rPr lang="en-US" sz="1400" dirty="0" err="1"/>
              <a:t>Planificarea</a:t>
            </a:r>
            <a:r>
              <a:rPr lang="en-US" sz="1400" dirty="0"/>
              <a:t> se </a:t>
            </a:r>
            <a:r>
              <a:rPr lang="en-US" sz="1400" dirty="0" err="1"/>
              <a:t>avizează</a:t>
            </a:r>
            <a:r>
              <a:rPr lang="en-US" sz="1400" dirty="0"/>
              <a:t> de </a:t>
            </a:r>
            <a:r>
              <a:rPr lang="en-US" sz="1400" dirty="0" err="1"/>
              <a:t>către</a:t>
            </a:r>
            <a:r>
              <a:rPr lang="en-US" sz="1400" dirty="0"/>
              <a:t> </a:t>
            </a:r>
            <a:r>
              <a:rPr lang="en-US" sz="1400" dirty="0" err="1"/>
              <a:t>directorul</a:t>
            </a:r>
            <a:r>
              <a:rPr lang="en-US" sz="1400" dirty="0"/>
              <a:t> </a:t>
            </a:r>
            <a:r>
              <a:rPr lang="en-US" sz="1400" dirty="0" err="1"/>
              <a:t>unităţii</a:t>
            </a:r>
            <a:r>
              <a:rPr lang="en-US" sz="1400" dirty="0"/>
              <a:t> de </a:t>
            </a:r>
            <a:r>
              <a:rPr lang="en-US" sz="1400" dirty="0" err="1"/>
              <a:t>învăţământ</a:t>
            </a:r>
            <a:r>
              <a:rPr lang="en-US" sz="1400" dirty="0"/>
              <a:t>.</a:t>
            </a:r>
          </a:p>
          <a:p>
            <a:r>
              <a:rPr lang="en-US" sz="1400" dirty="0"/>
              <a:t> </a:t>
            </a:r>
            <a:r>
              <a:rPr lang="ro-RO" sz="1400" dirty="0"/>
              <a:t>A</a:t>
            </a:r>
            <a:r>
              <a:rPr lang="en-US" sz="1400" dirty="0" err="1"/>
              <a:t>ctivităţile</a:t>
            </a:r>
            <a:r>
              <a:rPr lang="en-US" sz="1400" dirty="0"/>
              <a:t> </a:t>
            </a:r>
            <a:r>
              <a:rPr lang="en-US" sz="1400" b="1" dirty="0"/>
              <a:t>de </a:t>
            </a:r>
            <a:r>
              <a:rPr lang="en-US" sz="1400" b="1" dirty="0" err="1"/>
              <a:t>suport</a:t>
            </a:r>
            <a:r>
              <a:rPr lang="en-US" sz="1400" b="1" dirty="0"/>
              <a:t> </a:t>
            </a:r>
            <a:r>
              <a:rPr lang="en-US" sz="1400" b="1" dirty="0" err="1"/>
              <a:t>educaţional</a:t>
            </a:r>
            <a:r>
              <a:rPr lang="en-US" sz="1400" b="1" dirty="0"/>
              <a:t>, </a:t>
            </a:r>
            <a:r>
              <a:rPr lang="en-US" sz="1400" b="1" dirty="0" err="1"/>
              <a:t>consiliere</a:t>
            </a:r>
            <a:r>
              <a:rPr lang="en-US" sz="1400" b="1" dirty="0"/>
              <a:t> </a:t>
            </a:r>
            <a:r>
              <a:rPr lang="en-US" sz="1400" b="1" dirty="0" err="1"/>
              <a:t>şi</a:t>
            </a:r>
            <a:r>
              <a:rPr lang="en-US" sz="1400" b="1" dirty="0"/>
              <a:t> </a:t>
            </a:r>
            <a:r>
              <a:rPr lang="en-US" sz="1400" b="1" dirty="0" err="1"/>
              <a:t>orientare</a:t>
            </a:r>
            <a:r>
              <a:rPr lang="en-US" sz="1400" b="1" dirty="0"/>
              <a:t> </a:t>
            </a:r>
            <a:r>
              <a:rPr lang="en-US" sz="1400" b="1" dirty="0" err="1"/>
              <a:t>profesională</a:t>
            </a:r>
            <a:r>
              <a:rPr lang="en-US" sz="1400" b="1" dirty="0"/>
              <a:t> sunt </a:t>
            </a:r>
            <a:r>
              <a:rPr lang="en-US" sz="1400" b="1" dirty="0" err="1"/>
              <a:t>obligatorii</a:t>
            </a:r>
            <a:r>
              <a:rPr lang="en-US" sz="1400" b="1" dirty="0"/>
              <a:t> </a:t>
            </a:r>
            <a:r>
              <a:rPr lang="en-US" sz="1400" b="1" dirty="0" err="1"/>
              <a:t>şi</a:t>
            </a:r>
            <a:r>
              <a:rPr lang="en-US" sz="1400" b="1" dirty="0"/>
              <a:t> </a:t>
            </a:r>
            <a:r>
              <a:rPr lang="en-US" sz="1400" dirty="0"/>
              <a:t>sunt </a:t>
            </a:r>
            <a:r>
              <a:rPr lang="en-US" sz="1400" dirty="0" err="1"/>
              <a:t>desfăşurate</a:t>
            </a:r>
            <a:r>
              <a:rPr lang="en-US" sz="1400" dirty="0"/>
              <a:t> de </a:t>
            </a:r>
            <a:r>
              <a:rPr lang="en-US" sz="1400" dirty="0" err="1"/>
              <a:t>profesorul</a:t>
            </a:r>
            <a:r>
              <a:rPr lang="en-US" sz="1400" dirty="0"/>
              <a:t> </a:t>
            </a:r>
            <a:r>
              <a:rPr lang="en-US" sz="1400" dirty="0" err="1"/>
              <a:t>diriginte</a:t>
            </a:r>
            <a:r>
              <a:rPr lang="en-US" sz="1400" dirty="0"/>
              <a:t> </a:t>
            </a:r>
            <a:r>
              <a:rPr lang="en-US" sz="1400" dirty="0" err="1"/>
              <a:t>astfel</a:t>
            </a:r>
            <a:r>
              <a:rPr lang="en-US" sz="1400" dirty="0"/>
              <a:t>:</a:t>
            </a:r>
          </a:p>
          <a:p>
            <a:r>
              <a:rPr lang="en-US" sz="1400" dirty="0"/>
              <a:t>    a) </a:t>
            </a:r>
            <a:r>
              <a:rPr lang="en-US" sz="1400" b="1" dirty="0" err="1"/>
              <a:t>în</a:t>
            </a:r>
            <a:r>
              <a:rPr lang="en-US" sz="1400" b="1" dirty="0"/>
              <a:t> </a:t>
            </a:r>
            <a:r>
              <a:rPr lang="en-US" sz="1400" b="1" dirty="0" err="1"/>
              <a:t>cadrul</a:t>
            </a:r>
            <a:r>
              <a:rPr lang="en-US" sz="1400" b="1" dirty="0"/>
              <a:t> </a:t>
            </a:r>
            <a:r>
              <a:rPr lang="en-US" sz="1400" b="1" dirty="0" err="1"/>
              <a:t>orelor</a:t>
            </a:r>
            <a:r>
              <a:rPr lang="en-US" sz="1400" b="1" dirty="0"/>
              <a:t> din aria </a:t>
            </a:r>
            <a:r>
              <a:rPr lang="en-US" sz="1400" b="1" dirty="0" err="1"/>
              <a:t>curriculară</a:t>
            </a:r>
            <a:r>
              <a:rPr lang="en-US" sz="1400" b="1" dirty="0"/>
              <a:t> </a:t>
            </a:r>
            <a:r>
              <a:rPr lang="en-US" sz="1400" b="1" dirty="0" err="1"/>
              <a:t>consiliere</a:t>
            </a:r>
            <a:r>
              <a:rPr lang="en-US" sz="1400" b="1" dirty="0"/>
              <a:t> </a:t>
            </a:r>
            <a:r>
              <a:rPr lang="en-US" sz="1400" b="1" dirty="0" err="1"/>
              <a:t>şi</a:t>
            </a:r>
            <a:r>
              <a:rPr lang="en-US" sz="1400" b="1" dirty="0"/>
              <a:t> </a:t>
            </a:r>
            <a:r>
              <a:rPr lang="en-US" sz="1400" b="1" dirty="0" err="1"/>
              <a:t>orientare</a:t>
            </a:r>
            <a:r>
              <a:rPr lang="en-US" sz="1400" b="1" dirty="0"/>
              <a:t>;</a:t>
            </a:r>
          </a:p>
          <a:p>
            <a:r>
              <a:rPr lang="en-US" sz="1400" dirty="0"/>
              <a:t>    b) </a:t>
            </a:r>
            <a:r>
              <a:rPr lang="en-US" sz="1400" b="1" dirty="0" err="1"/>
              <a:t>în</a:t>
            </a:r>
            <a:r>
              <a:rPr lang="en-US" sz="1400" b="1" dirty="0"/>
              <a:t> afara </a:t>
            </a:r>
            <a:r>
              <a:rPr lang="en-US" sz="1400" b="1" dirty="0" err="1"/>
              <a:t>orelor</a:t>
            </a:r>
            <a:r>
              <a:rPr lang="en-US" sz="1400" b="1" dirty="0"/>
              <a:t> de curs, </a:t>
            </a:r>
            <a:r>
              <a:rPr lang="en-US" sz="1400" b="1" dirty="0" err="1"/>
              <a:t>în</a:t>
            </a:r>
            <a:r>
              <a:rPr lang="en-US" sz="1400" b="1" dirty="0"/>
              <a:t> </a:t>
            </a:r>
            <a:r>
              <a:rPr lang="en-US" sz="1400" b="1" dirty="0" err="1"/>
              <a:t>situaţia</a:t>
            </a:r>
            <a:r>
              <a:rPr lang="en-US" sz="1400" b="1" dirty="0"/>
              <a:t> </a:t>
            </a:r>
            <a:r>
              <a:rPr lang="en-US" sz="1400" b="1" dirty="0" err="1"/>
              <a:t>în</a:t>
            </a:r>
            <a:r>
              <a:rPr lang="en-US" sz="1400" b="1" dirty="0"/>
              <a:t> care </a:t>
            </a:r>
            <a:r>
              <a:rPr lang="en-US" sz="1400" b="1" dirty="0" err="1"/>
              <a:t>în</a:t>
            </a:r>
            <a:r>
              <a:rPr lang="en-US" sz="1400" b="1" dirty="0"/>
              <a:t> </a:t>
            </a:r>
            <a:r>
              <a:rPr lang="en-US" sz="1400" b="1" dirty="0" err="1"/>
              <a:t>planul-cadru</a:t>
            </a:r>
            <a:r>
              <a:rPr lang="en-US" sz="1400" b="1" dirty="0"/>
              <a:t> nu </a:t>
            </a:r>
            <a:r>
              <a:rPr lang="en-US" sz="1400" b="1" dirty="0" err="1"/>
              <a:t>este</a:t>
            </a:r>
            <a:r>
              <a:rPr lang="en-US" sz="1400" b="1" dirty="0"/>
              <a:t> </a:t>
            </a:r>
            <a:r>
              <a:rPr lang="en-US" sz="1400" b="1" dirty="0" err="1"/>
              <a:t>prevăzută</a:t>
            </a:r>
            <a:r>
              <a:rPr lang="en-US" sz="1400" b="1" dirty="0"/>
              <a:t> </a:t>
            </a:r>
            <a:r>
              <a:rPr lang="en-US" sz="1400" b="1" dirty="0" err="1"/>
              <a:t>ora</a:t>
            </a:r>
            <a:r>
              <a:rPr lang="en-US" sz="1400" b="1" dirty="0"/>
              <a:t> de </a:t>
            </a:r>
            <a:r>
              <a:rPr lang="en-US" sz="1400" b="1" dirty="0" err="1"/>
              <a:t>consiliere</a:t>
            </a:r>
            <a:r>
              <a:rPr lang="en-US" sz="1400" b="1" dirty="0"/>
              <a:t> </a:t>
            </a:r>
            <a:r>
              <a:rPr lang="en-US" sz="1400" b="1" dirty="0" err="1"/>
              <a:t>şi</a:t>
            </a:r>
            <a:r>
              <a:rPr lang="en-US" sz="1400" b="1" dirty="0"/>
              <a:t> </a:t>
            </a:r>
            <a:r>
              <a:rPr lang="en-US" sz="1400" b="1" dirty="0" err="1"/>
              <a:t>orientare</a:t>
            </a:r>
            <a:r>
              <a:rPr lang="en-US" sz="1400" b="1" dirty="0"/>
              <a:t>. </a:t>
            </a:r>
            <a:r>
              <a:rPr lang="en-US" sz="1400" b="1" dirty="0" err="1"/>
              <a:t>În</a:t>
            </a:r>
            <a:r>
              <a:rPr lang="en-US" sz="1400" b="1" dirty="0"/>
              <a:t> </a:t>
            </a:r>
            <a:r>
              <a:rPr lang="en-US" sz="1400" b="1" dirty="0" err="1"/>
              <a:t>această</a:t>
            </a:r>
            <a:r>
              <a:rPr lang="en-US" sz="1400" b="1" dirty="0"/>
              <a:t> </a:t>
            </a:r>
            <a:r>
              <a:rPr lang="en-US" sz="1400" b="1" dirty="0" err="1"/>
              <a:t>situaţie</a:t>
            </a:r>
            <a:r>
              <a:rPr lang="en-US" sz="1400" b="1" dirty="0"/>
              <a:t>, </a:t>
            </a:r>
            <a:r>
              <a:rPr lang="en-US" sz="1400" b="1" dirty="0" err="1"/>
              <a:t>dirigintele</a:t>
            </a:r>
            <a:r>
              <a:rPr lang="en-US" sz="1400" b="1" dirty="0"/>
              <a:t> </a:t>
            </a:r>
            <a:r>
              <a:rPr lang="en-US" sz="1400" b="1" dirty="0" err="1"/>
              <a:t>stabileşte</a:t>
            </a:r>
            <a:r>
              <a:rPr lang="en-US" sz="1400" b="1" dirty="0"/>
              <a:t>, </a:t>
            </a:r>
            <a:r>
              <a:rPr lang="en-US" sz="1400" b="1" dirty="0" err="1"/>
              <a:t>consultând</a:t>
            </a:r>
            <a:r>
              <a:rPr lang="en-US" sz="1400" b="1" dirty="0"/>
              <a:t> </a:t>
            </a:r>
            <a:r>
              <a:rPr lang="en-US" sz="1400" b="1" dirty="0" err="1"/>
              <a:t>colectivul</a:t>
            </a:r>
            <a:r>
              <a:rPr lang="en-US" sz="1400" b="1" dirty="0"/>
              <a:t> de </a:t>
            </a:r>
            <a:r>
              <a:rPr lang="en-US" sz="1400" b="1" dirty="0" err="1"/>
              <a:t>elevi</a:t>
            </a:r>
            <a:r>
              <a:rPr lang="en-US" sz="1400" b="1" dirty="0"/>
              <a:t>, un interval </a:t>
            </a:r>
            <a:r>
              <a:rPr lang="en-US" sz="1400" b="1" dirty="0" err="1"/>
              <a:t>orar</a:t>
            </a:r>
            <a:r>
              <a:rPr lang="en-US" sz="1400" b="1" dirty="0"/>
              <a:t> </a:t>
            </a:r>
            <a:r>
              <a:rPr lang="en-US" sz="1400" b="1" dirty="0" err="1"/>
              <a:t>în</a:t>
            </a:r>
            <a:r>
              <a:rPr lang="en-US" sz="1400" b="1" dirty="0"/>
              <a:t> care se </a:t>
            </a:r>
            <a:r>
              <a:rPr lang="en-US" sz="1400" b="1" dirty="0" err="1"/>
              <a:t>vor</a:t>
            </a:r>
            <a:r>
              <a:rPr lang="en-US" sz="1400" b="1" dirty="0"/>
              <a:t> </a:t>
            </a:r>
            <a:r>
              <a:rPr lang="en-US" sz="1400" b="1" dirty="0" err="1"/>
              <a:t>desfăşura</a:t>
            </a:r>
            <a:r>
              <a:rPr lang="en-US" sz="1400" b="1" dirty="0"/>
              <a:t> </a:t>
            </a:r>
            <a:r>
              <a:rPr lang="en-US" sz="1400" b="1" dirty="0" err="1"/>
              <a:t>activităţile</a:t>
            </a:r>
            <a:r>
              <a:rPr lang="en-US" sz="1400" b="1" dirty="0"/>
              <a:t> de </a:t>
            </a:r>
            <a:r>
              <a:rPr lang="en-US" sz="1400" b="1" dirty="0" err="1"/>
              <a:t>suport</a:t>
            </a:r>
            <a:r>
              <a:rPr lang="en-US" sz="1400" b="1" dirty="0"/>
              <a:t> </a:t>
            </a:r>
            <a:r>
              <a:rPr lang="en-US" sz="1400" b="1" dirty="0" err="1"/>
              <a:t>educaţional</a:t>
            </a:r>
            <a:r>
              <a:rPr lang="en-US" sz="1400" b="1" dirty="0"/>
              <a:t>, </a:t>
            </a:r>
            <a:r>
              <a:rPr lang="en-US" sz="1400" b="1" dirty="0" err="1"/>
              <a:t>consiliere</a:t>
            </a:r>
            <a:r>
              <a:rPr lang="en-US" sz="1400" b="1" dirty="0"/>
              <a:t> </a:t>
            </a:r>
            <a:r>
              <a:rPr lang="en-US" sz="1400" b="1" dirty="0" err="1"/>
              <a:t>şi</a:t>
            </a:r>
            <a:r>
              <a:rPr lang="en-US" sz="1400" b="1" dirty="0"/>
              <a:t> </a:t>
            </a:r>
            <a:r>
              <a:rPr lang="en-US" sz="1400" b="1" dirty="0" err="1"/>
              <a:t>orientare</a:t>
            </a:r>
            <a:r>
              <a:rPr lang="en-US" sz="1400" b="1" dirty="0"/>
              <a:t> </a:t>
            </a:r>
            <a:r>
              <a:rPr lang="en-US" sz="1400" b="1" dirty="0" err="1"/>
              <a:t>profesională</a:t>
            </a:r>
            <a:r>
              <a:rPr lang="en-US" sz="1400" b="1" dirty="0"/>
              <a:t>, care </a:t>
            </a:r>
            <a:r>
              <a:rPr lang="en-US" sz="1400" b="1" dirty="0" err="1"/>
              <a:t>va</a:t>
            </a:r>
            <a:r>
              <a:rPr lang="en-US" sz="1400" b="1" dirty="0"/>
              <a:t> fi </a:t>
            </a:r>
            <a:r>
              <a:rPr lang="en-US" sz="1400" b="1" dirty="0" err="1"/>
              <a:t>adus</a:t>
            </a:r>
            <a:r>
              <a:rPr lang="en-US" sz="1400" b="1" dirty="0"/>
              <a:t> la </a:t>
            </a:r>
            <a:r>
              <a:rPr lang="en-US" sz="1400" b="1" dirty="0" err="1"/>
              <a:t>cunoştinţă</a:t>
            </a:r>
            <a:r>
              <a:rPr lang="en-US" sz="1400" b="1" dirty="0"/>
              <a:t> </a:t>
            </a:r>
            <a:r>
              <a:rPr lang="en-US" sz="1400" b="1" dirty="0" err="1"/>
              <a:t>elevilor</a:t>
            </a:r>
            <a:r>
              <a:rPr lang="en-US" sz="1400" b="1" dirty="0"/>
              <a:t>, </a:t>
            </a:r>
            <a:r>
              <a:rPr lang="en-US" sz="1400" b="1" dirty="0" err="1"/>
              <a:t>părinţilor</a:t>
            </a:r>
            <a:r>
              <a:rPr lang="en-US" sz="1400" b="1" dirty="0"/>
              <a:t> </a:t>
            </a:r>
            <a:r>
              <a:rPr lang="en-US" sz="1400" b="1" dirty="0" err="1"/>
              <a:t>şi</a:t>
            </a:r>
            <a:r>
              <a:rPr lang="en-US" sz="1400" b="1" dirty="0"/>
              <a:t> </a:t>
            </a:r>
            <a:r>
              <a:rPr lang="en-US" sz="1400" b="1" dirty="0" err="1"/>
              <a:t>celorlalte</a:t>
            </a:r>
            <a:r>
              <a:rPr lang="en-US" sz="1400" b="1" dirty="0"/>
              <a:t> cadre </a:t>
            </a:r>
            <a:r>
              <a:rPr lang="en-US" sz="1400" b="1" dirty="0" err="1"/>
              <a:t>didactice</a:t>
            </a:r>
            <a:r>
              <a:rPr lang="en-US" sz="1400" b="1" dirty="0"/>
              <a:t>. </a:t>
            </a:r>
            <a:r>
              <a:rPr lang="en-US" sz="1400" b="1" dirty="0" err="1"/>
              <a:t>Planificarea</a:t>
            </a:r>
            <a:r>
              <a:rPr lang="en-US" sz="1400" b="1" dirty="0"/>
              <a:t> </a:t>
            </a:r>
            <a:r>
              <a:rPr lang="en-US" sz="1400" b="1" dirty="0" err="1"/>
              <a:t>orei</a:t>
            </a:r>
            <a:r>
              <a:rPr lang="en-US" sz="1400" b="1" dirty="0"/>
              <a:t> destinate </a:t>
            </a:r>
            <a:r>
              <a:rPr lang="en-US" sz="1400" b="1" dirty="0" err="1"/>
              <a:t>acestor</a:t>
            </a:r>
            <a:r>
              <a:rPr lang="en-US" sz="1400" b="1" dirty="0"/>
              <a:t> </a:t>
            </a:r>
            <a:r>
              <a:rPr lang="en-US" sz="1400" b="1" dirty="0" err="1"/>
              <a:t>activităţi</a:t>
            </a:r>
            <a:r>
              <a:rPr lang="en-US" sz="1400" b="1" dirty="0"/>
              <a:t> se </a:t>
            </a:r>
            <a:r>
              <a:rPr lang="en-US" sz="1400" b="1" dirty="0" err="1"/>
              <a:t>realizează</a:t>
            </a:r>
            <a:r>
              <a:rPr lang="en-US" sz="1400" b="1" dirty="0"/>
              <a:t> cu </a:t>
            </a:r>
            <a:r>
              <a:rPr lang="en-US" sz="1400" b="1" dirty="0" err="1"/>
              <a:t>aprobarea</a:t>
            </a:r>
            <a:r>
              <a:rPr lang="en-US" sz="1400" b="1" dirty="0"/>
              <a:t> </a:t>
            </a:r>
            <a:r>
              <a:rPr lang="en-US" sz="1400" b="1" dirty="0" err="1"/>
              <a:t>directorului</a:t>
            </a:r>
            <a:r>
              <a:rPr lang="en-US" sz="1400" b="1" dirty="0"/>
              <a:t> </a:t>
            </a:r>
            <a:r>
              <a:rPr lang="en-US" sz="1400" b="1" dirty="0" err="1"/>
              <a:t>unităţii</a:t>
            </a:r>
            <a:r>
              <a:rPr lang="en-US" sz="1400" b="1" dirty="0"/>
              <a:t> de </a:t>
            </a:r>
            <a:r>
              <a:rPr lang="en-US" sz="1400" b="1" dirty="0" err="1"/>
              <a:t>învăţământ</a:t>
            </a:r>
            <a:r>
              <a:rPr lang="en-US" sz="1400" b="1" dirty="0"/>
              <a:t>, </a:t>
            </a:r>
            <a:r>
              <a:rPr lang="en-US" sz="1400" b="1" dirty="0" err="1"/>
              <a:t>iar</a:t>
            </a:r>
            <a:r>
              <a:rPr lang="en-US" sz="1400" b="1" dirty="0"/>
              <a:t> </a:t>
            </a:r>
            <a:r>
              <a:rPr lang="en-US" sz="1400" b="1" dirty="0" err="1"/>
              <a:t>ora</a:t>
            </a:r>
            <a:r>
              <a:rPr lang="en-US" sz="1400" b="1" dirty="0"/>
              <a:t> </a:t>
            </a:r>
            <a:r>
              <a:rPr lang="en-US" sz="1400" b="1" dirty="0" err="1"/>
              <a:t>respectivă</a:t>
            </a:r>
            <a:r>
              <a:rPr lang="en-US" sz="1400" b="1" dirty="0"/>
              <a:t> se </a:t>
            </a:r>
            <a:r>
              <a:rPr lang="en-US" sz="1400" b="1" dirty="0" err="1"/>
              <a:t>consemnează</a:t>
            </a:r>
            <a:r>
              <a:rPr lang="en-US" sz="1400" b="1" dirty="0"/>
              <a:t> </a:t>
            </a:r>
            <a:r>
              <a:rPr lang="en-US" sz="1400" b="1" dirty="0" err="1"/>
              <a:t>în</a:t>
            </a:r>
            <a:r>
              <a:rPr lang="en-US" sz="1400" b="1" dirty="0"/>
              <a:t> </a:t>
            </a:r>
            <a:r>
              <a:rPr lang="en-US" sz="1400" b="1" dirty="0" err="1"/>
              <a:t>condica</a:t>
            </a:r>
            <a:r>
              <a:rPr lang="en-US" sz="1400" b="1" dirty="0"/>
              <a:t> de </a:t>
            </a:r>
            <a:r>
              <a:rPr lang="en-US" sz="1400" b="1" dirty="0" err="1"/>
              <a:t>prez</a:t>
            </a:r>
            <a:r>
              <a:rPr lang="en-US" sz="1400" dirty="0" err="1"/>
              <a:t>enţă</a:t>
            </a:r>
            <a:r>
              <a:rPr lang="en-US" sz="1400" dirty="0"/>
              <a:t>.</a:t>
            </a:r>
            <a:endParaRPr lang="ro-RO" sz="1400" dirty="0"/>
          </a:p>
          <a:p>
            <a:pPr marL="0" indent="0">
              <a:buNone/>
            </a:pPr>
            <a:r>
              <a:rPr lang="en-US" sz="1400" dirty="0" err="1"/>
              <a:t>Profesorul</a:t>
            </a:r>
            <a:r>
              <a:rPr lang="en-US" sz="1400" dirty="0"/>
              <a:t> </a:t>
            </a:r>
            <a:r>
              <a:rPr lang="en-US" sz="1400" dirty="0" err="1"/>
              <a:t>diriginte</a:t>
            </a:r>
            <a:r>
              <a:rPr lang="en-US" sz="1400" dirty="0"/>
              <a:t> </a:t>
            </a:r>
            <a:r>
              <a:rPr lang="en-US" sz="1400" dirty="0" err="1"/>
              <a:t>desfăşoară</a:t>
            </a:r>
            <a:r>
              <a:rPr lang="en-US" sz="1400" dirty="0"/>
              <a:t> </a:t>
            </a:r>
            <a:r>
              <a:rPr lang="en-US" sz="1400" dirty="0" err="1"/>
              <a:t>activităţi</a:t>
            </a:r>
            <a:r>
              <a:rPr lang="en-US" sz="1400" dirty="0"/>
              <a:t> de </a:t>
            </a:r>
            <a:r>
              <a:rPr lang="en-US" sz="1400" dirty="0" err="1"/>
              <a:t>suport</a:t>
            </a:r>
            <a:r>
              <a:rPr lang="en-US" sz="1400" dirty="0"/>
              <a:t> </a:t>
            </a:r>
            <a:r>
              <a:rPr lang="en-US" sz="1400" dirty="0" err="1"/>
              <a:t>educaţional</a:t>
            </a:r>
            <a:r>
              <a:rPr lang="en-US" sz="1400" dirty="0"/>
              <a:t>, </a:t>
            </a:r>
            <a:r>
              <a:rPr lang="en-US" sz="1400" dirty="0" err="1"/>
              <a:t>consiliere</a:t>
            </a:r>
            <a:r>
              <a:rPr lang="en-US" sz="1400" dirty="0"/>
              <a:t> </a:t>
            </a:r>
            <a:r>
              <a:rPr lang="en-US" sz="1400" dirty="0" err="1"/>
              <a:t>şi</a:t>
            </a:r>
            <a:r>
              <a:rPr lang="en-US" sz="1400" dirty="0"/>
              <a:t> </a:t>
            </a:r>
            <a:r>
              <a:rPr lang="en-US" sz="1400" dirty="0" err="1"/>
              <a:t>orientare</a:t>
            </a:r>
            <a:r>
              <a:rPr lang="en-US" sz="1400" dirty="0"/>
              <a:t> </a:t>
            </a:r>
            <a:r>
              <a:rPr lang="en-US" sz="1400" dirty="0" err="1"/>
              <a:t>profesională</a:t>
            </a:r>
            <a:r>
              <a:rPr lang="en-US" sz="1400" dirty="0"/>
              <a:t> </a:t>
            </a:r>
            <a:r>
              <a:rPr lang="en-US" sz="1400" dirty="0" err="1"/>
              <a:t>pentru</a:t>
            </a:r>
            <a:r>
              <a:rPr lang="en-US" sz="1400" dirty="0"/>
              <a:t> </a:t>
            </a:r>
            <a:r>
              <a:rPr lang="en-US" sz="1400" dirty="0" err="1"/>
              <a:t>elevii</a:t>
            </a:r>
            <a:r>
              <a:rPr lang="en-US" sz="1400" dirty="0"/>
              <a:t> </a:t>
            </a:r>
            <a:r>
              <a:rPr lang="en-US" sz="1400" dirty="0" err="1"/>
              <a:t>clasei</a:t>
            </a:r>
            <a:r>
              <a:rPr lang="en-US" sz="1400" dirty="0"/>
              <a:t>.</a:t>
            </a:r>
            <a:r>
              <a:rPr lang="ro-RO" sz="1400" dirty="0"/>
              <a:t>:</a:t>
            </a:r>
          </a:p>
          <a:p>
            <a:pPr marL="342900" indent="-342900">
              <a:buAutoNum type="alphaLcParenR"/>
            </a:pPr>
            <a:r>
              <a:rPr lang="en-US" sz="1400" dirty="0" err="1"/>
              <a:t>teme</a:t>
            </a:r>
            <a:r>
              <a:rPr lang="en-US" sz="1400" dirty="0"/>
              <a:t> </a:t>
            </a:r>
            <a:r>
              <a:rPr lang="en-US" sz="1400" dirty="0" err="1"/>
              <a:t>stabilite</a:t>
            </a:r>
            <a:r>
              <a:rPr lang="en-US" sz="1400" dirty="0"/>
              <a:t> </a:t>
            </a:r>
            <a:r>
              <a:rPr lang="en-US" sz="1400" dirty="0" err="1"/>
              <a:t>în</a:t>
            </a:r>
            <a:r>
              <a:rPr lang="en-US" sz="1400" dirty="0"/>
              <a:t> </a:t>
            </a:r>
            <a:r>
              <a:rPr lang="en-US" sz="1400" dirty="0" err="1"/>
              <a:t>concordanţă</a:t>
            </a:r>
            <a:r>
              <a:rPr lang="en-US" sz="1400" dirty="0"/>
              <a:t> cu </a:t>
            </a:r>
            <a:r>
              <a:rPr lang="en-US" sz="1400" dirty="0" err="1"/>
              <a:t>specificul</a:t>
            </a:r>
            <a:r>
              <a:rPr lang="en-US" sz="1400" dirty="0"/>
              <a:t> </a:t>
            </a:r>
            <a:r>
              <a:rPr lang="en-US" sz="1400" dirty="0" err="1"/>
              <a:t>vârstei</a:t>
            </a:r>
            <a:r>
              <a:rPr lang="en-US" sz="1400" dirty="0"/>
              <a:t>, cu </a:t>
            </a:r>
            <a:r>
              <a:rPr lang="en-US" sz="1400" dirty="0" err="1"/>
              <a:t>interesele</a:t>
            </a:r>
            <a:r>
              <a:rPr lang="en-US" sz="1400" dirty="0"/>
              <a:t> </a:t>
            </a:r>
            <a:r>
              <a:rPr lang="en-US" sz="1400" dirty="0" err="1"/>
              <a:t>sau</a:t>
            </a:r>
            <a:r>
              <a:rPr lang="en-US" sz="1400" dirty="0"/>
              <a:t> </a:t>
            </a:r>
            <a:r>
              <a:rPr lang="en-US" sz="1400" dirty="0" err="1"/>
              <a:t>solicitările</a:t>
            </a:r>
            <a:r>
              <a:rPr lang="en-US" sz="1400" dirty="0"/>
              <a:t> </a:t>
            </a:r>
            <a:r>
              <a:rPr lang="en-US" sz="1400" dirty="0" err="1"/>
              <a:t>elevilor</a:t>
            </a:r>
            <a:r>
              <a:rPr lang="en-US" sz="1400" dirty="0"/>
              <a:t>, pe </a:t>
            </a:r>
            <a:r>
              <a:rPr lang="en-US" sz="1400" dirty="0" err="1"/>
              <a:t>baza</a:t>
            </a:r>
            <a:r>
              <a:rPr lang="en-US" sz="1400" dirty="0"/>
              <a:t> </a:t>
            </a:r>
            <a:r>
              <a:rPr lang="en-US" sz="1400" dirty="0" err="1"/>
              <a:t>programelor</a:t>
            </a:r>
            <a:r>
              <a:rPr lang="en-US" sz="1400" dirty="0"/>
              <a:t> </a:t>
            </a:r>
            <a:r>
              <a:rPr lang="en-US" sz="1400" dirty="0" err="1"/>
              <a:t>şcolare</a:t>
            </a:r>
            <a:r>
              <a:rPr lang="en-US" sz="1400" dirty="0"/>
              <a:t> </a:t>
            </a:r>
            <a:r>
              <a:rPr lang="en-US" sz="1400" dirty="0" err="1"/>
              <a:t>în</a:t>
            </a:r>
            <a:r>
              <a:rPr lang="en-US" sz="1400" dirty="0"/>
              <a:t> </a:t>
            </a:r>
            <a:r>
              <a:rPr lang="en-US" sz="1400" dirty="0" err="1"/>
              <a:t>vigoare</a:t>
            </a:r>
            <a:r>
              <a:rPr lang="en-US" sz="1400" dirty="0"/>
              <a:t> elaborate </a:t>
            </a:r>
            <a:r>
              <a:rPr lang="en-US" sz="1400" dirty="0" err="1"/>
              <a:t>pentru</a:t>
            </a:r>
            <a:r>
              <a:rPr lang="en-US" sz="1400" dirty="0"/>
              <a:t> aria </a:t>
            </a:r>
            <a:r>
              <a:rPr lang="en-US" sz="1400" dirty="0" err="1"/>
              <a:t>curriculară</a:t>
            </a:r>
            <a:r>
              <a:rPr lang="en-US" sz="1400" dirty="0"/>
              <a:t> "</a:t>
            </a:r>
            <a:r>
              <a:rPr lang="en-US" sz="1400" dirty="0" err="1"/>
              <a:t>Consiliere</a:t>
            </a:r>
            <a:r>
              <a:rPr lang="en-US" sz="1400" dirty="0"/>
              <a:t> </a:t>
            </a:r>
            <a:r>
              <a:rPr lang="en-US" sz="1400" dirty="0" err="1"/>
              <a:t>şi</a:t>
            </a:r>
            <a:r>
              <a:rPr lang="en-US" sz="1400" dirty="0"/>
              <a:t> </a:t>
            </a:r>
            <a:r>
              <a:rPr lang="en-US" sz="1400" dirty="0" err="1"/>
              <a:t>orientare</a:t>
            </a:r>
            <a:r>
              <a:rPr lang="en-US" sz="1400" dirty="0"/>
              <a:t>";</a:t>
            </a:r>
            <a:endParaRPr lang="ro-RO" sz="1400" dirty="0"/>
          </a:p>
          <a:p>
            <a:pPr marL="342900" indent="-342900">
              <a:buAutoNum type="alphaLcParenR"/>
            </a:pPr>
            <a:r>
              <a:rPr lang="en-US" sz="1400" dirty="0" err="1"/>
              <a:t>teme</a:t>
            </a:r>
            <a:r>
              <a:rPr lang="en-US" sz="1400" dirty="0"/>
              <a:t> de </a:t>
            </a:r>
            <a:r>
              <a:rPr lang="en-US" sz="1400" dirty="0" err="1"/>
              <a:t>educaţie</a:t>
            </a:r>
            <a:r>
              <a:rPr lang="en-US" sz="1400" dirty="0"/>
              <a:t> </a:t>
            </a:r>
            <a:r>
              <a:rPr lang="en-US" sz="1400" dirty="0" err="1"/>
              <a:t>în</a:t>
            </a:r>
            <a:r>
              <a:rPr lang="en-US" sz="1400" dirty="0"/>
              <a:t> </a:t>
            </a:r>
            <a:r>
              <a:rPr lang="en-US" sz="1400" dirty="0" err="1"/>
              <a:t>conformitate</a:t>
            </a:r>
            <a:r>
              <a:rPr lang="en-US" sz="1400" dirty="0"/>
              <a:t> cu </a:t>
            </a:r>
            <a:r>
              <a:rPr lang="en-US" sz="1400" dirty="0" err="1"/>
              <a:t>prevederile</a:t>
            </a:r>
            <a:r>
              <a:rPr lang="en-US" sz="1400" dirty="0"/>
              <a:t> </a:t>
            </a:r>
            <a:r>
              <a:rPr lang="en-US" sz="1400" dirty="0" err="1"/>
              <a:t>actelor</a:t>
            </a:r>
            <a:r>
              <a:rPr lang="en-US" sz="1400" dirty="0"/>
              <a:t> normative </a:t>
            </a:r>
            <a:r>
              <a:rPr lang="en-US" sz="1400" dirty="0" err="1"/>
              <a:t>şi</a:t>
            </a:r>
            <a:r>
              <a:rPr lang="en-US" sz="1400" dirty="0"/>
              <a:t> ale </a:t>
            </a:r>
            <a:r>
              <a:rPr lang="en-US" sz="1400" dirty="0" err="1"/>
              <a:t>strategiilor</a:t>
            </a:r>
            <a:r>
              <a:rPr lang="en-US" sz="1400" dirty="0"/>
              <a:t> </a:t>
            </a:r>
            <a:r>
              <a:rPr lang="en-US" sz="1400" dirty="0" err="1"/>
              <a:t>naţionale</a:t>
            </a:r>
            <a:r>
              <a:rPr lang="en-US" sz="1400" dirty="0"/>
              <a:t>, precum </a:t>
            </a:r>
            <a:r>
              <a:rPr lang="en-US" sz="1400" dirty="0" err="1"/>
              <a:t>şi</a:t>
            </a:r>
            <a:r>
              <a:rPr lang="en-US" sz="1400" dirty="0"/>
              <a:t> </a:t>
            </a:r>
            <a:r>
              <a:rPr lang="en-US" sz="1400" dirty="0" err="1"/>
              <a:t>în</a:t>
            </a:r>
            <a:r>
              <a:rPr lang="en-US" sz="1400" dirty="0"/>
              <a:t> </a:t>
            </a:r>
            <a:r>
              <a:rPr lang="en-US" sz="1400" dirty="0" err="1"/>
              <a:t>baza</a:t>
            </a:r>
            <a:r>
              <a:rPr lang="en-US" sz="1400" dirty="0"/>
              <a:t> </a:t>
            </a:r>
            <a:r>
              <a:rPr lang="en-US" sz="1400" dirty="0" err="1"/>
              <a:t>parteneriatelor</a:t>
            </a:r>
            <a:r>
              <a:rPr lang="en-US" sz="1400" dirty="0"/>
              <a:t> </a:t>
            </a:r>
            <a:r>
              <a:rPr lang="en-US" sz="1400" dirty="0" err="1"/>
              <a:t>încheiate</a:t>
            </a:r>
            <a:r>
              <a:rPr lang="en-US" sz="1400" dirty="0"/>
              <a:t> de </a:t>
            </a:r>
            <a:r>
              <a:rPr lang="en-US" sz="1400" dirty="0" err="1"/>
              <a:t>Ministerul</a:t>
            </a:r>
            <a:r>
              <a:rPr lang="en-US" sz="1400" dirty="0"/>
              <a:t> </a:t>
            </a:r>
            <a:r>
              <a:rPr lang="en-US" sz="1400" dirty="0" err="1"/>
              <a:t>Educaţiei</a:t>
            </a:r>
            <a:r>
              <a:rPr lang="en-US" sz="1400" dirty="0"/>
              <a:t> cu </a:t>
            </a:r>
            <a:r>
              <a:rPr lang="en-US" sz="1400" dirty="0" err="1"/>
              <a:t>alte</a:t>
            </a:r>
            <a:r>
              <a:rPr lang="en-US" sz="1400" dirty="0"/>
              <a:t> </a:t>
            </a:r>
            <a:r>
              <a:rPr lang="en-US" sz="1400" dirty="0" err="1"/>
              <a:t>ministere</a:t>
            </a:r>
            <a:r>
              <a:rPr lang="en-US" sz="1400" dirty="0"/>
              <a:t>, </a:t>
            </a:r>
            <a:r>
              <a:rPr lang="en-US" sz="1400" dirty="0" err="1"/>
              <a:t>instituţii</a:t>
            </a:r>
            <a:r>
              <a:rPr lang="en-US" sz="1400" dirty="0"/>
              <a:t> </a:t>
            </a:r>
            <a:r>
              <a:rPr lang="en-US" sz="1400" dirty="0" err="1"/>
              <a:t>şi</a:t>
            </a:r>
            <a:r>
              <a:rPr lang="en-US" sz="1400" dirty="0"/>
              <a:t> </a:t>
            </a:r>
            <a:r>
              <a:rPr lang="en-US" sz="1400" dirty="0" err="1"/>
              <a:t>organizaţii</a:t>
            </a:r>
            <a:r>
              <a:rPr lang="en-US" sz="1400" dirty="0"/>
              <a:t>.</a:t>
            </a:r>
          </a:p>
          <a:p>
            <a:pPr marL="0" indent="0">
              <a:buNone/>
            </a:pPr>
            <a:r>
              <a:rPr lang="en-US" sz="1400" dirty="0" err="1"/>
              <a:t>Profesorul</a:t>
            </a:r>
            <a:r>
              <a:rPr lang="en-US" sz="1400" dirty="0"/>
              <a:t> </a:t>
            </a:r>
            <a:r>
              <a:rPr lang="en-US" sz="1400" dirty="0" err="1"/>
              <a:t>diriginte</a:t>
            </a:r>
            <a:r>
              <a:rPr lang="en-US" sz="1400" dirty="0"/>
              <a:t> </a:t>
            </a:r>
            <a:r>
              <a:rPr lang="en-US" sz="1400" dirty="0" err="1"/>
              <a:t>desfăşoară</a:t>
            </a:r>
            <a:r>
              <a:rPr lang="en-US" sz="1400" dirty="0"/>
              <a:t> </a:t>
            </a:r>
            <a:r>
              <a:rPr lang="en-US" sz="1400" dirty="0" err="1"/>
              <a:t>activităţi</a:t>
            </a:r>
            <a:r>
              <a:rPr lang="en-US" sz="1400" dirty="0"/>
              <a:t> educative </a:t>
            </a:r>
            <a:r>
              <a:rPr lang="en-US" sz="1400" dirty="0" err="1"/>
              <a:t>extraşcolare</a:t>
            </a:r>
            <a:r>
              <a:rPr lang="en-US" sz="1400" dirty="0"/>
              <a:t>, pe care le </a:t>
            </a:r>
            <a:r>
              <a:rPr lang="en-US" sz="1400" dirty="0" err="1"/>
              <a:t>stabileşte</a:t>
            </a:r>
            <a:r>
              <a:rPr lang="en-US" sz="1400" dirty="0"/>
              <a:t> </a:t>
            </a:r>
            <a:r>
              <a:rPr lang="en-US" sz="1400" dirty="0" err="1"/>
              <a:t>după</a:t>
            </a:r>
            <a:r>
              <a:rPr lang="en-US" sz="1400" dirty="0"/>
              <a:t> </a:t>
            </a:r>
            <a:r>
              <a:rPr lang="en-US" sz="1400" dirty="0" err="1"/>
              <a:t>consultarea</a:t>
            </a:r>
            <a:r>
              <a:rPr lang="en-US" sz="1400" dirty="0"/>
              <a:t> </a:t>
            </a:r>
            <a:r>
              <a:rPr lang="en-US" sz="1400" dirty="0" err="1"/>
              <a:t>elevilor</a:t>
            </a:r>
            <a:r>
              <a:rPr lang="en-US" sz="1400" dirty="0"/>
              <a:t> </a:t>
            </a:r>
            <a:r>
              <a:rPr lang="en-US" sz="1400" dirty="0" err="1"/>
              <a:t>şi</a:t>
            </a:r>
            <a:r>
              <a:rPr lang="en-US" sz="1400" dirty="0"/>
              <a:t> a </a:t>
            </a:r>
            <a:r>
              <a:rPr lang="en-US" sz="1400" dirty="0" err="1"/>
              <a:t>părinţilor</a:t>
            </a:r>
            <a:r>
              <a:rPr lang="en-US" sz="1400" dirty="0"/>
              <a:t>, </a:t>
            </a:r>
            <a:r>
              <a:rPr lang="en-US" sz="1400" dirty="0" err="1"/>
              <a:t>în</a:t>
            </a:r>
            <a:r>
              <a:rPr lang="en-US" sz="1400" dirty="0"/>
              <a:t> </a:t>
            </a:r>
            <a:r>
              <a:rPr lang="en-US" sz="1400" dirty="0" err="1"/>
              <a:t>concordanţă</a:t>
            </a:r>
            <a:r>
              <a:rPr lang="en-US" sz="1400" dirty="0"/>
              <a:t> cu </a:t>
            </a:r>
            <a:r>
              <a:rPr lang="en-US" sz="1400" dirty="0" err="1"/>
              <a:t>specificul</a:t>
            </a:r>
            <a:r>
              <a:rPr lang="en-US" sz="1400" dirty="0"/>
              <a:t> </a:t>
            </a:r>
            <a:r>
              <a:rPr lang="en-US" sz="1400" dirty="0" err="1"/>
              <a:t>vârstei</a:t>
            </a:r>
            <a:r>
              <a:rPr lang="en-US" sz="1400" dirty="0"/>
              <a:t> </a:t>
            </a:r>
            <a:r>
              <a:rPr lang="en-US" sz="1400" dirty="0" err="1"/>
              <a:t>şi</a:t>
            </a:r>
            <a:r>
              <a:rPr lang="en-US" sz="1400" dirty="0"/>
              <a:t> </a:t>
            </a:r>
            <a:r>
              <a:rPr lang="en-US" sz="1400" dirty="0" err="1"/>
              <a:t>nevoilor</a:t>
            </a:r>
            <a:r>
              <a:rPr lang="en-US" sz="1400" dirty="0"/>
              <a:t> </a:t>
            </a:r>
            <a:r>
              <a:rPr lang="en-US" sz="1400" dirty="0" err="1"/>
              <a:t>identificate</a:t>
            </a:r>
            <a:r>
              <a:rPr lang="en-US" sz="1400" dirty="0"/>
              <a:t> </a:t>
            </a:r>
            <a:r>
              <a:rPr lang="en-US" sz="1400" dirty="0" err="1"/>
              <a:t>pentru</a:t>
            </a:r>
            <a:r>
              <a:rPr lang="en-US" sz="1400" dirty="0"/>
              <a:t> </a:t>
            </a:r>
            <a:r>
              <a:rPr lang="en-US" sz="1400" dirty="0" err="1"/>
              <a:t>colectivul</a:t>
            </a:r>
            <a:r>
              <a:rPr lang="en-US" sz="1400" dirty="0"/>
              <a:t> de </a:t>
            </a:r>
            <a:r>
              <a:rPr lang="en-US" sz="1400" dirty="0" err="1"/>
              <a:t>elevi</a:t>
            </a:r>
            <a:r>
              <a:rPr lang="en-US" sz="1600" dirty="0">
                <a:latin typeface="Times New Roman" panose="02020603050405020304" pitchFamily="18" charset="0"/>
              </a:rPr>
              <a:t>.</a:t>
            </a:r>
          </a:p>
          <a:p>
            <a:endParaRPr lang="en-US" sz="1600" b="0" dirty="0">
              <a:latin typeface="Times New Roman" panose="02020603050405020304" pitchFamily="18" charset="0"/>
            </a:endParaRPr>
          </a:p>
          <a:p>
            <a:endParaRPr lang="en-US" sz="1100" dirty="0"/>
          </a:p>
        </p:txBody>
      </p:sp>
    </p:spTree>
    <p:extLst>
      <p:ext uri="{BB962C8B-B14F-4D97-AF65-F5344CB8AC3E}">
        <p14:creationId xmlns:p14="http://schemas.microsoft.com/office/powerpoint/2010/main" val="2829611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E87830-A8C6-41BA-8852-340B8CF5E769}"/>
              </a:ext>
            </a:extLst>
          </p:cNvPr>
          <p:cNvSpPr>
            <a:spLocks noGrp="1"/>
          </p:cNvSpPr>
          <p:nvPr>
            <p:ph idx="1"/>
          </p:nvPr>
        </p:nvSpPr>
        <p:spPr>
          <a:xfrm>
            <a:off x="169333" y="567267"/>
            <a:ext cx="10515600" cy="5025496"/>
          </a:xfrm>
        </p:spPr>
        <p:txBody>
          <a:bodyPr>
            <a:normAutofit fontScale="77500" lnSpcReduction="20000"/>
          </a:bodyPr>
          <a:lstStyle/>
          <a:p>
            <a:r>
              <a:rPr lang="en-US" sz="2800" dirty="0">
                <a:latin typeface="Times New Roman" panose="02020603050405020304" pitchFamily="18" charset="0"/>
              </a:rPr>
              <a:t> </a:t>
            </a:r>
            <a:r>
              <a:rPr lang="en-US" sz="2600" dirty="0" err="1">
                <a:latin typeface="+mj-lt"/>
              </a:rPr>
              <a:t>Pentru</a:t>
            </a:r>
            <a:r>
              <a:rPr lang="en-US" sz="2600" dirty="0">
                <a:latin typeface="+mj-lt"/>
              </a:rPr>
              <a:t> </a:t>
            </a:r>
            <a:r>
              <a:rPr lang="en-US" sz="2600" dirty="0" err="1">
                <a:latin typeface="+mj-lt"/>
              </a:rPr>
              <a:t>realizarea</a:t>
            </a:r>
            <a:r>
              <a:rPr lang="en-US" sz="2600" dirty="0">
                <a:latin typeface="+mj-lt"/>
              </a:rPr>
              <a:t> </a:t>
            </a:r>
            <a:r>
              <a:rPr lang="en-US" sz="2600" dirty="0" err="1">
                <a:latin typeface="+mj-lt"/>
              </a:rPr>
              <a:t>unei</a:t>
            </a:r>
            <a:r>
              <a:rPr lang="en-US" sz="2600" dirty="0">
                <a:latin typeface="+mj-lt"/>
              </a:rPr>
              <a:t> </a:t>
            </a:r>
            <a:r>
              <a:rPr lang="en-US" sz="2600" dirty="0" err="1">
                <a:latin typeface="+mj-lt"/>
              </a:rPr>
              <a:t>comunicări</a:t>
            </a:r>
            <a:r>
              <a:rPr lang="en-US" sz="2600" dirty="0">
                <a:latin typeface="+mj-lt"/>
              </a:rPr>
              <a:t> </a:t>
            </a:r>
            <a:r>
              <a:rPr lang="en-US" sz="2600" dirty="0" err="1">
                <a:latin typeface="+mj-lt"/>
              </a:rPr>
              <a:t>constante</a:t>
            </a:r>
            <a:r>
              <a:rPr lang="en-US" sz="2600" dirty="0">
                <a:latin typeface="+mj-lt"/>
              </a:rPr>
              <a:t> cu </a:t>
            </a:r>
            <a:r>
              <a:rPr lang="en-US" sz="2600" dirty="0" err="1">
                <a:latin typeface="+mj-lt"/>
              </a:rPr>
              <a:t>părinţii</a:t>
            </a:r>
            <a:r>
              <a:rPr lang="en-US" sz="2600" dirty="0">
                <a:latin typeface="+mj-lt"/>
              </a:rPr>
              <a:t> </a:t>
            </a:r>
            <a:r>
              <a:rPr lang="en-US" sz="2600" dirty="0" err="1">
                <a:latin typeface="+mj-lt"/>
              </a:rPr>
              <a:t>sau</a:t>
            </a:r>
            <a:r>
              <a:rPr lang="en-US" sz="2600" dirty="0">
                <a:latin typeface="+mj-lt"/>
              </a:rPr>
              <a:t> </a:t>
            </a:r>
            <a:r>
              <a:rPr lang="en-US" sz="2600" dirty="0" err="1">
                <a:latin typeface="+mj-lt"/>
              </a:rPr>
              <a:t>reprezentanţii</a:t>
            </a:r>
            <a:r>
              <a:rPr lang="en-US" sz="2600" dirty="0">
                <a:latin typeface="+mj-lt"/>
              </a:rPr>
              <a:t> </a:t>
            </a:r>
            <a:r>
              <a:rPr lang="en-US" sz="2600" dirty="0" err="1">
                <a:latin typeface="+mj-lt"/>
              </a:rPr>
              <a:t>legali</a:t>
            </a:r>
            <a:r>
              <a:rPr lang="en-US" sz="2600" dirty="0">
                <a:latin typeface="+mj-lt"/>
              </a:rPr>
              <a:t>, </a:t>
            </a:r>
            <a:r>
              <a:rPr lang="en-US" sz="2600" dirty="0" err="1">
                <a:latin typeface="+mj-lt"/>
              </a:rPr>
              <a:t>profesorul</a:t>
            </a:r>
            <a:r>
              <a:rPr lang="en-US" sz="2600" dirty="0">
                <a:latin typeface="+mj-lt"/>
              </a:rPr>
              <a:t> </a:t>
            </a:r>
            <a:r>
              <a:rPr lang="en-US" sz="2600" b="1" dirty="0" err="1">
                <a:latin typeface="+mj-lt"/>
              </a:rPr>
              <a:t>diriginte</a:t>
            </a:r>
            <a:r>
              <a:rPr lang="en-US" sz="2600" b="1" dirty="0">
                <a:latin typeface="+mj-lt"/>
              </a:rPr>
              <a:t> </a:t>
            </a:r>
            <a:r>
              <a:rPr lang="en-US" sz="2600" b="1" dirty="0" err="1">
                <a:latin typeface="+mj-lt"/>
              </a:rPr>
              <a:t>stabileşte</a:t>
            </a:r>
            <a:r>
              <a:rPr lang="en-US" sz="2600" b="1" dirty="0">
                <a:latin typeface="+mj-lt"/>
              </a:rPr>
              <a:t>, </a:t>
            </a:r>
            <a:r>
              <a:rPr lang="en-US" sz="2600" b="1" dirty="0" err="1">
                <a:latin typeface="+mj-lt"/>
              </a:rPr>
              <a:t>în</a:t>
            </a:r>
            <a:r>
              <a:rPr lang="en-US" sz="2600" b="1" dirty="0">
                <a:latin typeface="+mj-lt"/>
              </a:rPr>
              <a:t> </a:t>
            </a:r>
            <a:r>
              <a:rPr lang="en-US" sz="2600" b="1" dirty="0" err="1">
                <a:latin typeface="+mj-lt"/>
              </a:rPr>
              <a:t>acord</a:t>
            </a:r>
            <a:r>
              <a:rPr lang="en-US" sz="2600" b="1" dirty="0">
                <a:latin typeface="+mj-lt"/>
              </a:rPr>
              <a:t> cu </a:t>
            </a:r>
            <a:r>
              <a:rPr lang="en-US" sz="2600" b="1" dirty="0" err="1">
                <a:latin typeface="+mj-lt"/>
              </a:rPr>
              <a:t>aceştia</a:t>
            </a:r>
            <a:r>
              <a:rPr lang="en-US" sz="2600" b="1" dirty="0">
                <a:latin typeface="+mj-lt"/>
              </a:rPr>
              <a:t>, lunar, o </a:t>
            </a:r>
            <a:r>
              <a:rPr lang="en-US" sz="2600" b="1" dirty="0" err="1">
                <a:latin typeface="+mj-lt"/>
              </a:rPr>
              <a:t>întâlnire</a:t>
            </a:r>
            <a:r>
              <a:rPr lang="en-US" sz="2600" b="1" dirty="0">
                <a:latin typeface="+mj-lt"/>
              </a:rPr>
              <a:t> </a:t>
            </a:r>
            <a:r>
              <a:rPr lang="en-US" sz="2600" b="1" dirty="0" err="1">
                <a:latin typeface="+mj-lt"/>
              </a:rPr>
              <a:t>pentru</a:t>
            </a:r>
            <a:r>
              <a:rPr lang="en-US" sz="2600" b="1" dirty="0">
                <a:latin typeface="+mj-lt"/>
              </a:rPr>
              <a:t> </a:t>
            </a:r>
            <a:r>
              <a:rPr lang="en-US" sz="2600" b="1" dirty="0" err="1">
                <a:latin typeface="+mj-lt"/>
              </a:rPr>
              <a:t>prezentarea</a:t>
            </a:r>
            <a:r>
              <a:rPr lang="en-US" sz="2600" b="1" dirty="0">
                <a:latin typeface="+mj-lt"/>
              </a:rPr>
              <a:t> </a:t>
            </a:r>
            <a:r>
              <a:rPr lang="en-US" sz="2600" b="1" dirty="0" err="1">
                <a:latin typeface="+mj-lt"/>
              </a:rPr>
              <a:t>situaţiei</a:t>
            </a:r>
            <a:r>
              <a:rPr lang="en-US" sz="2600" b="1" dirty="0">
                <a:latin typeface="+mj-lt"/>
              </a:rPr>
              <a:t> </a:t>
            </a:r>
            <a:r>
              <a:rPr lang="en-US" sz="2600" b="1" dirty="0" err="1">
                <a:latin typeface="+mj-lt"/>
              </a:rPr>
              <a:t>şcolare</a:t>
            </a:r>
            <a:r>
              <a:rPr lang="en-US" sz="2600" b="1" dirty="0">
                <a:latin typeface="+mj-lt"/>
              </a:rPr>
              <a:t> a </a:t>
            </a:r>
            <a:r>
              <a:rPr lang="en-US" sz="2600" b="1" dirty="0" err="1">
                <a:latin typeface="+mj-lt"/>
              </a:rPr>
              <a:t>elevilor</a:t>
            </a:r>
            <a:r>
              <a:rPr lang="en-US" sz="2600" dirty="0">
                <a:latin typeface="+mj-lt"/>
              </a:rPr>
              <a:t>, </a:t>
            </a:r>
            <a:r>
              <a:rPr lang="en-US" sz="2600" dirty="0" err="1">
                <a:latin typeface="+mj-lt"/>
              </a:rPr>
              <a:t>pentru</a:t>
            </a:r>
            <a:r>
              <a:rPr lang="en-US" sz="2600" dirty="0">
                <a:latin typeface="+mj-lt"/>
              </a:rPr>
              <a:t> </a:t>
            </a:r>
            <a:r>
              <a:rPr lang="en-US" sz="2600" dirty="0" err="1">
                <a:latin typeface="+mj-lt"/>
              </a:rPr>
              <a:t>discutarea</a:t>
            </a:r>
            <a:r>
              <a:rPr lang="en-US" sz="2600" dirty="0">
                <a:latin typeface="+mj-lt"/>
              </a:rPr>
              <a:t> </a:t>
            </a:r>
            <a:r>
              <a:rPr lang="en-US" sz="2600" dirty="0" err="1">
                <a:latin typeface="+mj-lt"/>
              </a:rPr>
              <a:t>problemelor</a:t>
            </a:r>
            <a:r>
              <a:rPr lang="en-US" sz="2600" dirty="0">
                <a:latin typeface="+mj-lt"/>
              </a:rPr>
              <a:t> </a:t>
            </a:r>
            <a:r>
              <a:rPr lang="en-US" sz="2600" dirty="0" err="1">
                <a:latin typeface="+mj-lt"/>
              </a:rPr>
              <a:t>educaţionale</a:t>
            </a:r>
            <a:r>
              <a:rPr lang="en-US" sz="2600" dirty="0">
                <a:latin typeface="+mj-lt"/>
              </a:rPr>
              <a:t> </a:t>
            </a:r>
            <a:r>
              <a:rPr lang="en-US" sz="2600" dirty="0" err="1">
                <a:latin typeface="+mj-lt"/>
              </a:rPr>
              <a:t>sau</a:t>
            </a:r>
            <a:r>
              <a:rPr lang="en-US" sz="2600" dirty="0">
                <a:latin typeface="+mj-lt"/>
              </a:rPr>
              <a:t> </a:t>
            </a:r>
            <a:r>
              <a:rPr lang="en-US" sz="2600" dirty="0" err="1">
                <a:latin typeface="+mj-lt"/>
              </a:rPr>
              <a:t>comportamentale</a:t>
            </a:r>
            <a:r>
              <a:rPr lang="en-US" sz="2600" dirty="0">
                <a:latin typeface="+mj-lt"/>
              </a:rPr>
              <a:t> </a:t>
            </a:r>
            <a:r>
              <a:rPr lang="en-US" sz="2600" dirty="0" err="1">
                <a:latin typeface="+mj-lt"/>
              </a:rPr>
              <a:t>specifice</a:t>
            </a:r>
            <a:r>
              <a:rPr lang="en-US" sz="2600" dirty="0">
                <a:latin typeface="+mj-lt"/>
              </a:rPr>
              <a:t> ale </a:t>
            </a:r>
            <a:r>
              <a:rPr lang="en-US" sz="2600" dirty="0" err="1">
                <a:latin typeface="+mj-lt"/>
              </a:rPr>
              <a:t>acestora</a:t>
            </a:r>
            <a:r>
              <a:rPr lang="en-US" sz="2600" dirty="0">
                <a:latin typeface="+mj-lt"/>
              </a:rPr>
              <a:t>. </a:t>
            </a:r>
            <a:r>
              <a:rPr lang="en-US" sz="2600" dirty="0" err="1">
                <a:latin typeface="+mj-lt"/>
              </a:rPr>
              <a:t>În</a:t>
            </a:r>
            <a:r>
              <a:rPr lang="en-US" sz="2600" dirty="0">
                <a:latin typeface="+mj-lt"/>
              </a:rPr>
              <a:t> </a:t>
            </a:r>
            <a:r>
              <a:rPr lang="en-US" sz="2600" dirty="0" err="1">
                <a:latin typeface="+mj-lt"/>
              </a:rPr>
              <a:t>situaţii</a:t>
            </a:r>
            <a:r>
              <a:rPr lang="en-US" sz="2600" dirty="0">
                <a:latin typeface="+mj-lt"/>
              </a:rPr>
              <a:t> </a:t>
            </a:r>
            <a:r>
              <a:rPr lang="en-US" sz="2600" dirty="0" err="1">
                <a:latin typeface="+mj-lt"/>
              </a:rPr>
              <a:t>obiective</a:t>
            </a:r>
            <a:r>
              <a:rPr lang="en-US" sz="2600" dirty="0">
                <a:latin typeface="+mj-lt"/>
              </a:rPr>
              <a:t> cum </a:t>
            </a:r>
            <a:r>
              <a:rPr lang="en-US" sz="2600" dirty="0" err="1">
                <a:latin typeface="+mj-lt"/>
              </a:rPr>
              <a:t>ar</a:t>
            </a:r>
            <a:r>
              <a:rPr lang="en-US" sz="2600" dirty="0">
                <a:latin typeface="+mj-lt"/>
              </a:rPr>
              <a:t> fi: </a:t>
            </a:r>
            <a:r>
              <a:rPr lang="en-US" sz="2600" dirty="0" err="1">
                <a:latin typeface="+mj-lt"/>
              </a:rPr>
              <a:t>calamităţi</a:t>
            </a:r>
            <a:r>
              <a:rPr lang="en-US" sz="2600" dirty="0">
                <a:latin typeface="+mj-lt"/>
              </a:rPr>
              <a:t>, </a:t>
            </a:r>
            <a:r>
              <a:rPr lang="en-US" sz="2600" dirty="0" err="1">
                <a:latin typeface="+mj-lt"/>
              </a:rPr>
              <a:t>intemperii</a:t>
            </a:r>
            <a:r>
              <a:rPr lang="en-US" sz="2600" dirty="0">
                <a:latin typeface="+mj-lt"/>
              </a:rPr>
              <a:t>, </a:t>
            </a:r>
            <a:r>
              <a:rPr lang="en-US" sz="2600" dirty="0" err="1">
                <a:latin typeface="+mj-lt"/>
              </a:rPr>
              <a:t>epidemii</a:t>
            </a:r>
            <a:r>
              <a:rPr lang="en-US" sz="2600" dirty="0">
                <a:latin typeface="+mj-lt"/>
              </a:rPr>
              <a:t>, </a:t>
            </a:r>
            <a:r>
              <a:rPr lang="en-US" sz="2600" dirty="0" err="1">
                <a:latin typeface="+mj-lt"/>
              </a:rPr>
              <a:t>pandemii</a:t>
            </a:r>
            <a:r>
              <a:rPr lang="en-US" sz="2600" dirty="0">
                <a:latin typeface="+mj-lt"/>
              </a:rPr>
              <a:t>, </a:t>
            </a:r>
            <a:r>
              <a:rPr lang="en-US" sz="2600" dirty="0" err="1">
                <a:latin typeface="+mj-lt"/>
              </a:rPr>
              <a:t>alte</a:t>
            </a:r>
            <a:r>
              <a:rPr lang="en-US" sz="2600" dirty="0">
                <a:latin typeface="+mj-lt"/>
              </a:rPr>
              <a:t> </a:t>
            </a:r>
            <a:r>
              <a:rPr lang="en-US" sz="2600" dirty="0" err="1">
                <a:latin typeface="+mj-lt"/>
              </a:rPr>
              <a:t>situaţii</a:t>
            </a:r>
            <a:r>
              <a:rPr lang="en-US" sz="2600" dirty="0">
                <a:latin typeface="+mj-lt"/>
              </a:rPr>
              <a:t> </a:t>
            </a:r>
            <a:r>
              <a:rPr lang="en-US" sz="2600" dirty="0" err="1">
                <a:latin typeface="+mj-lt"/>
              </a:rPr>
              <a:t>excepţionale</a:t>
            </a:r>
            <a:r>
              <a:rPr lang="en-US" sz="2600" dirty="0">
                <a:latin typeface="+mj-lt"/>
              </a:rPr>
              <a:t>, </a:t>
            </a:r>
            <a:r>
              <a:rPr lang="en-US" sz="2600" dirty="0" err="1">
                <a:latin typeface="+mj-lt"/>
              </a:rPr>
              <a:t>aceste</a:t>
            </a:r>
            <a:r>
              <a:rPr lang="en-US" sz="2600" dirty="0">
                <a:latin typeface="+mj-lt"/>
              </a:rPr>
              <a:t> </a:t>
            </a:r>
            <a:r>
              <a:rPr lang="en-US" sz="2600" dirty="0" err="1">
                <a:latin typeface="+mj-lt"/>
              </a:rPr>
              <a:t>întâlniri</a:t>
            </a:r>
            <a:r>
              <a:rPr lang="en-US" sz="2600" dirty="0">
                <a:latin typeface="+mj-lt"/>
              </a:rPr>
              <a:t> se pot </a:t>
            </a:r>
            <a:r>
              <a:rPr lang="en-US" sz="2600" dirty="0" err="1">
                <a:latin typeface="+mj-lt"/>
              </a:rPr>
              <a:t>desfăşura</a:t>
            </a:r>
            <a:r>
              <a:rPr lang="en-US" sz="2600" dirty="0">
                <a:latin typeface="+mj-lt"/>
              </a:rPr>
              <a:t> online, </a:t>
            </a:r>
            <a:r>
              <a:rPr lang="en-US" sz="2600" dirty="0" err="1">
                <a:latin typeface="+mj-lt"/>
              </a:rPr>
              <a:t>prin</a:t>
            </a:r>
            <a:r>
              <a:rPr lang="en-US" sz="2600" dirty="0">
                <a:latin typeface="+mj-lt"/>
              </a:rPr>
              <a:t> </a:t>
            </a:r>
            <a:r>
              <a:rPr lang="en-US" sz="2600" dirty="0" err="1">
                <a:latin typeface="+mj-lt"/>
              </a:rPr>
              <a:t>mijloace</a:t>
            </a:r>
            <a:r>
              <a:rPr lang="en-US" sz="2600" dirty="0">
                <a:latin typeface="+mj-lt"/>
              </a:rPr>
              <a:t> </a:t>
            </a:r>
            <a:r>
              <a:rPr lang="en-US" sz="2600" dirty="0" err="1">
                <a:latin typeface="+mj-lt"/>
              </a:rPr>
              <a:t>electronice</a:t>
            </a:r>
            <a:r>
              <a:rPr lang="en-US" sz="2600" dirty="0">
                <a:latin typeface="+mj-lt"/>
              </a:rPr>
              <a:t> de </a:t>
            </a:r>
            <a:r>
              <a:rPr lang="en-US" sz="2600" dirty="0" err="1">
                <a:latin typeface="+mj-lt"/>
              </a:rPr>
              <a:t>comunicare</a:t>
            </a:r>
            <a:r>
              <a:rPr lang="en-US" sz="2600" dirty="0">
                <a:latin typeface="+mj-lt"/>
              </a:rPr>
              <a:t>, </a:t>
            </a:r>
            <a:r>
              <a:rPr lang="en-US" sz="2600" dirty="0" err="1">
                <a:latin typeface="+mj-lt"/>
              </a:rPr>
              <a:t>în</a:t>
            </a:r>
            <a:r>
              <a:rPr lang="en-US" sz="2600" dirty="0">
                <a:latin typeface="+mj-lt"/>
              </a:rPr>
              <a:t> </a:t>
            </a:r>
            <a:r>
              <a:rPr lang="en-US" sz="2600" dirty="0" err="1">
                <a:latin typeface="+mj-lt"/>
              </a:rPr>
              <a:t>sistem</a:t>
            </a:r>
            <a:r>
              <a:rPr lang="en-US" sz="2600" dirty="0">
                <a:latin typeface="+mj-lt"/>
              </a:rPr>
              <a:t> de </a:t>
            </a:r>
            <a:r>
              <a:rPr lang="en-US" sz="2600" dirty="0" err="1">
                <a:latin typeface="+mj-lt"/>
              </a:rPr>
              <a:t>videoconferinţă</a:t>
            </a:r>
            <a:r>
              <a:rPr lang="en-US" sz="2600" dirty="0">
                <a:latin typeface="+mj-lt"/>
              </a:rPr>
              <a:t>.</a:t>
            </a:r>
            <a:endParaRPr lang="ro-RO" sz="2600" dirty="0">
              <a:latin typeface="+mj-lt"/>
            </a:endParaRPr>
          </a:p>
          <a:p>
            <a:pPr marL="0" indent="0">
              <a:buNone/>
            </a:pPr>
            <a:endParaRPr lang="en-US" sz="2600" dirty="0">
              <a:latin typeface="+mj-lt"/>
            </a:endParaRPr>
          </a:p>
          <a:p>
            <a:r>
              <a:rPr lang="en-US" sz="2600" dirty="0">
                <a:latin typeface="+mj-lt"/>
              </a:rPr>
              <a:t>     </a:t>
            </a:r>
            <a:r>
              <a:rPr lang="en-US" sz="2600" dirty="0" err="1">
                <a:latin typeface="+mj-lt"/>
              </a:rPr>
              <a:t>Planificarea</a:t>
            </a:r>
            <a:r>
              <a:rPr lang="en-US" sz="2600" dirty="0">
                <a:latin typeface="+mj-lt"/>
              </a:rPr>
              <a:t> </a:t>
            </a:r>
            <a:r>
              <a:rPr lang="en-US" sz="2600" dirty="0" err="1">
                <a:latin typeface="+mj-lt"/>
              </a:rPr>
              <a:t>orelor</a:t>
            </a:r>
            <a:r>
              <a:rPr lang="en-US" sz="2600" dirty="0">
                <a:latin typeface="+mj-lt"/>
              </a:rPr>
              <a:t> dedicate </a:t>
            </a:r>
            <a:r>
              <a:rPr lang="en-US" sz="2600" dirty="0" err="1">
                <a:latin typeface="+mj-lt"/>
              </a:rPr>
              <a:t>întâlnirilor</a:t>
            </a:r>
            <a:r>
              <a:rPr lang="en-US" sz="2600" dirty="0">
                <a:latin typeface="+mj-lt"/>
              </a:rPr>
              <a:t> </a:t>
            </a:r>
            <a:r>
              <a:rPr lang="en-US" sz="2600" dirty="0" err="1">
                <a:latin typeface="+mj-lt"/>
              </a:rPr>
              <a:t>diriginţilor</a:t>
            </a:r>
            <a:r>
              <a:rPr lang="en-US" sz="2600" dirty="0">
                <a:latin typeface="+mj-lt"/>
              </a:rPr>
              <a:t> cu </a:t>
            </a:r>
            <a:r>
              <a:rPr lang="en-US" sz="2600" dirty="0" err="1">
                <a:latin typeface="+mj-lt"/>
              </a:rPr>
              <a:t>părinţii</a:t>
            </a:r>
            <a:r>
              <a:rPr lang="en-US" sz="2600" dirty="0">
                <a:latin typeface="+mj-lt"/>
              </a:rPr>
              <a:t> </a:t>
            </a:r>
            <a:r>
              <a:rPr lang="en-US" sz="2600" dirty="0" err="1">
                <a:latin typeface="+mj-lt"/>
              </a:rPr>
              <a:t>sau</a:t>
            </a:r>
            <a:r>
              <a:rPr lang="en-US" sz="2600" dirty="0">
                <a:latin typeface="+mj-lt"/>
              </a:rPr>
              <a:t> </a:t>
            </a:r>
            <a:r>
              <a:rPr lang="en-US" sz="2600" dirty="0" err="1">
                <a:latin typeface="+mj-lt"/>
              </a:rPr>
              <a:t>reprezentanţii</a:t>
            </a:r>
            <a:r>
              <a:rPr lang="en-US" sz="2600" dirty="0">
                <a:latin typeface="+mj-lt"/>
              </a:rPr>
              <a:t> </a:t>
            </a:r>
            <a:r>
              <a:rPr lang="en-US" sz="2600" dirty="0" err="1">
                <a:latin typeface="+mj-lt"/>
              </a:rPr>
              <a:t>legali</a:t>
            </a:r>
            <a:r>
              <a:rPr lang="en-US" sz="2600" dirty="0">
                <a:latin typeface="+mj-lt"/>
              </a:rPr>
              <a:t> de la </a:t>
            </a:r>
            <a:r>
              <a:rPr lang="en-US" sz="2600" dirty="0" err="1">
                <a:latin typeface="+mj-lt"/>
              </a:rPr>
              <a:t>fiecare</a:t>
            </a:r>
            <a:r>
              <a:rPr lang="en-US" sz="2600" dirty="0">
                <a:latin typeface="+mj-lt"/>
              </a:rPr>
              <a:t> </a:t>
            </a:r>
            <a:r>
              <a:rPr lang="en-US" sz="2600" dirty="0" err="1">
                <a:latin typeface="+mj-lt"/>
              </a:rPr>
              <a:t>formaţiune</a:t>
            </a:r>
            <a:r>
              <a:rPr lang="en-US" sz="2600" dirty="0">
                <a:latin typeface="+mj-lt"/>
              </a:rPr>
              <a:t> de </a:t>
            </a:r>
            <a:r>
              <a:rPr lang="en-US" sz="2600" dirty="0" err="1">
                <a:latin typeface="+mj-lt"/>
              </a:rPr>
              <a:t>studiu</a:t>
            </a:r>
            <a:r>
              <a:rPr lang="en-US" sz="2600" dirty="0">
                <a:latin typeface="+mj-lt"/>
              </a:rPr>
              <a:t> se </a:t>
            </a:r>
            <a:r>
              <a:rPr lang="en-US" sz="2600" dirty="0" err="1">
                <a:latin typeface="+mj-lt"/>
              </a:rPr>
              <a:t>comunică</a:t>
            </a:r>
            <a:r>
              <a:rPr lang="en-US" sz="2600" dirty="0">
                <a:latin typeface="+mj-lt"/>
              </a:rPr>
              <a:t> </a:t>
            </a:r>
            <a:r>
              <a:rPr lang="en-US" sz="2600" dirty="0" err="1">
                <a:latin typeface="+mj-lt"/>
              </a:rPr>
              <a:t>elevilor</a:t>
            </a:r>
            <a:r>
              <a:rPr lang="en-US" sz="2600" dirty="0">
                <a:latin typeface="+mj-lt"/>
              </a:rPr>
              <a:t> </a:t>
            </a:r>
            <a:r>
              <a:rPr lang="en-US" sz="2600" dirty="0" err="1">
                <a:latin typeface="+mj-lt"/>
              </a:rPr>
              <a:t>şi</a:t>
            </a:r>
            <a:r>
              <a:rPr lang="en-US" sz="2600" dirty="0">
                <a:latin typeface="+mj-lt"/>
              </a:rPr>
              <a:t> </a:t>
            </a:r>
            <a:r>
              <a:rPr lang="en-US" sz="2600" dirty="0" err="1">
                <a:latin typeface="+mj-lt"/>
              </a:rPr>
              <a:t>părinţilor</a:t>
            </a:r>
            <a:r>
              <a:rPr lang="en-US" sz="2600" dirty="0">
                <a:latin typeface="+mj-lt"/>
              </a:rPr>
              <a:t> </a:t>
            </a:r>
            <a:r>
              <a:rPr lang="en-US" sz="2600" dirty="0" err="1">
                <a:latin typeface="+mj-lt"/>
              </a:rPr>
              <a:t>sau</a:t>
            </a:r>
            <a:r>
              <a:rPr lang="en-US" sz="2600" dirty="0">
                <a:latin typeface="+mj-lt"/>
              </a:rPr>
              <a:t> </a:t>
            </a:r>
            <a:r>
              <a:rPr lang="en-US" sz="2600" dirty="0" err="1">
                <a:latin typeface="+mj-lt"/>
              </a:rPr>
              <a:t>reprezentanţilor</a:t>
            </a:r>
            <a:r>
              <a:rPr lang="en-US" sz="2600" dirty="0">
                <a:latin typeface="+mj-lt"/>
              </a:rPr>
              <a:t> </a:t>
            </a:r>
            <a:r>
              <a:rPr lang="en-US" sz="2600" dirty="0" err="1">
                <a:latin typeface="+mj-lt"/>
              </a:rPr>
              <a:t>legali</a:t>
            </a:r>
            <a:r>
              <a:rPr lang="en-US" sz="2600" dirty="0">
                <a:latin typeface="+mj-lt"/>
              </a:rPr>
              <a:t> ai </a:t>
            </a:r>
            <a:r>
              <a:rPr lang="en-US" sz="2600" dirty="0" err="1">
                <a:latin typeface="+mj-lt"/>
              </a:rPr>
              <a:t>acestora</a:t>
            </a:r>
            <a:r>
              <a:rPr lang="en-US" sz="2600" dirty="0">
                <a:latin typeface="+mj-lt"/>
              </a:rPr>
              <a:t> </a:t>
            </a:r>
            <a:r>
              <a:rPr lang="en-US" sz="2600" dirty="0" err="1">
                <a:latin typeface="+mj-lt"/>
              </a:rPr>
              <a:t>şi</a:t>
            </a:r>
            <a:r>
              <a:rPr lang="en-US" sz="2600" dirty="0">
                <a:latin typeface="+mj-lt"/>
              </a:rPr>
              <a:t> se </a:t>
            </a:r>
            <a:r>
              <a:rPr lang="en-US" sz="2600" dirty="0" err="1">
                <a:latin typeface="+mj-lt"/>
              </a:rPr>
              <a:t>afişează</a:t>
            </a:r>
            <a:r>
              <a:rPr lang="en-US" sz="2600" dirty="0">
                <a:latin typeface="+mj-lt"/>
              </a:rPr>
              <a:t> la </a:t>
            </a:r>
            <a:r>
              <a:rPr lang="en-US" sz="2600" dirty="0" err="1">
                <a:latin typeface="+mj-lt"/>
              </a:rPr>
              <a:t>avizier</a:t>
            </a:r>
            <a:r>
              <a:rPr lang="en-US" sz="2600" dirty="0">
                <a:latin typeface="+mj-lt"/>
              </a:rPr>
              <a:t> </a:t>
            </a:r>
            <a:r>
              <a:rPr lang="en-US" sz="2600" dirty="0" err="1">
                <a:latin typeface="+mj-lt"/>
              </a:rPr>
              <a:t>sau</a:t>
            </a:r>
            <a:r>
              <a:rPr lang="en-US" sz="2600" dirty="0">
                <a:latin typeface="+mj-lt"/>
              </a:rPr>
              <a:t> pe site-ul </a:t>
            </a:r>
            <a:r>
              <a:rPr lang="en-US" sz="2600" dirty="0" err="1">
                <a:latin typeface="+mj-lt"/>
              </a:rPr>
              <a:t>unităţii</a:t>
            </a:r>
            <a:r>
              <a:rPr lang="en-US" sz="2600" dirty="0">
                <a:latin typeface="+mj-lt"/>
              </a:rPr>
              <a:t> de </a:t>
            </a:r>
            <a:r>
              <a:rPr lang="en-US" sz="2600" dirty="0" err="1">
                <a:latin typeface="+mj-lt"/>
              </a:rPr>
              <a:t>învăţământ</a:t>
            </a:r>
            <a:r>
              <a:rPr lang="en-US" sz="2600" dirty="0">
                <a:latin typeface="+mj-lt"/>
              </a:rPr>
              <a:t>.</a:t>
            </a:r>
            <a:endParaRPr lang="ro-RO" sz="2600" dirty="0">
              <a:latin typeface="+mj-lt"/>
            </a:endParaRPr>
          </a:p>
          <a:p>
            <a:pPr marL="0" indent="0">
              <a:buNone/>
            </a:pPr>
            <a:endParaRPr lang="en-US" sz="2600" dirty="0">
              <a:latin typeface="+mj-lt"/>
            </a:endParaRPr>
          </a:p>
          <a:p>
            <a:r>
              <a:rPr lang="en-US" sz="2600" dirty="0">
                <a:latin typeface="+mj-lt"/>
              </a:rPr>
              <a:t>  </a:t>
            </a:r>
            <a:r>
              <a:rPr lang="en-US" sz="2600" dirty="0" err="1">
                <a:latin typeface="+mj-lt"/>
              </a:rPr>
              <a:t>Întâlnirea</a:t>
            </a:r>
            <a:r>
              <a:rPr lang="en-US" sz="2600" dirty="0">
                <a:latin typeface="+mj-lt"/>
              </a:rPr>
              <a:t> cu </a:t>
            </a:r>
            <a:r>
              <a:rPr lang="en-US" sz="2600" dirty="0" err="1">
                <a:latin typeface="+mj-lt"/>
              </a:rPr>
              <a:t>părinţii</a:t>
            </a:r>
            <a:r>
              <a:rPr lang="en-US" sz="2600" dirty="0">
                <a:latin typeface="+mj-lt"/>
              </a:rPr>
              <a:t> </a:t>
            </a:r>
            <a:r>
              <a:rPr lang="en-US" sz="2600" dirty="0" err="1">
                <a:latin typeface="+mj-lt"/>
              </a:rPr>
              <a:t>sau</a:t>
            </a:r>
            <a:r>
              <a:rPr lang="en-US" sz="2600" dirty="0">
                <a:latin typeface="+mj-lt"/>
              </a:rPr>
              <a:t> </a:t>
            </a:r>
            <a:r>
              <a:rPr lang="en-US" sz="2600" dirty="0" err="1">
                <a:latin typeface="+mj-lt"/>
              </a:rPr>
              <a:t>reprezentanţii</a:t>
            </a:r>
            <a:r>
              <a:rPr lang="en-US" sz="2600" dirty="0">
                <a:latin typeface="+mj-lt"/>
              </a:rPr>
              <a:t> </a:t>
            </a:r>
            <a:r>
              <a:rPr lang="en-US" sz="2600" dirty="0" err="1">
                <a:latin typeface="+mj-lt"/>
              </a:rPr>
              <a:t>legali</a:t>
            </a:r>
            <a:r>
              <a:rPr lang="en-US" sz="2600" dirty="0">
                <a:latin typeface="+mj-lt"/>
              </a:rPr>
              <a:t> se </a:t>
            </a:r>
            <a:r>
              <a:rPr lang="en-US" sz="2600" dirty="0" err="1">
                <a:latin typeface="+mj-lt"/>
              </a:rPr>
              <a:t>recomandă</a:t>
            </a:r>
            <a:r>
              <a:rPr lang="en-US" sz="2600" dirty="0">
                <a:latin typeface="+mj-lt"/>
              </a:rPr>
              <a:t> a fi </a:t>
            </a:r>
            <a:r>
              <a:rPr lang="en-US" sz="2600" dirty="0" err="1">
                <a:latin typeface="+mj-lt"/>
              </a:rPr>
              <a:t>individuală</a:t>
            </a:r>
            <a:r>
              <a:rPr lang="en-US" sz="2600" dirty="0">
                <a:latin typeface="+mj-lt"/>
              </a:rPr>
              <a:t>, </a:t>
            </a:r>
            <a:r>
              <a:rPr lang="en-US" sz="2600" dirty="0" err="1">
                <a:latin typeface="+mj-lt"/>
              </a:rPr>
              <a:t>în</a:t>
            </a:r>
            <a:r>
              <a:rPr lang="en-US" sz="2600" dirty="0">
                <a:latin typeface="+mj-lt"/>
              </a:rPr>
              <a:t> </a:t>
            </a:r>
            <a:r>
              <a:rPr lang="en-US" sz="2600" dirty="0" err="1">
                <a:latin typeface="+mj-lt"/>
              </a:rPr>
              <a:t>conformitate</a:t>
            </a:r>
            <a:r>
              <a:rPr lang="en-US" sz="2600" dirty="0">
                <a:latin typeface="+mj-lt"/>
              </a:rPr>
              <a:t> cu o </a:t>
            </a:r>
            <a:r>
              <a:rPr lang="en-US" sz="2600" dirty="0" err="1">
                <a:latin typeface="+mj-lt"/>
              </a:rPr>
              <a:t>programare</a:t>
            </a:r>
            <a:r>
              <a:rPr lang="en-US" sz="2600" dirty="0">
                <a:latin typeface="+mj-lt"/>
              </a:rPr>
              <a:t> </a:t>
            </a:r>
            <a:r>
              <a:rPr lang="en-US" sz="2600" dirty="0" err="1">
                <a:latin typeface="+mj-lt"/>
              </a:rPr>
              <a:t>stabilită</a:t>
            </a:r>
            <a:r>
              <a:rPr lang="en-US" sz="2600" dirty="0">
                <a:latin typeface="+mj-lt"/>
              </a:rPr>
              <a:t> </a:t>
            </a:r>
            <a:r>
              <a:rPr lang="en-US" sz="2600" dirty="0" err="1">
                <a:latin typeface="+mj-lt"/>
              </a:rPr>
              <a:t>în</a:t>
            </a:r>
            <a:r>
              <a:rPr lang="en-US" sz="2600" dirty="0">
                <a:latin typeface="+mj-lt"/>
              </a:rPr>
              <a:t> </a:t>
            </a:r>
            <a:r>
              <a:rPr lang="en-US" sz="2600" dirty="0" err="1">
                <a:latin typeface="+mj-lt"/>
              </a:rPr>
              <a:t>prealabil</a:t>
            </a:r>
            <a:r>
              <a:rPr lang="en-US" sz="2600" dirty="0">
                <a:latin typeface="+mj-lt"/>
              </a:rPr>
              <a:t>. La </a:t>
            </a:r>
            <a:r>
              <a:rPr lang="en-US" sz="2600" dirty="0" err="1">
                <a:latin typeface="+mj-lt"/>
              </a:rPr>
              <a:t>această</a:t>
            </a:r>
            <a:r>
              <a:rPr lang="en-US" sz="2600" dirty="0">
                <a:latin typeface="+mj-lt"/>
              </a:rPr>
              <a:t> </a:t>
            </a:r>
            <a:r>
              <a:rPr lang="en-US" sz="2600" dirty="0" err="1">
                <a:latin typeface="+mj-lt"/>
              </a:rPr>
              <a:t>întâlnire</a:t>
            </a:r>
            <a:r>
              <a:rPr lang="en-US" sz="2600" dirty="0">
                <a:latin typeface="+mj-lt"/>
              </a:rPr>
              <a:t>, la </a:t>
            </a:r>
            <a:r>
              <a:rPr lang="en-US" sz="2600" dirty="0" err="1">
                <a:latin typeface="+mj-lt"/>
              </a:rPr>
              <a:t>solicitarea</a:t>
            </a:r>
            <a:r>
              <a:rPr lang="en-US" sz="2600" dirty="0">
                <a:latin typeface="+mj-lt"/>
              </a:rPr>
              <a:t> </a:t>
            </a:r>
            <a:r>
              <a:rPr lang="en-US" sz="2600" dirty="0" err="1">
                <a:latin typeface="+mj-lt"/>
              </a:rPr>
              <a:t>părintelui</a:t>
            </a:r>
            <a:r>
              <a:rPr lang="en-US" sz="2600" dirty="0">
                <a:latin typeface="+mj-lt"/>
              </a:rPr>
              <a:t>/</a:t>
            </a:r>
            <a:r>
              <a:rPr lang="en-US" sz="2600" dirty="0" err="1">
                <a:latin typeface="+mj-lt"/>
              </a:rPr>
              <a:t>reprezentantului</a:t>
            </a:r>
            <a:r>
              <a:rPr lang="en-US" sz="2600" dirty="0">
                <a:latin typeface="+mj-lt"/>
              </a:rPr>
              <a:t> legal </a:t>
            </a:r>
            <a:r>
              <a:rPr lang="en-US" sz="2600" dirty="0" err="1">
                <a:latin typeface="+mj-lt"/>
              </a:rPr>
              <a:t>sau</a:t>
            </a:r>
            <a:r>
              <a:rPr lang="en-US" sz="2600" dirty="0">
                <a:latin typeface="+mj-lt"/>
              </a:rPr>
              <a:t> a </a:t>
            </a:r>
            <a:r>
              <a:rPr lang="en-US" sz="2600" dirty="0" err="1">
                <a:latin typeface="+mj-lt"/>
              </a:rPr>
              <a:t>dirigintelui</a:t>
            </a:r>
            <a:r>
              <a:rPr lang="en-US" sz="2600" dirty="0">
                <a:latin typeface="+mj-lt"/>
              </a:rPr>
              <a:t>, </a:t>
            </a:r>
            <a:r>
              <a:rPr lang="en-US" sz="2600" dirty="0" err="1">
                <a:latin typeface="+mj-lt"/>
              </a:rPr>
              <a:t>poate</a:t>
            </a:r>
            <a:r>
              <a:rPr lang="en-US" sz="2600" dirty="0">
                <a:latin typeface="+mj-lt"/>
              </a:rPr>
              <a:t> </a:t>
            </a:r>
            <a:r>
              <a:rPr lang="en-US" sz="2600" dirty="0" err="1">
                <a:latin typeface="+mj-lt"/>
              </a:rPr>
              <a:t>participa</a:t>
            </a:r>
            <a:r>
              <a:rPr lang="en-US" sz="2600" dirty="0">
                <a:latin typeface="+mj-lt"/>
              </a:rPr>
              <a:t> </a:t>
            </a:r>
            <a:r>
              <a:rPr lang="en-US" sz="2600" dirty="0" err="1">
                <a:latin typeface="+mj-lt"/>
              </a:rPr>
              <a:t>şi</a:t>
            </a:r>
            <a:r>
              <a:rPr lang="en-US" sz="2600" dirty="0">
                <a:latin typeface="+mj-lt"/>
              </a:rPr>
              <a:t> </a:t>
            </a:r>
            <a:r>
              <a:rPr lang="en-US" sz="2600" dirty="0" err="1">
                <a:latin typeface="+mj-lt"/>
              </a:rPr>
              <a:t>elevul</a:t>
            </a:r>
            <a:r>
              <a:rPr lang="en-US" sz="2600" dirty="0">
                <a:latin typeface="+mj-lt"/>
              </a:rPr>
              <a:t>.</a:t>
            </a:r>
            <a:endParaRPr lang="ro-RO" sz="2600" dirty="0">
              <a:latin typeface="+mj-lt"/>
            </a:endParaRPr>
          </a:p>
        </p:txBody>
      </p:sp>
    </p:spTree>
    <p:extLst>
      <p:ext uri="{BB962C8B-B14F-4D97-AF65-F5344CB8AC3E}">
        <p14:creationId xmlns:p14="http://schemas.microsoft.com/office/powerpoint/2010/main" val="1783561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9ED20C-7E53-4C13-AD07-D7CFBECCEF3F}"/>
              </a:ext>
            </a:extLst>
          </p:cNvPr>
          <p:cNvSpPr>
            <a:spLocks noGrp="1"/>
          </p:cNvSpPr>
          <p:nvPr>
            <p:ph idx="1"/>
          </p:nvPr>
        </p:nvSpPr>
        <p:spPr>
          <a:xfrm>
            <a:off x="838200" y="1126067"/>
            <a:ext cx="8610600" cy="5050896"/>
          </a:xfrm>
        </p:spPr>
        <p:txBody>
          <a:bodyPr>
            <a:normAutofit/>
          </a:bodyPr>
          <a:lstStyle/>
          <a:p>
            <a:pPr marL="0" indent="0">
              <a:buNone/>
            </a:pPr>
            <a:r>
              <a:rPr lang="ro-RO" sz="2400" b="1" dirty="0">
                <a:latin typeface="+mj-lt"/>
              </a:rPr>
              <a:t>M</a:t>
            </a:r>
            <a:r>
              <a:rPr lang="en-US" sz="2400" b="1" dirty="0" err="1">
                <a:latin typeface="+mj-lt"/>
              </a:rPr>
              <a:t>onitorizează</a:t>
            </a:r>
            <a:r>
              <a:rPr lang="en-US" sz="2400" b="1" dirty="0">
                <a:latin typeface="+mj-lt"/>
              </a:rPr>
              <a:t>:</a:t>
            </a:r>
          </a:p>
          <a:p>
            <a:pPr marL="0" indent="0">
              <a:buNone/>
            </a:pPr>
            <a:r>
              <a:rPr lang="en-US" sz="2400" dirty="0">
                <a:latin typeface="+mj-lt"/>
              </a:rPr>
              <a:t>    a) </a:t>
            </a:r>
            <a:r>
              <a:rPr lang="en-US" sz="2400" dirty="0" err="1">
                <a:latin typeface="+mj-lt"/>
              </a:rPr>
              <a:t>situaţia</a:t>
            </a:r>
            <a:r>
              <a:rPr lang="en-US" sz="2400" dirty="0">
                <a:latin typeface="+mj-lt"/>
              </a:rPr>
              <a:t> la </a:t>
            </a:r>
            <a:r>
              <a:rPr lang="en-US" sz="2400" dirty="0" err="1">
                <a:latin typeface="+mj-lt"/>
              </a:rPr>
              <a:t>învăţătură</a:t>
            </a:r>
            <a:r>
              <a:rPr lang="en-US" sz="2400" dirty="0">
                <a:latin typeface="+mj-lt"/>
              </a:rPr>
              <a:t> a </a:t>
            </a:r>
            <a:r>
              <a:rPr lang="en-US" sz="2400" dirty="0" err="1">
                <a:latin typeface="+mj-lt"/>
              </a:rPr>
              <a:t>elevilor</a:t>
            </a:r>
            <a:r>
              <a:rPr lang="en-US" sz="2400" dirty="0">
                <a:latin typeface="+mj-lt"/>
              </a:rPr>
              <a:t>;</a:t>
            </a:r>
          </a:p>
          <a:p>
            <a:pPr marL="0" indent="0">
              <a:buNone/>
            </a:pPr>
            <a:r>
              <a:rPr lang="ro-RO" sz="2400" dirty="0">
                <a:latin typeface="+mj-lt"/>
              </a:rPr>
              <a:t>    </a:t>
            </a:r>
            <a:r>
              <a:rPr lang="en-US" sz="2400" dirty="0">
                <a:latin typeface="+mj-lt"/>
              </a:rPr>
              <a:t>b) </a:t>
            </a:r>
            <a:r>
              <a:rPr lang="en-US" sz="2400" dirty="0" err="1">
                <a:latin typeface="+mj-lt"/>
              </a:rPr>
              <a:t>frecvenţa</a:t>
            </a:r>
            <a:r>
              <a:rPr lang="en-US" sz="2400" dirty="0">
                <a:latin typeface="+mj-lt"/>
              </a:rPr>
              <a:t> la ore a </a:t>
            </a:r>
            <a:r>
              <a:rPr lang="en-US" sz="2400" dirty="0" err="1">
                <a:latin typeface="+mj-lt"/>
              </a:rPr>
              <a:t>elevilor</a:t>
            </a:r>
            <a:r>
              <a:rPr lang="en-US" sz="2400" dirty="0">
                <a:latin typeface="+mj-lt"/>
              </a:rPr>
              <a:t>;</a:t>
            </a:r>
          </a:p>
          <a:p>
            <a:pPr marL="0" indent="0">
              <a:buNone/>
            </a:pPr>
            <a:r>
              <a:rPr lang="ro-RO" sz="2400" dirty="0">
                <a:latin typeface="+mj-lt"/>
              </a:rPr>
              <a:t>    </a:t>
            </a:r>
            <a:r>
              <a:rPr lang="it-IT" sz="2400" dirty="0">
                <a:latin typeface="+mj-lt"/>
              </a:rPr>
              <a:t>c) participarea şi rezultatele elevilor la concursurile şi competiţiile şcolare;</a:t>
            </a:r>
          </a:p>
          <a:p>
            <a:pPr marL="0" indent="0">
              <a:buNone/>
            </a:pPr>
            <a:r>
              <a:rPr lang="ro-RO" sz="2400" dirty="0">
                <a:latin typeface="+mj-lt"/>
              </a:rPr>
              <a:t>  </a:t>
            </a:r>
            <a:r>
              <a:rPr lang="en-US" sz="2400" dirty="0">
                <a:latin typeface="+mj-lt"/>
              </a:rPr>
              <a:t> </a:t>
            </a:r>
            <a:r>
              <a:rPr lang="ro-RO" sz="2400" dirty="0">
                <a:latin typeface="+mj-lt"/>
              </a:rPr>
              <a:t> </a:t>
            </a:r>
            <a:r>
              <a:rPr lang="en-US" sz="2400" dirty="0">
                <a:latin typeface="+mj-lt"/>
              </a:rPr>
              <a:t>d) </a:t>
            </a:r>
            <a:r>
              <a:rPr lang="en-US" sz="2400" dirty="0" err="1">
                <a:latin typeface="+mj-lt"/>
              </a:rPr>
              <a:t>comportamentul</a:t>
            </a:r>
            <a:r>
              <a:rPr lang="en-US" sz="2400" dirty="0">
                <a:latin typeface="+mj-lt"/>
              </a:rPr>
              <a:t> </a:t>
            </a:r>
            <a:r>
              <a:rPr lang="en-US" sz="2400" dirty="0" err="1">
                <a:latin typeface="+mj-lt"/>
              </a:rPr>
              <a:t>elevilor</a:t>
            </a:r>
            <a:r>
              <a:rPr lang="en-US" sz="2400" dirty="0">
                <a:latin typeface="+mj-lt"/>
              </a:rPr>
              <a:t> </a:t>
            </a:r>
            <a:r>
              <a:rPr lang="en-US" sz="2400" dirty="0" err="1">
                <a:latin typeface="+mj-lt"/>
              </a:rPr>
              <a:t>în</a:t>
            </a:r>
            <a:r>
              <a:rPr lang="en-US" sz="2400" dirty="0">
                <a:latin typeface="+mj-lt"/>
              </a:rPr>
              <a:t> </a:t>
            </a:r>
            <a:r>
              <a:rPr lang="en-US" sz="2400" dirty="0" err="1">
                <a:latin typeface="+mj-lt"/>
              </a:rPr>
              <a:t>timpul</a:t>
            </a:r>
            <a:r>
              <a:rPr lang="en-US" sz="2400" dirty="0">
                <a:latin typeface="+mj-lt"/>
              </a:rPr>
              <a:t> </a:t>
            </a:r>
            <a:r>
              <a:rPr lang="en-US" sz="2400" dirty="0" err="1">
                <a:latin typeface="+mj-lt"/>
              </a:rPr>
              <a:t>activităţilor</a:t>
            </a:r>
            <a:r>
              <a:rPr lang="en-US" sz="2400" dirty="0">
                <a:latin typeface="+mj-lt"/>
              </a:rPr>
              <a:t> </a:t>
            </a:r>
            <a:r>
              <a:rPr lang="en-US" sz="2400" dirty="0" err="1">
                <a:latin typeface="+mj-lt"/>
              </a:rPr>
              <a:t>şcolare</a:t>
            </a:r>
            <a:r>
              <a:rPr lang="en-US" sz="2400" dirty="0">
                <a:latin typeface="+mj-lt"/>
              </a:rPr>
              <a:t>, </a:t>
            </a:r>
            <a:r>
              <a:rPr lang="en-US" sz="2400" dirty="0" err="1">
                <a:latin typeface="+mj-lt"/>
              </a:rPr>
              <a:t>extraşcolare</a:t>
            </a:r>
            <a:r>
              <a:rPr lang="en-US" sz="2400" dirty="0">
                <a:latin typeface="+mj-lt"/>
              </a:rPr>
              <a:t> </a:t>
            </a:r>
            <a:r>
              <a:rPr lang="en-US" sz="2400" dirty="0" err="1">
                <a:latin typeface="+mj-lt"/>
              </a:rPr>
              <a:t>şi</a:t>
            </a:r>
            <a:r>
              <a:rPr lang="en-US" sz="2400" dirty="0">
                <a:latin typeface="+mj-lt"/>
              </a:rPr>
              <a:t> </a:t>
            </a:r>
            <a:r>
              <a:rPr lang="en-US" sz="2400" dirty="0" err="1">
                <a:latin typeface="+mj-lt"/>
              </a:rPr>
              <a:t>extracurriculare</a:t>
            </a:r>
            <a:r>
              <a:rPr lang="en-US" sz="2400" dirty="0">
                <a:latin typeface="+mj-lt"/>
              </a:rPr>
              <a:t>;</a:t>
            </a:r>
          </a:p>
          <a:p>
            <a:pPr marL="0" indent="0">
              <a:buNone/>
            </a:pPr>
            <a:r>
              <a:rPr lang="en-US" sz="2400" dirty="0">
                <a:latin typeface="+mj-lt"/>
              </a:rPr>
              <a:t>   </a:t>
            </a:r>
            <a:r>
              <a:rPr lang="ro-RO" sz="2400" dirty="0">
                <a:latin typeface="+mj-lt"/>
              </a:rPr>
              <a:t> </a:t>
            </a:r>
            <a:r>
              <a:rPr lang="en-US" sz="2400" dirty="0">
                <a:latin typeface="+mj-lt"/>
              </a:rPr>
              <a:t>e) </a:t>
            </a:r>
            <a:r>
              <a:rPr lang="en-US" sz="2400" dirty="0" err="1">
                <a:latin typeface="+mj-lt"/>
              </a:rPr>
              <a:t>participarea</a:t>
            </a:r>
            <a:r>
              <a:rPr lang="en-US" sz="2400" dirty="0">
                <a:latin typeface="+mj-lt"/>
              </a:rPr>
              <a:t> </a:t>
            </a:r>
            <a:r>
              <a:rPr lang="en-US" sz="2400" dirty="0" err="1">
                <a:latin typeface="+mj-lt"/>
              </a:rPr>
              <a:t>elevilor</a:t>
            </a:r>
            <a:r>
              <a:rPr lang="en-US" sz="2400" dirty="0">
                <a:latin typeface="+mj-lt"/>
              </a:rPr>
              <a:t> la </a:t>
            </a:r>
            <a:r>
              <a:rPr lang="en-US" sz="2400" dirty="0" err="1">
                <a:latin typeface="+mj-lt"/>
              </a:rPr>
              <a:t>programe</a:t>
            </a:r>
            <a:r>
              <a:rPr lang="en-US" sz="2400" dirty="0">
                <a:latin typeface="+mj-lt"/>
              </a:rPr>
              <a:t> </a:t>
            </a:r>
            <a:r>
              <a:rPr lang="en-US" sz="2400" dirty="0" err="1">
                <a:latin typeface="+mj-lt"/>
              </a:rPr>
              <a:t>sau</a:t>
            </a:r>
            <a:r>
              <a:rPr lang="en-US" sz="2400" dirty="0">
                <a:latin typeface="+mj-lt"/>
              </a:rPr>
              <a:t> </a:t>
            </a:r>
            <a:r>
              <a:rPr lang="en-US" sz="2400" dirty="0" err="1">
                <a:latin typeface="+mj-lt"/>
              </a:rPr>
              <a:t>proiecte</a:t>
            </a:r>
            <a:r>
              <a:rPr lang="en-US" sz="2400" dirty="0">
                <a:latin typeface="+mj-lt"/>
              </a:rPr>
              <a:t> </a:t>
            </a:r>
            <a:r>
              <a:rPr lang="en-US" sz="2400" dirty="0" err="1">
                <a:latin typeface="+mj-lt"/>
              </a:rPr>
              <a:t>şi</a:t>
            </a:r>
            <a:r>
              <a:rPr lang="en-US" sz="2400" dirty="0">
                <a:latin typeface="+mj-lt"/>
              </a:rPr>
              <a:t> </a:t>
            </a:r>
            <a:r>
              <a:rPr lang="en-US" sz="2400" dirty="0" err="1">
                <a:latin typeface="+mj-lt"/>
              </a:rPr>
              <a:t>implicarea</a:t>
            </a:r>
            <a:r>
              <a:rPr lang="en-US" sz="2400" dirty="0">
                <a:latin typeface="+mj-lt"/>
              </a:rPr>
              <a:t> </a:t>
            </a:r>
            <a:r>
              <a:rPr lang="en-US" sz="2400" dirty="0" err="1">
                <a:latin typeface="+mj-lt"/>
              </a:rPr>
              <a:t>acestora</a:t>
            </a:r>
            <a:r>
              <a:rPr lang="en-US" sz="2400" dirty="0">
                <a:latin typeface="+mj-lt"/>
              </a:rPr>
              <a:t> </a:t>
            </a:r>
            <a:r>
              <a:rPr lang="en-US" sz="2400" dirty="0" err="1">
                <a:latin typeface="+mj-lt"/>
              </a:rPr>
              <a:t>în</a:t>
            </a:r>
            <a:r>
              <a:rPr lang="en-US" sz="2400" dirty="0">
                <a:latin typeface="+mj-lt"/>
              </a:rPr>
              <a:t> </a:t>
            </a:r>
            <a:r>
              <a:rPr lang="en-US" sz="2400" dirty="0" err="1">
                <a:latin typeface="+mj-lt"/>
              </a:rPr>
              <a:t>activităţi</a:t>
            </a:r>
            <a:r>
              <a:rPr lang="en-US" sz="2400" dirty="0">
                <a:latin typeface="+mj-lt"/>
              </a:rPr>
              <a:t> de </a:t>
            </a:r>
            <a:r>
              <a:rPr lang="en-US" sz="2400" dirty="0" err="1">
                <a:latin typeface="+mj-lt"/>
              </a:rPr>
              <a:t>voluntariat</a:t>
            </a:r>
            <a:r>
              <a:rPr lang="ro-RO" sz="2400" dirty="0">
                <a:latin typeface="+mj-lt"/>
              </a:rPr>
              <a:t>.</a:t>
            </a:r>
            <a:endParaRPr lang="en-US" sz="2400" dirty="0">
              <a:latin typeface="+mj-lt"/>
            </a:endParaRPr>
          </a:p>
          <a:p>
            <a:endParaRPr lang="ro-RO" sz="2400" dirty="0"/>
          </a:p>
          <a:p>
            <a:endParaRPr lang="en-US" dirty="0"/>
          </a:p>
        </p:txBody>
      </p:sp>
    </p:spTree>
    <p:extLst>
      <p:ext uri="{BB962C8B-B14F-4D97-AF65-F5344CB8AC3E}">
        <p14:creationId xmlns:p14="http://schemas.microsoft.com/office/powerpoint/2010/main" val="1372877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9475"/>
          </a:xfrm>
          <a:solidFill>
            <a:schemeClr val="accent2"/>
          </a:solidFill>
        </p:spPr>
        <p:txBody>
          <a:bodyPr>
            <a:normAutofit fontScale="90000"/>
          </a:bodyPr>
          <a:lstStyle/>
          <a:p>
            <a:r>
              <a:rPr lang="ro-RO" b="1" dirty="0">
                <a:solidFill>
                  <a:schemeClr val="tx1"/>
                </a:solidFill>
              </a:rPr>
              <a:t>CONCURSURI NAȚIONALE</a:t>
            </a:r>
            <a:br>
              <a:rPr lang="ro-RO" dirty="0"/>
            </a:br>
            <a:br>
              <a:rPr lang="ro-RO" dirty="0"/>
            </a:br>
            <a:endParaRPr lang="ro-RO" dirty="0"/>
          </a:p>
        </p:txBody>
      </p:sp>
      <p:sp>
        <p:nvSpPr>
          <p:cNvPr id="3" name="Content Placeholder 2"/>
          <p:cNvSpPr>
            <a:spLocks noGrp="1"/>
          </p:cNvSpPr>
          <p:nvPr>
            <p:ph sz="quarter" idx="4294967295"/>
          </p:nvPr>
        </p:nvSpPr>
        <p:spPr>
          <a:xfrm>
            <a:off x="913774" y="1690688"/>
            <a:ext cx="10363826" cy="4100511"/>
          </a:xfrm>
          <a:prstGeom prst="rect">
            <a:avLst/>
          </a:prstGeom>
        </p:spPr>
        <p:txBody>
          <a:bodyPr>
            <a:normAutofit fontScale="55000" lnSpcReduction="20000"/>
          </a:bodyPr>
          <a:lstStyle/>
          <a:p>
            <a:r>
              <a:rPr lang="ro-RO" sz="4000" dirty="0"/>
              <a:t>Concursul național de proiecte de mediu</a:t>
            </a:r>
          </a:p>
          <a:p>
            <a:r>
              <a:rPr lang="ro-RO" sz="4000" dirty="0"/>
              <a:t>Concursul național „Sanitarii pricepuți”</a:t>
            </a:r>
          </a:p>
          <a:p>
            <a:r>
              <a:rPr lang="ro-RO" sz="4000" dirty="0"/>
              <a:t>Concurs de proiecte antidrog „Împreună”</a:t>
            </a:r>
          </a:p>
          <a:p>
            <a:r>
              <a:rPr lang="ro-RO" sz="4000" dirty="0"/>
              <a:t>Concursurile naționale „Cu viața mea apăr viața” și „Prietenii Pompierilor”</a:t>
            </a:r>
          </a:p>
          <a:p>
            <a:r>
              <a:rPr lang="ro-RO" sz="4000" dirty="0"/>
              <a:t>Concurs național „Alege! Este dreptul tău!!”</a:t>
            </a:r>
          </a:p>
          <a:p>
            <a:r>
              <a:rPr lang="ro-RO" sz="4000" dirty="0"/>
              <a:t>Concurs național „Educație rutieră, educație pentru viață”</a:t>
            </a:r>
          </a:p>
          <a:p>
            <a:r>
              <a:rPr lang="ro-RO" sz="4000" dirty="0"/>
              <a:t>Concursurile naționale din cadrul SNAC</a:t>
            </a:r>
          </a:p>
          <a:p>
            <a:r>
              <a:rPr lang="ro-RO" sz="4000" dirty="0"/>
              <a:t>Concurs național de reviste școlare</a:t>
            </a:r>
          </a:p>
          <a:p>
            <a:r>
              <a:rPr lang="ro-RO" sz="4000" dirty="0"/>
              <a:t>Concurs național „Tinere condeie”</a:t>
            </a:r>
          </a:p>
          <a:p>
            <a:endParaRPr lang="ro-RO" dirty="0"/>
          </a:p>
        </p:txBody>
      </p:sp>
    </p:spTree>
    <p:extLst>
      <p:ext uri="{BB962C8B-B14F-4D97-AF65-F5344CB8AC3E}">
        <p14:creationId xmlns:p14="http://schemas.microsoft.com/office/powerpoint/2010/main" val="3646902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84666"/>
            <a:ext cx="12191980" cy="6858000"/>
          </a:xfrm>
          <a:prstGeom prst="rect">
            <a:avLst/>
          </a:prstGeom>
        </p:spPr>
      </p:pic>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5952067" y="703404"/>
            <a:ext cx="5381323" cy="2514600"/>
          </a:xfrm>
        </p:spPr>
        <p:txBody>
          <a:bodyPr anchor="b">
            <a:normAutofit/>
          </a:bodyPr>
          <a:lstStyle/>
          <a:p>
            <a:r>
              <a:rPr lang="ro-RO" sz="4400" b="1" dirty="0">
                <a:solidFill>
                  <a:schemeClr val="tx1"/>
                </a:solidFill>
              </a:rPr>
              <a:t>SUCCES ȘI BUCURII ÎN NOUL AN ȘCOLAR 2024-2025</a:t>
            </a:r>
            <a:r>
              <a:rPr lang="ro-RO" sz="4400" dirty="0">
                <a:solidFill>
                  <a:schemeClr val="tx1"/>
                </a:solidFill>
              </a:rPr>
              <a:t>!</a:t>
            </a:r>
            <a:endParaRPr lang="en-US" sz="4400" dirty="0">
              <a:solidFill>
                <a:schemeClr val="tx1"/>
              </a:solidFill>
            </a:endParaRPr>
          </a:p>
        </p:txBody>
      </p:sp>
    </p:spTree>
    <p:extLst>
      <p:ext uri="{BB962C8B-B14F-4D97-AF65-F5344CB8AC3E}">
        <p14:creationId xmlns:p14="http://schemas.microsoft.com/office/powerpoint/2010/main" val="337139187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127</TotalTime>
  <Words>1892</Words>
  <Application>Microsoft Office PowerPoint</Application>
  <PresentationFormat>Widescreen</PresentationFormat>
  <Paragraphs>120</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Times New Roman</vt:lpstr>
      <vt:lpstr>Trebuchet MS</vt:lpstr>
      <vt:lpstr>Wingdings 3</vt:lpstr>
      <vt:lpstr>Facet</vt:lpstr>
      <vt:lpstr>    </vt:lpstr>
      <vt:lpstr>  Structura anului şcolar 2024-2025   </vt:lpstr>
      <vt:lpstr>Examene naționale 2024-2025 </vt:lpstr>
      <vt:lpstr>Documente recente</vt:lpstr>
      <vt:lpstr>Documente şcolare</vt:lpstr>
      <vt:lpstr>Cadre didactice</vt:lpstr>
      <vt:lpstr>PowerPoint Presentation</vt:lpstr>
      <vt:lpstr>PowerPoint Presentation</vt:lpstr>
      <vt:lpstr>Portofoliul consilierului educativ</vt:lpstr>
      <vt:lpstr>PowerPoint Presentation</vt:lpstr>
      <vt:lpstr>Profesorul diriginte</vt:lpstr>
      <vt:lpstr>PowerPoint Presentation</vt:lpstr>
      <vt:lpstr>PowerPoint Presentation</vt:lpstr>
      <vt:lpstr>CONCURSURI NAȚIONALE  </vt:lpstr>
      <vt:lpstr>SUCCES ȘI BUCURII ÎN NOUL AN ȘCOLAR 2024-2025!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Daniela Calugaru</dc:creator>
  <cp:lastModifiedBy>Carmen Buzatu</cp:lastModifiedBy>
  <cp:revision>17</cp:revision>
  <dcterms:created xsi:type="dcterms:W3CDTF">2024-09-10T06:18:35Z</dcterms:created>
  <dcterms:modified xsi:type="dcterms:W3CDTF">2024-09-23T10:00:19Z</dcterms:modified>
</cp:coreProperties>
</file>